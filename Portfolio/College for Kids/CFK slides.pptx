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04" r:id="rId1"/>
  </p:sldMasterIdLst>
  <p:sldIdLst>
    <p:sldId id="256" r:id="rId2"/>
    <p:sldId id="257" r:id="rId3"/>
    <p:sldId id="258" r:id="rId4"/>
    <p:sldId id="259" r:id="rId5"/>
    <p:sldId id="260" r:id="rId6"/>
    <p:sldId id="263" r:id="rId7"/>
    <p:sldId id="262" r:id="rId8"/>
    <p:sldId id="264" r:id="rId9"/>
    <p:sldId id="265" r:id="rId10"/>
    <p:sldId id="267" r:id="rId11"/>
    <p:sldId id="268" r:id="rId12"/>
    <p:sldId id="269" r:id="rId13"/>
    <p:sldId id="270" r:id="rId14"/>
    <p:sldId id="272" r:id="rId15"/>
    <p:sldId id="271" r:id="rId16"/>
    <p:sldId id="273" r:id="rId17"/>
    <p:sldId id="274" r:id="rId18"/>
    <p:sldId id="275" r:id="rId19"/>
    <p:sldId id="277" r:id="rId20"/>
    <p:sldId id="278" r:id="rId21"/>
    <p:sldId id="281" r:id="rId22"/>
    <p:sldId id="276" r:id="rId23"/>
    <p:sldId id="279" r:id="rId24"/>
    <p:sldId id="280" r:id="rId25"/>
    <p:sldId id="291" r:id="rId26"/>
    <p:sldId id="282" r:id="rId27"/>
    <p:sldId id="283" r:id="rId28"/>
    <p:sldId id="301" r:id="rId29"/>
    <p:sldId id="284" r:id="rId30"/>
    <p:sldId id="285" r:id="rId31"/>
    <p:sldId id="286" r:id="rId32"/>
    <p:sldId id="287" r:id="rId33"/>
    <p:sldId id="288" r:id="rId34"/>
    <p:sldId id="300" r:id="rId35"/>
    <p:sldId id="299" r:id="rId36"/>
    <p:sldId id="289" r:id="rId37"/>
    <p:sldId id="290" r:id="rId38"/>
    <p:sldId id="292" r:id="rId39"/>
    <p:sldId id="293" r:id="rId40"/>
    <p:sldId id="294" r:id="rId41"/>
    <p:sldId id="295" r:id="rId42"/>
    <p:sldId id="296" r:id="rId43"/>
    <p:sldId id="297" r:id="rId44"/>
    <p:sldId id="298" r:id="rId4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rian Ngo" initials="BN" lastIdx="1" clrIdx="0">
    <p:extLst>
      <p:ext uri="{19B8F6BF-5375-455C-9EA6-DF929625EA0E}">
        <p15:presenceInfo xmlns:p15="http://schemas.microsoft.com/office/powerpoint/2012/main" userId="fde31e03eafa2800"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853" autoAdjust="0"/>
    <p:restoredTop sz="94660"/>
  </p:normalViewPr>
  <p:slideViewPr>
    <p:cSldViewPr snapToGrid="0">
      <p:cViewPr varScale="1">
        <p:scale>
          <a:sx n="72" d="100"/>
          <a:sy n="72" d="100"/>
        </p:scale>
        <p:origin x="666" y="66"/>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commentAuthors" Target="commentAuthor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ctrTitle"/>
          </p:nvPr>
        </p:nvSpPr>
        <p:spPr>
          <a:xfrm>
            <a:off x="1371600" y="1803405"/>
            <a:ext cx="9448800" cy="1825096"/>
          </a:xfrm>
        </p:spPr>
        <p:txBody>
          <a:bodyPr anchor="b">
            <a:normAutofit/>
          </a:bodyPr>
          <a:lstStyle>
            <a:lvl1pPr algn="l">
              <a:defRPr sz="6000"/>
            </a:lvl1pPr>
          </a:lstStyle>
          <a:p>
            <a:r>
              <a:rPr lang="en-US"/>
              <a:t>Click to edit Master title style</a:t>
            </a:r>
            <a:endParaRPr lang="en-US" dirty="0"/>
          </a:p>
        </p:txBody>
      </p:sp>
      <p:sp>
        <p:nvSpPr>
          <p:cNvPr id="3" name="Subtitle 2"/>
          <p:cNvSpPr>
            <a:spLocks noGrp="1"/>
          </p:cNvSpPr>
          <p:nvPr>
            <p:ph type="subTitle" idx="1"/>
          </p:nvPr>
        </p:nvSpPr>
        <p:spPr>
          <a:xfrm>
            <a:off x="1371600" y="3632201"/>
            <a:ext cx="9448800" cy="685800"/>
          </a:xfrm>
        </p:spPr>
        <p:txBody>
          <a:bodyPr>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909561" y="4314328"/>
            <a:ext cx="2910840" cy="374642"/>
          </a:xfrm>
        </p:spPr>
        <p:txBody>
          <a:bodyPr/>
          <a:lstStyle/>
          <a:p>
            <a:fld id="{A8247C6E-ABA4-4302-BA9F-695CDC2EAFC5}" type="datetimeFigureOut">
              <a:rPr lang="en-US" smtClean="0"/>
              <a:t>6/30/2021</a:t>
            </a:fld>
            <a:endParaRPr lang="en-US"/>
          </a:p>
        </p:txBody>
      </p:sp>
      <p:sp>
        <p:nvSpPr>
          <p:cNvPr id="5" name="Footer Placeholder 4"/>
          <p:cNvSpPr>
            <a:spLocks noGrp="1"/>
          </p:cNvSpPr>
          <p:nvPr>
            <p:ph type="ftr" sz="quarter" idx="11"/>
          </p:nvPr>
        </p:nvSpPr>
        <p:spPr>
          <a:xfrm>
            <a:off x="1371600" y="4323845"/>
            <a:ext cx="6400800" cy="365125"/>
          </a:xfrm>
        </p:spPr>
        <p:txBody>
          <a:bodyPr/>
          <a:lstStyle/>
          <a:p>
            <a:endParaRPr lang="en-US"/>
          </a:p>
        </p:txBody>
      </p:sp>
      <p:sp>
        <p:nvSpPr>
          <p:cNvPr id="6" name="Slide Number Placeholder 5"/>
          <p:cNvSpPr>
            <a:spLocks noGrp="1"/>
          </p:cNvSpPr>
          <p:nvPr>
            <p:ph type="sldNum" sz="quarter" idx="12"/>
          </p:nvPr>
        </p:nvSpPr>
        <p:spPr>
          <a:xfrm>
            <a:off x="8077200" y="1430866"/>
            <a:ext cx="2743200" cy="365125"/>
          </a:xfrm>
        </p:spPr>
        <p:txBody>
          <a:bodyPr/>
          <a:lstStyle/>
          <a:p>
            <a:fld id="{75339AE3-92F7-4273-A588-ED6AD9901854}" type="slidenum">
              <a:rPr lang="en-US" smtClean="0"/>
              <a:t>‹#›</a:t>
            </a:fld>
            <a:endParaRPr lang="en-US"/>
          </a:p>
        </p:txBody>
      </p:sp>
    </p:spTree>
    <p:extLst>
      <p:ext uri="{BB962C8B-B14F-4D97-AF65-F5344CB8AC3E}">
        <p14:creationId xmlns:p14="http://schemas.microsoft.com/office/powerpoint/2010/main" val="29379616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8247C6E-ABA4-4302-BA9F-695CDC2EAFC5}" type="datetimeFigureOut">
              <a:rPr lang="en-US" smtClean="0"/>
              <a:t>6/30/2021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5339AE3-92F7-4273-A588-ED6AD9901854}" type="slidenum">
              <a:rPr lang="en-US" smtClean="0"/>
              <a:t>‹#›</a:t>
            </a:fld>
            <a:endParaRPr lang="en-US"/>
          </a:p>
        </p:txBody>
      </p:sp>
    </p:spTree>
    <p:extLst>
      <p:ext uri="{BB962C8B-B14F-4D97-AF65-F5344CB8AC3E}">
        <p14:creationId xmlns:p14="http://schemas.microsoft.com/office/powerpoint/2010/main" val="2640125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3"/>
            <a:ext cx="10820399" cy="2801935"/>
          </a:xfrm>
        </p:spPr>
        <p:txBody>
          <a:bodyPr anchor="b">
            <a:normAutofit/>
          </a:bodyPr>
          <a:lstStyle>
            <a:lvl1pPr algn="r">
              <a:defRPr sz="4000"/>
            </a:lvl1pPr>
          </a:lstStyle>
          <a:p>
            <a:r>
              <a:rPr lang="en-US"/>
              <a:t>Click to edit Master title style</a:t>
            </a:r>
            <a:endParaRPr lang="en-US" dirty="0"/>
          </a:p>
        </p:txBody>
      </p:sp>
      <p:sp>
        <p:nvSpPr>
          <p:cNvPr id="3" name="Text Placeholder 2"/>
          <p:cNvSpPr>
            <a:spLocks noGrp="1"/>
          </p:cNvSpPr>
          <p:nvPr>
            <p:ph type="body" idx="1"/>
          </p:nvPr>
        </p:nvSpPr>
        <p:spPr>
          <a:xfrm>
            <a:off x="1024467" y="3641725"/>
            <a:ext cx="10490200" cy="955675"/>
          </a:xfrm>
        </p:spPr>
        <p:txBody>
          <a:bodyPr>
            <a:normAutofit/>
          </a:bodyPr>
          <a:lstStyle>
            <a:lvl1pPr marL="0" indent="0" algn="r">
              <a:buNone/>
              <a:defRPr sz="2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7814452" y="381000"/>
            <a:ext cx="2910840" cy="365125"/>
          </a:xfrm>
        </p:spPr>
        <p:txBody>
          <a:bodyPr/>
          <a:lstStyle>
            <a:lvl1pPr algn="r">
              <a:defRPr/>
            </a:lvl1pPr>
          </a:lstStyle>
          <a:p>
            <a:fld id="{A8247C6E-ABA4-4302-BA9F-695CDC2EAFC5}" type="datetimeFigureOut">
              <a:rPr lang="en-US" smtClean="0"/>
              <a:t>6/30/2021</a:t>
            </a:fld>
            <a:endParaRPr lang="en-US"/>
          </a:p>
        </p:txBody>
      </p:sp>
      <p:sp>
        <p:nvSpPr>
          <p:cNvPr id="5" name="Footer Placeholder 4"/>
          <p:cNvSpPr>
            <a:spLocks noGrp="1"/>
          </p:cNvSpPr>
          <p:nvPr>
            <p:ph type="ftr" sz="quarter" idx="11"/>
          </p:nvPr>
        </p:nvSpPr>
        <p:spPr>
          <a:xfrm>
            <a:off x="685800" y="381001"/>
            <a:ext cx="6991492" cy="364065"/>
          </a:xfrm>
        </p:spPr>
        <p:txBody>
          <a:bodyPr/>
          <a:lstStyle/>
          <a:p>
            <a:endParaRPr lang="en-US"/>
          </a:p>
        </p:txBody>
      </p:sp>
      <p:sp>
        <p:nvSpPr>
          <p:cNvPr id="6" name="Slide Number Placeholder 5"/>
          <p:cNvSpPr>
            <a:spLocks noGrp="1"/>
          </p:cNvSpPr>
          <p:nvPr>
            <p:ph type="sldNum" sz="quarter" idx="12"/>
          </p:nvPr>
        </p:nvSpPr>
        <p:spPr>
          <a:xfrm>
            <a:off x="10862452" y="381000"/>
            <a:ext cx="643748" cy="365125"/>
          </a:xfrm>
        </p:spPr>
        <p:txBody>
          <a:bodyPr/>
          <a:lstStyle/>
          <a:p>
            <a:fld id="{75339AE3-92F7-4273-A588-ED6AD9901854}" type="slidenum">
              <a:rPr lang="en-US" smtClean="0"/>
              <a:t>‹#›</a:t>
            </a:fld>
            <a:endParaRPr lang="en-US"/>
          </a:p>
        </p:txBody>
      </p:sp>
    </p:spTree>
    <p:extLst>
      <p:ext uri="{BB962C8B-B14F-4D97-AF65-F5344CB8AC3E}">
        <p14:creationId xmlns:p14="http://schemas.microsoft.com/office/powerpoint/2010/main" val="17866620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800" y="2194559"/>
            <a:ext cx="5334000" cy="4024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194559"/>
            <a:ext cx="5334000" cy="4024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8247C6E-ABA4-4302-BA9F-695CDC2EAFC5}" type="datetimeFigureOut">
              <a:rPr lang="en-US" smtClean="0"/>
              <a:t>6/30/2021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5339AE3-92F7-4273-A588-ED6AD9901854}" type="slidenum">
              <a:rPr lang="en-US" smtClean="0"/>
              <a:t>‹#›</a:t>
            </a:fld>
            <a:endParaRPr lang="en-US"/>
          </a:p>
        </p:txBody>
      </p:sp>
    </p:spTree>
    <p:extLst>
      <p:ext uri="{BB962C8B-B14F-4D97-AF65-F5344CB8AC3E}">
        <p14:creationId xmlns:p14="http://schemas.microsoft.com/office/powerpoint/2010/main" val="565997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895600" y="762000"/>
            <a:ext cx="8610600" cy="1295400"/>
          </a:xfrm>
        </p:spPr>
        <p:txBody>
          <a:bodyPr/>
          <a:lstStyle/>
          <a:p>
            <a:r>
              <a:rPr lang="en-US"/>
              <a:t>Click to edit Master title style</a:t>
            </a:r>
            <a:endParaRPr lang="en-US" dirty="0"/>
          </a:p>
        </p:txBody>
      </p:sp>
      <p:sp>
        <p:nvSpPr>
          <p:cNvPr id="3" name="Text Placeholder 2"/>
          <p:cNvSpPr>
            <a:spLocks noGrp="1"/>
          </p:cNvSpPr>
          <p:nvPr>
            <p:ph type="body" idx="1"/>
          </p:nvPr>
        </p:nvSpPr>
        <p:spPr>
          <a:xfrm>
            <a:off x="914409" y="2183802"/>
            <a:ext cx="5079991"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0" y="3132666"/>
            <a:ext cx="5311775" cy="30860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0" y="2183802"/>
            <a:ext cx="5105400"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132666"/>
            <a:ext cx="5334000" cy="30860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8247C6E-ABA4-4302-BA9F-695CDC2EAFC5}" type="datetimeFigureOut">
              <a:rPr lang="en-US" smtClean="0"/>
              <a:t>6/30/2021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5339AE3-92F7-4273-A588-ED6AD9901854}" type="slidenum">
              <a:rPr lang="en-US" smtClean="0"/>
              <a:t>‹#›</a:t>
            </a:fld>
            <a:endParaRPr lang="en-US"/>
          </a:p>
        </p:txBody>
      </p:sp>
    </p:spTree>
    <p:extLst>
      <p:ext uri="{BB962C8B-B14F-4D97-AF65-F5344CB8AC3E}">
        <p14:creationId xmlns:p14="http://schemas.microsoft.com/office/powerpoint/2010/main" val="2504194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8247C6E-ABA4-4302-BA9F-695CDC2EAFC5}" type="datetimeFigureOut">
              <a:rPr lang="en-US" smtClean="0"/>
              <a:t>6/30/2021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5339AE3-92F7-4273-A588-ED6AD9901854}" type="slidenum">
              <a:rPr lang="en-US" smtClean="0"/>
              <a:t>‹#›</a:t>
            </a:fld>
            <a:endParaRPr lang="en-US"/>
          </a:p>
        </p:txBody>
      </p:sp>
    </p:spTree>
    <p:extLst>
      <p:ext uri="{BB962C8B-B14F-4D97-AF65-F5344CB8AC3E}">
        <p14:creationId xmlns:p14="http://schemas.microsoft.com/office/powerpoint/2010/main" val="5209529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8247C6E-ABA4-4302-BA9F-695CDC2EAFC5}" type="datetimeFigureOut">
              <a:rPr lang="en-US" smtClean="0"/>
              <a:t>6/30/2021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5339AE3-92F7-4273-A588-ED6AD9901854}" type="slidenum">
              <a:rPr lang="en-US" smtClean="0"/>
              <a:t>‹#›</a:t>
            </a:fld>
            <a:endParaRPr lang="en-US"/>
          </a:p>
        </p:txBody>
      </p:sp>
    </p:spTree>
    <p:extLst>
      <p:ext uri="{BB962C8B-B14F-4D97-AF65-F5344CB8AC3E}">
        <p14:creationId xmlns:p14="http://schemas.microsoft.com/office/powerpoint/2010/main" val="4076048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4114800" cy="1600200"/>
          </a:xfrm>
        </p:spPr>
        <p:txBody>
          <a:bodyPr anchor="b"/>
          <a:lstStyle>
            <a:lvl1pPr algn="l">
              <a:defRPr sz="3200"/>
            </a:lvl1pPr>
          </a:lstStyle>
          <a:p>
            <a:r>
              <a:rPr lang="en-US"/>
              <a:t>Click to edit Master title style</a:t>
            </a:r>
            <a:endParaRPr lang="en-US" dirty="0"/>
          </a:p>
        </p:txBody>
      </p:sp>
      <p:sp>
        <p:nvSpPr>
          <p:cNvPr id="3" name="Content Placeholder 2"/>
          <p:cNvSpPr>
            <a:spLocks noGrp="1"/>
          </p:cNvSpPr>
          <p:nvPr>
            <p:ph idx="1"/>
          </p:nvPr>
        </p:nvSpPr>
        <p:spPr>
          <a:xfrm>
            <a:off x="4995582" y="746759"/>
            <a:ext cx="6510618" cy="5471925"/>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800" y="3124199"/>
            <a:ext cx="411480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247C6E-ABA4-4302-BA9F-695CDC2EAFC5}" type="datetimeFigureOut">
              <a:rPr lang="en-US" smtClean="0"/>
              <a:t>6/30/2021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5339AE3-92F7-4273-A588-ED6AD9901854}" type="slidenum">
              <a:rPr lang="en-US" smtClean="0"/>
              <a:t>‹#›</a:t>
            </a:fld>
            <a:endParaRPr lang="en-US"/>
          </a:p>
        </p:txBody>
      </p:sp>
    </p:spTree>
    <p:extLst>
      <p:ext uri="{BB962C8B-B14F-4D97-AF65-F5344CB8AC3E}">
        <p14:creationId xmlns:p14="http://schemas.microsoft.com/office/powerpoint/2010/main" val="2579299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6873240" cy="1600200"/>
          </a:xfrm>
        </p:spPr>
        <p:txBody>
          <a:bodyPr anchor="b"/>
          <a:lstStyle>
            <a:lvl1pPr algn="l">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861238" y="751241"/>
            <a:ext cx="3644962" cy="546744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800" y="3124199"/>
            <a:ext cx="687324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247C6E-ABA4-4302-BA9F-695CDC2EAFC5}" type="datetimeFigureOut">
              <a:rPr lang="en-US" smtClean="0"/>
              <a:t>6/30/2021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5339AE3-92F7-4273-A588-ED6AD9901854}" type="slidenum">
              <a:rPr lang="en-US" smtClean="0"/>
              <a:t>‹#›</a:t>
            </a:fld>
            <a:endParaRPr lang="en-US"/>
          </a:p>
        </p:txBody>
      </p:sp>
    </p:spTree>
    <p:extLst>
      <p:ext uri="{BB962C8B-B14F-4D97-AF65-F5344CB8AC3E}">
        <p14:creationId xmlns:p14="http://schemas.microsoft.com/office/powerpoint/2010/main" val="37572436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777" y="4697360"/>
            <a:ext cx="10822034" cy="819355"/>
          </a:xfrm>
        </p:spPr>
        <p:txBody>
          <a:bodyPr anchor="b"/>
          <a:lstStyle>
            <a:lvl1pPr algn="l">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1727" y="941439"/>
            <a:ext cx="10821840" cy="3478161"/>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800" y="5516715"/>
            <a:ext cx="10820400" cy="701969"/>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247C6E-ABA4-4302-BA9F-695CDC2EAFC5}" type="datetimeFigureOut">
              <a:rPr lang="en-US" smtClean="0"/>
              <a:t>6/30/2021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5339AE3-92F7-4273-A588-ED6AD9901854}" type="slidenum">
              <a:rPr lang="en-US" smtClean="0"/>
              <a:t>‹#›</a:t>
            </a:fld>
            <a:endParaRPr lang="en-US"/>
          </a:p>
        </p:txBody>
      </p:sp>
    </p:spTree>
    <p:extLst>
      <p:ext uri="{BB962C8B-B14F-4D97-AF65-F5344CB8AC3E}">
        <p14:creationId xmlns:p14="http://schemas.microsoft.com/office/powerpoint/2010/main" val="20443916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and Caption">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2"/>
            <a:ext cx="10820400" cy="2802467"/>
          </a:xfrm>
        </p:spPr>
        <p:txBody>
          <a:bodyPr anchor="ctr"/>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024467" y="3649133"/>
            <a:ext cx="10130516" cy="99906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A8247C6E-ABA4-4302-BA9F-695CDC2EAFC5}" type="datetimeFigureOut">
              <a:rPr lang="en-US" smtClean="0"/>
              <a:t>6/30/2021</a:t>
            </a:fld>
            <a:endParaRPr lang="en-US"/>
          </a:p>
        </p:txBody>
      </p:sp>
      <p:sp>
        <p:nvSpPr>
          <p:cNvPr id="6" name="Footer Placeholder 5"/>
          <p:cNvSpPr>
            <a:spLocks noGrp="1"/>
          </p:cNvSpPr>
          <p:nvPr>
            <p:ph type="ftr" sz="quarter" idx="11"/>
          </p:nvPr>
        </p:nvSpPr>
        <p:spPr>
          <a:xfrm>
            <a:off x="685800" y="379941"/>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75339AE3-92F7-4273-A588-ED6AD9901854}" type="slidenum">
              <a:rPr lang="en-US" smtClean="0"/>
              <a:t>‹#›</a:t>
            </a:fld>
            <a:endParaRPr lang="en-US"/>
          </a:p>
        </p:txBody>
      </p:sp>
    </p:spTree>
    <p:extLst>
      <p:ext uri="{BB962C8B-B14F-4D97-AF65-F5344CB8AC3E}">
        <p14:creationId xmlns:p14="http://schemas.microsoft.com/office/powerpoint/2010/main" val="3815093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Quote with Caption">
    <p:spTree>
      <p:nvGrpSpPr>
        <p:cNvPr id="1" name=""/>
        <p:cNvGrpSpPr/>
        <p:nvPr/>
      </p:nvGrpSpPr>
      <p:grpSpPr>
        <a:xfrm>
          <a:off x="0" y="0"/>
          <a:ext cx="0" cy="0"/>
          <a:chOff x="0" y="0"/>
          <a:chExt cx="0" cy="0"/>
        </a:xfrm>
      </p:grpSpPr>
      <p:pic>
        <p:nvPicPr>
          <p:cNvPr id="13" name="Picture 12"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67" y="753533"/>
            <a:ext cx="10151533" cy="2604495"/>
          </a:xfrm>
        </p:spPr>
        <p:txBody>
          <a:bodyPr anchor="ctr"/>
          <a:lstStyle>
            <a:lvl1pPr algn="l">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303865" y="3365556"/>
            <a:ext cx="9592736" cy="444443"/>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024467" y="3959862"/>
            <a:ext cx="10151533" cy="679871"/>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A8247C6E-ABA4-4302-BA9F-695CDC2EAFC5}" type="datetimeFigureOut">
              <a:rPr lang="en-US" smtClean="0"/>
              <a:t>6/30/2021</a:t>
            </a:fld>
            <a:endParaRPr lang="en-US"/>
          </a:p>
        </p:txBody>
      </p:sp>
      <p:sp>
        <p:nvSpPr>
          <p:cNvPr id="6" name="Footer Placeholder 5"/>
          <p:cNvSpPr>
            <a:spLocks noGrp="1"/>
          </p:cNvSpPr>
          <p:nvPr>
            <p:ph type="ftr" sz="quarter" idx="11"/>
          </p:nvPr>
        </p:nvSpPr>
        <p:spPr>
          <a:xfrm>
            <a:off x="685800" y="379941"/>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75339AE3-92F7-4273-A588-ED6AD9901854}" type="slidenum">
              <a:rPr lang="en-US" smtClean="0"/>
              <a:t>‹#›</a:t>
            </a:fld>
            <a:endParaRPr lang="en-US"/>
          </a:p>
        </p:txBody>
      </p:sp>
      <p:sp>
        <p:nvSpPr>
          <p:cNvPr id="9" name="TextBox 8"/>
          <p:cNvSpPr txBox="1"/>
          <p:nvPr/>
        </p:nvSpPr>
        <p:spPr>
          <a:xfrm>
            <a:off x="476250" y="93345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0" name="TextBox 9"/>
          <p:cNvSpPr txBox="1"/>
          <p:nvPr/>
        </p:nvSpPr>
        <p:spPr>
          <a:xfrm>
            <a:off x="10984230" y="270129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38600413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Name Card">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95" y="1124701"/>
            <a:ext cx="10146186" cy="2511835"/>
          </a:xfrm>
        </p:spPr>
        <p:txBody>
          <a:bodyPr anchor="b"/>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024467" y="3648315"/>
            <a:ext cx="10144654" cy="99988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78883"/>
            <a:ext cx="2910840" cy="365125"/>
          </a:xfrm>
        </p:spPr>
        <p:txBody>
          <a:bodyPr/>
          <a:lstStyle>
            <a:lvl1pPr algn="r">
              <a:defRPr/>
            </a:lvl1pPr>
          </a:lstStyle>
          <a:p>
            <a:fld id="{A8247C6E-ABA4-4302-BA9F-695CDC2EAFC5}" type="datetimeFigureOut">
              <a:rPr lang="en-US" smtClean="0"/>
              <a:t>6/30/2021</a:t>
            </a:fld>
            <a:endParaRPr lang="en-US"/>
          </a:p>
        </p:txBody>
      </p:sp>
      <p:sp>
        <p:nvSpPr>
          <p:cNvPr id="6" name="Footer Placeholder 5"/>
          <p:cNvSpPr>
            <a:spLocks noGrp="1"/>
          </p:cNvSpPr>
          <p:nvPr>
            <p:ph type="ftr" sz="quarter" idx="11"/>
          </p:nvPr>
        </p:nvSpPr>
        <p:spPr>
          <a:xfrm>
            <a:off x="685800" y="378883"/>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75339AE3-92F7-4273-A588-ED6AD9901854}" type="slidenum">
              <a:rPr lang="en-US" smtClean="0"/>
              <a:t>‹#›</a:t>
            </a:fld>
            <a:endParaRPr lang="en-US"/>
          </a:p>
        </p:txBody>
      </p:sp>
    </p:spTree>
    <p:extLst>
      <p:ext uri="{BB962C8B-B14F-4D97-AF65-F5344CB8AC3E}">
        <p14:creationId xmlns:p14="http://schemas.microsoft.com/office/powerpoint/2010/main" val="10488475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2895600" y="761999"/>
            <a:ext cx="8610599" cy="1303867"/>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800" y="2202080"/>
            <a:ext cx="3456432" cy="617320"/>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799"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368800" y="2201333"/>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366858" y="2904067"/>
            <a:ext cx="3456432" cy="331461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8051800" y="2192866"/>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8051801"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A8247C6E-ABA4-4302-BA9F-695CDC2EAFC5}" type="datetimeFigureOut">
              <a:rPr lang="en-US" smtClean="0"/>
              <a:t>6/30/2021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5339AE3-92F7-4273-A588-ED6AD9901854}" type="slidenum">
              <a:rPr lang="en-US" smtClean="0"/>
              <a:t>‹#›</a:t>
            </a:fld>
            <a:endParaRPr lang="en-US"/>
          </a:p>
        </p:txBody>
      </p:sp>
    </p:spTree>
    <p:extLst>
      <p:ext uri="{BB962C8B-B14F-4D97-AF65-F5344CB8AC3E}">
        <p14:creationId xmlns:p14="http://schemas.microsoft.com/office/powerpoint/2010/main" val="198430465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2895600" y="762000"/>
            <a:ext cx="8610599" cy="12954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8618" y="4191000"/>
            <a:ext cx="3451582"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8618" y="2362200"/>
            <a:ext cx="3451582"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8618" y="4873764"/>
            <a:ext cx="3451582"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374263" y="4191000"/>
            <a:ext cx="3448935"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374263" y="2362200"/>
            <a:ext cx="3448936"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374264" y="4873763"/>
            <a:ext cx="344893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8049731" y="4191000"/>
            <a:ext cx="3456469"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49855" y="2362200"/>
            <a:ext cx="3447878"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8049731" y="4873761"/>
            <a:ext cx="345244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A8247C6E-ABA4-4302-BA9F-695CDC2EAFC5}" type="datetimeFigureOut">
              <a:rPr lang="en-US" smtClean="0"/>
              <a:t>6/30/2021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5339AE3-92F7-4273-A588-ED6AD9901854}" type="slidenum">
              <a:rPr lang="en-US" smtClean="0"/>
              <a:t>‹#›</a:t>
            </a:fld>
            <a:endParaRPr lang="en-US"/>
          </a:p>
        </p:txBody>
      </p:sp>
    </p:spTree>
    <p:extLst>
      <p:ext uri="{BB962C8B-B14F-4D97-AF65-F5344CB8AC3E}">
        <p14:creationId xmlns:p14="http://schemas.microsoft.com/office/powerpoint/2010/main" val="7752514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685800" y="2194559"/>
            <a:ext cx="10820400" cy="40241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8247C6E-ABA4-4302-BA9F-695CDC2EAFC5}" type="datetimeFigureOut">
              <a:rPr lang="en-US" smtClean="0"/>
              <a:t>6/30/2021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5339AE3-92F7-4273-A588-ED6AD9901854}" type="slidenum">
              <a:rPr lang="en-US" smtClean="0"/>
              <a:t>‹#›</a:t>
            </a:fld>
            <a:endParaRPr lang="en-US"/>
          </a:p>
        </p:txBody>
      </p:sp>
    </p:spTree>
    <p:extLst>
      <p:ext uri="{BB962C8B-B14F-4D97-AF65-F5344CB8AC3E}">
        <p14:creationId xmlns:p14="http://schemas.microsoft.com/office/powerpoint/2010/main" val="53122463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Vertical Title 1"/>
          <p:cNvSpPr>
            <a:spLocks noGrp="1"/>
          </p:cNvSpPr>
          <p:nvPr>
            <p:ph type="title" orient="vert"/>
          </p:nvPr>
        </p:nvSpPr>
        <p:spPr>
          <a:xfrm>
            <a:off x="9448800" y="745066"/>
            <a:ext cx="2057400" cy="3903133"/>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024466" y="745067"/>
            <a:ext cx="8204201" cy="390313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7814452" y="379941"/>
            <a:ext cx="2910840" cy="365125"/>
          </a:xfrm>
        </p:spPr>
        <p:txBody>
          <a:bodyPr/>
          <a:lstStyle>
            <a:lvl1pPr algn="r">
              <a:defRPr/>
            </a:lvl1pPr>
          </a:lstStyle>
          <a:p>
            <a:fld id="{A8247C6E-ABA4-4302-BA9F-695CDC2EAFC5}" type="datetimeFigureOut">
              <a:rPr lang="en-US" smtClean="0"/>
              <a:t>6/30/2021</a:t>
            </a:fld>
            <a:endParaRPr lang="en-US"/>
          </a:p>
        </p:txBody>
      </p:sp>
      <p:sp>
        <p:nvSpPr>
          <p:cNvPr id="5" name="Footer Placeholder 4"/>
          <p:cNvSpPr>
            <a:spLocks noGrp="1"/>
          </p:cNvSpPr>
          <p:nvPr>
            <p:ph type="ftr" sz="quarter" idx="11"/>
          </p:nvPr>
        </p:nvSpPr>
        <p:spPr>
          <a:xfrm>
            <a:off x="685800" y="381000"/>
            <a:ext cx="6991492" cy="365125"/>
          </a:xfrm>
        </p:spPr>
        <p:txBody>
          <a:bodyPr/>
          <a:lstStyle/>
          <a:p>
            <a:endParaRPr lang="en-US"/>
          </a:p>
        </p:txBody>
      </p:sp>
      <p:sp>
        <p:nvSpPr>
          <p:cNvPr id="6" name="Slide Number Placeholder 5"/>
          <p:cNvSpPr>
            <a:spLocks noGrp="1"/>
          </p:cNvSpPr>
          <p:nvPr>
            <p:ph type="sldNum" sz="quarter" idx="12"/>
          </p:nvPr>
        </p:nvSpPr>
        <p:spPr>
          <a:xfrm>
            <a:off x="10862452" y="381000"/>
            <a:ext cx="643748" cy="365125"/>
          </a:xfrm>
        </p:spPr>
        <p:txBody>
          <a:bodyPr/>
          <a:lstStyle/>
          <a:p>
            <a:fld id="{75339AE3-92F7-4273-A588-ED6AD9901854}" type="slidenum">
              <a:rPr lang="en-US" smtClean="0"/>
              <a:t>‹#›</a:t>
            </a:fld>
            <a:endParaRPr lang="en-US"/>
          </a:p>
        </p:txBody>
      </p:sp>
    </p:spTree>
    <p:extLst>
      <p:ext uri="{BB962C8B-B14F-4D97-AF65-F5344CB8AC3E}">
        <p14:creationId xmlns:p14="http://schemas.microsoft.com/office/powerpoint/2010/main" val="26068691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descr="C0-HD-TOP.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92000" cy="1441450"/>
          </a:xfrm>
          <a:prstGeom prst="rect">
            <a:avLst/>
          </a:prstGeom>
        </p:spPr>
      </p:pic>
      <p:sp>
        <p:nvSpPr>
          <p:cNvPr id="2" name="Title Placeholder 1"/>
          <p:cNvSpPr>
            <a:spLocks noGrp="1"/>
          </p:cNvSpPr>
          <p:nvPr>
            <p:ph type="title"/>
          </p:nvPr>
        </p:nvSpPr>
        <p:spPr>
          <a:xfrm>
            <a:off x="2895600" y="764373"/>
            <a:ext cx="8610600" cy="129302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800" y="2194560"/>
            <a:ext cx="10820400" cy="40241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595360" y="6356350"/>
            <a:ext cx="291084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A8247C6E-ABA4-4302-BA9F-695CDC2EAFC5}" type="datetimeFigureOut">
              <a:rPr lang="en-US" smtClean="0"/>
              <a:t>6/30/2021</a:t>
            </a:fld>
            <a:endParaRPr lang="en-US"/>
          </a:p>
        </p:txBody>
      </p:sp>
      <p:sp>
        <p:nvSpPr>
          <p:cNvPr id="5" name="Footer Placeholder 4"/>
          <p:cNvSpPr>
            <a:spLocks noGrp="1"/>
          </p:cNvSpPr>
          <p:nvPr>
            <p:ph type="ftr" sz="quarter" idx="3"/>
          </p:nvPr>
        </p:nvSpPr>
        <p:spPr>
          <a:xfrm>
            <a:off x="685800" y="6355845"/>
            <a:ext cx="777240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63000" y="381000"/>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75339AE3-92F7-4273-A588-ED6AD9901854}" type="slidenum">
              <a:rPr lang="en-US" smtClean="0"/>
              <a:t>‹#›</a:t>
            </a:fld>
            <a:endParaRPr lang="en-US"/>
          </a:p>
        </p:txBody>
      </p:sp>
    </p:spTree>
    <p:extLst>
      <p:ext uri="{BB962C8B-B14F-4D97-AF65-F5344CB8AC3E}">
        <p14:creationId xmlns:p14="http://schemas.microsoft.com/office/powerpoint/2010/main" val="404313259"/>
      </p:ext>
    </p:extLst>
  </p:cSld>
  <p:clrMap bg1="dk1" tx1="lt1" bg2="dk2" tx2="lt2" accent1="accent1" accent2="accent2" accent3="accent3" accent4="accent4" accent5="accent5" accent6="accent6" hlink="hlink" folHlink="folHlink"/>
  <p:sldLayoutIdLst>
    <p:sldLayoutId id="2147483905" r:id="rId1"/>
    <p:sldLayoutId id="2147483906" r:id="rId2"/>
    <p:sldLayoutId id="2147483907" r:id="rId3"/>
    <p:sldLayoutId id="2147483908" r:id="rId4"/>
    <p:sldLayoutId id="2147483909" r:id="rId5"/>
    <p:sldLayoutId id="2147483910" r:id="rId6"/>
    <p:sldLayoutId id="2147483911" r:id="rId7"/>
    <p:sldLayoutId id="2147483912" r:id="rId8"/>
    <p:sldLayoutId id="2147483913" r:id="rId9"/>
    <p:sldLayoutId id="2147483914" r:id="rId10"/>
    <p:sldLayoutId id="2147483915" r:id="rId11"/>
    <p:sldLayoutId id="2147483916" r:id="rId12"/>
    <p:sldLayoutId id="2147483917" r:id="rId13"/>
    <p:sldLayoutId id="2147483918" r:id="rId14"/>
    <p:sldLayoutId id="2147483919" r:id="rId15"/>
    <p:sldLayoutId id="2147483920" r:id="rId16"/>
    <p:sldLayoutId id="2147483921" r:id="rId17"/>
  </p:sldLayoutIdLst>
  <p:txStyles>
    <p:titleStyle>
      <a:lvl1pPr algn="r" defTabSz="914400" rtl="0" eaLnBrk="1" latinLnBrk="0" hangingPunct="1">
        <a:lnSpc>
          <a:spcPct val="90000"/>
        </a:lnSpc>
        <a:spcBef>
          <a:spcPct val="0"/>
        </a:spcBef>
        <a:buNone/>
        <a:defRPr sz="40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jpe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hyperlink" Target="https://www.youtube.com/watch?v=eaALjlyKDZI"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hyperlink" Target="https://www.youtube.com/watch?v=4WZTzKu3CsY" TargetMode="External"/><Relationship Id="rId1" Type="http://schemas.openxmlformats.org/officeDocument/2006/relationships/slideLayout" Target="../slideLayouts/slideLayout2.xml"/><Relationship Id="rId4" Type="http://schemas.openxmlformats.org/officeDocument/2006/relationships/image" Target="../media/image12.jpeg"/></Relationships>
</file>

<file path=ppt/slides/_rels/slide20.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2.xml"/><Relationship Id="rId4" Type="http://schemas.openxmlformats.org/officeDocument/2006/relationships/image" Target="../media/image15.jpeg"/></Relationships>
</file>

<file path=ppt/slides/_rels/slide2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www.youtube.com/watch?v=if2aH9OKZLU" TargetMode="External"/><Relationship Id="rId2" Type="http://schemas.openxmlformats.org/officeDocument/2006/relationships/hyperlink" Target="https://www.youtube.com/watch?v=vSXTBnnx4OA" TargetMode="External"/><Relationship Id="rId1" Type="http://schemas.openxmlformats.org/officeDocument/2006/relationships/slideLayout" Target="../slideLayouts/slideLayout2.xml"/><Relationship Id="rId5" Type="http://schemas.openxmlformats.org/officeDocument/2006/relationships/hyperlink" Target="https://www.youtube.com/watch?v=74jU3B-2bAE" TargetMode="External"/><Relationship Id="rId4" Type="http://schemas.openxmlformats.org/officeDocument/2006/relationships/hyperlink" Target="https://www.youtube.com/watch?v=GnBQ6vIutDM" TargetMode="External"/></Relationships>
</file>

<file path=ppt/slides/_rels/slide26.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hyperlink" Target="https://www.youtube.com/watch?v=7Vh_tL67FLY"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7.xml.rels><?xml version="1.0" encoding="UTF-8" standalone="yes"?>
<Relationships xmlns="http://schemas.openxmlformats.org/package/2006/relationships"><Relationship Id="rId2" Type="http://schemas.openxmlformats.org/officeDocument/2006/relationships/image" Target="../media/image25.emf"/><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image" Target="../media/image26.emf"/><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hyperlink" Target="https://youtu.be/i2x4foEuRcI"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8.emf"/><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45A410-5255-4B12-BC71-482EC44B177D}"/>
              </a:ext>
            </a:extLst>
          </p:cNvPr>
          <p:cNvSpPr>
            <a:spLocks noGrp="1"/>
          </p:cNvSpPr>
          <p:nvPr>
            <p:ph type="ctrTitle"/>
          </p:nvPr>
        </p:nvSpPr>
        <p:spPr/>
        <p:txBody>
          <a:bodyPr/>
          <a:lstStyle/>
          <a:p>
            <a:r>
              <a:rPr lang="en-US" dirty="0"/>
              <a:t>Day 1: Intro to Chemistry</a:t>
            </a:r>
          </a:p>
        </p:txBody>
      </p:sp>
    </p:spTree>
    <p:extLst>
      <p:ext uri="{BB962C8B-B14F-4D97-AF65-F5344CB8AC3E}">
        <p14:creationId xmlns:p14="http://schemas.microsoft.com/office/powerpoint/2010/main" val="14856635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6EDBEF-471F-45A0-BBF7-532832625F77}"/>
              </a:ext>
            </a:extLst>
          </p:cNvPr>
          <p:cNvSpPr>
            <a:spLocks noGrp="1"/>
          </p:cNvSpPr>
          <p:nvPr>
            <p:ph type="title"/>
          </p:nvPr>
        </p:nvSpPr>
        <p:spPr/>
        <p:txBody>
          <a:bodyPr/>
          <a:lstStyle/>
          <a:p>
            <a:r>
              <a:rPr lang="en-US" dirty="0"/>
              <a:t>Who am I?</a:t>
            </a:r>
          </a:p>
        </p:txBody>
      </p:sp>
      <p:pic>
        <p:nvPicPr>
          <p:cNvPr id="5" name="Content Placeholder 4" descr="A person smiling for the picture&#10;&#10;Description automatically generated with low confidence">
            <a:extLst>
              <a:ext uri="{FF2B5EF4-FFF2-40B4-BE49-F238E27FC236}">
                <a16:creationId xmlns:a16="http://schemas.microsoft.com/office/drawing/2014/main" id="{C7A128BD-5685-4762-869B-08FC322D041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85800" y="2057401"/>
            <a:ext cx="4024313" cy="4024313"/>
          </a:xfrm>
        </p:spPr>
      </p:pic>
      <p:sp>
        <p:nvSpPr>
          <p:cNvPr id="6" name="TextBox 5">
            <a:extLst>
              <a:ext uri="{FF2B5EF4-FFF2-40B4-BE49-F238E27FC236}">
                <a16:creationId xmlns:a16="http://schemas.microsoft.com/office/drawing/2014/main" id="{07FA4F78-B4BB-4618-A359-B09015C38DBC}"/>
              </a:ext>
            </a:extLst>
          </p:cNvPr>
          <p:cNvSpPr txBox="1"/>
          <p:nvPr/>
        </p:nvSpPr>
        <p:spPr>
          <a:xfrm>
            <a:off x="5327374" y="2057401"/>
            <a:ext cx="6178826" cy="2862322"/>
          </a:xfrm>
          <a:prstGeom prst="rect">
            <a:avLst/>
          </a:prstGeom>
          <a:noFill/>
        </p:spPr>
        <p:txBody>
          <a:bodyPr wrap="square" rtlCol="0">
            <a:spAutoFit/>
          </a:bodyPr>
          <a:lstStyle/>
          <a:p>
            <a:pPr marL="285750" indent="-285750">
              <a:buFont typeface="Arial" panose="020B0604020202020204" pitchFamily="34" charset="0"/>
              <a:buChar char="•"/>
            </a:pPr>
            <a:r>
              <a:rPr lang="en-US" dirty="0"/>
              <a:t>Brian Ngo</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18 years old - Recently Graduated High School</a:t>
            </a:r>
          </a:p>
          <a:p>
            <a:endParaRPr lang="en-US" dirty="0"/>
          </a:p>
          <a:p>
            <a:pPr marL="285750" indent="-285750">
              <a:buFont typeface="Arial" panose="020B0604020202020204" pitchFamily="34" charset="0"/>
              <a:buChar char="•"/>
            </a:pPr>
            <a:r>
              <a:rPr lang="en-US" dirty="0"/>
              <a:t>Credentials: Honors and AP Chemistry</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Aspiring Nurse</a:t>
            </a:r>
          </a:p>
          <a:p>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378452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819B4-46BA-4053-9E88-31CEB6859AFC}"/>
              </a:ext>
            </a:extLst>
          </p:cNvPr>
          <p:cNvSpPr>
            <a:spLocks noGrp="1"/>
          </p:cNvSpPr>
          <p:nvPr>
            <p:ph type="title"/>
          </p:nvPr>
        </p:nvSpPr>
        <p:spPr/>
        <p:txBody>
          <a:bodyPr/>
          <a:lstStyle/>
          <a:p>
            <a:r>
              <a:rPr lang="en-US" dirty="0"/>
              <a:t>What is this class all about</a:t>
            </a:r>
          </a:p>
        </p:txBody>
      </p:sp>
      <p:sp>
        <p:nvSpPr>
          <p:cNvPr id="3" name="Content Placeholder 2">
            <a:extLst>
              <a:ext uri="{FF2B5EF4-FFF2-40B4-BE49-F238E27FC236}">
                <a16:creationId xmlns:a16="http://schemas.microsoft.com/office/drawing/2014/main" id="{C6D61BFC-D29F-43AC-B080-D0C719CB2948}"/>
              </a:ext>
            </a:extLst>
          </p:cNvPr>
          <p:cNvSpPr>
            <a:spLocks noGrp="1"/>
          </p:cNvSpPr>
          <p:nvPr>
            <p:ph idx="1"/>
          </p:nvPr>
        </p:nvSpPr>
        <p:spPr/>
        <p:txBody>
          <a:bodyPr/>
          <a:lstStyle/>
          <a:p>
            <a:pPr>
              <a:lnSpc>
                <a:spcPct val="150000"/>
              </a:lnSpc>
            </a:pPr>
            <a:r>
              <a:rPr lang="en-US" dirty="0"/>
              <a:t>This class is all about the wonders and mysteries of chemistry. ➢ Do you ever wonder why and how the stuff around us works? Did you know  that chemistry is all around us, every second of everyday?! </a:t>
            </a:r>
          </a:p>
          <a:p>
            <a:pPr marL="0" indent="0">
              <a:lnSpc>
                <a:spcPct val="150000"/>
              </a:lnSpc>
              <a:buNone/>
            </a:pPr>
            <a:endParaRPr lang="en-US" dirty="0"/>
          </a:p>
          <a:p>
            <a:pPr>
              <a:lnSpc>
                <a:spcPct val="150000"/>
              </a:lnSpc>
            </a:pPr>
            <a:r>
              <a:rPr lang="en-US" dirty="0"/>
              <a:t>This class will help us to try and understand and answer why and how stuff  work and interact, like the soap we use to wash our hands!</a:t>
            </a:r>
          </a:p>
          <a:p>
            <a:pPr>
              <a:lnSpc>
                <a:spcPct val="150000"/>
              </a:lnSpc>
            </a:pPr>
            <a:endParaRPr lang="en-US" dirty="0"/>
          </a:p>
        </p:txBody>
      </p:sp>
    </p:spTree>
    <p:extLst>
      <p:ext uri="{BB962C8B-B14F-4D97-AF65-F5344CB8AC3E}">
        <p14:creationId xmlns:p14="http://schemas.microsoft.com/office/powerpoint/2010/main" val="15473636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89498-60F8-4396-A1EE-52586846F5D0}"/>
              </a:ext>
            </a:extLst>
          </p:cNvPr>
          <p:cNvSpPr>
            <a:spLocks noGrp="1"/>
          </p:cNvSpPr>
          <p:nvPr>
            <p:ph type="title"/>
          </p:nvPr>
        </p:nvSpPr>
        <p:spPr/>
        <p:txBody>
          <a:bodyPr/>
          <a:lstStyle/>
          <a:p>
            <a:r>
              <a:rPr lang="en-US" dirty="0"/>
              <a:t>What will this class be like?</a:t>
            </a:r>
          </a:p>
        </p:txBody>
      </p:sp>
      <p:sp>
        <p:nvSpPr>
          <p:cNvPr id="3" name="Content Placeholder 2">
            <a:extLst>
              <a:ext uri="{FF2B5EF4-FFF2-40B4-BE49-F238E27FC236}">
                <a16:creationId xmlns:a16="http://schemas.microsoft.com/office/drawing/2014/main" id="{0CC06F74-BEBC-4DFC-AAED-AE377AD893C7}"/>
              </a:ext>
            </a:extLst>
          </p:cNvPr>
          <p:cNvSpPr>
            <a:spLocks noGrp="1"/>
          </p:cNvSpPr>
          <p:nvPr>
            <p:ph idx="1"/>
          </p:nvPr>
        </p:nvSpPr>
        <p:spPr/>
        <p:txBody>
          <a:bodyPr/>
          <a:lstStyle/>
          <a:p>
            <a:r>
              <a:rPr lang="en-US" dirty="0"/>
              <a:t>This class will be 1 hour for each period.</a:t>
            </a:r>
          </a:p>
          <a:p>
            <a:r>
              <a:rPr lang="en-US" dirty="0"/>
              <a:t>We will have a quick lesson, usually accompanied with a short video. 15-20</a:t>
            </a:r>
          </a:p>
          <a:p>
            <a:r>
              <a:rPr lang="en-US" dirty="0"/>
              <a:t>minutes</a:t>
            </a:r>
          </a:p>
          <a:p>
            <a:r>
              <a:rPr lang="en-US" dirty="0"/>
              <a:t>A lab experiment or activity that helps us to visualize, understand, and</a:t>
            </a:r>
          </a:p>
          <a:p>
            <a:r>
              <a:rPr lang="en-US" dirty="0"/>
              <a:t>remember what we learn. 35-40 minutes</a:t>
            </a:r>
          </a:p>
          <a:p>
            <a:r>
              <a:rPr lang="en-US" dirty="0"/>
              <a:t>Clean up after our activities/labs when needed. 5-10 minutes</a:t>
            </a:r>
          </a:p>
          <a:p>
            <a:r>
              <a:rPr lang="en-US" dirty="0"/>
              <a:t>Recap! We’ll recap what we’ve learned. 5-10 minutes</a:t>
            </a:r>
          </a:p>
        </p:txBody>
      </p:sp>
    </p:spTree>
    <p:extLst>
      <p:ext uri="{BB962C8B-B14F-4D97-AF65-F5344CB8AC3E}">
        <p14:creationId xmlns:p14="http://schemas.microsoft.com/office/powerpoint/2010/main" val="1157543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8DA2DA-31F4-41BC-8B5B-714BC4981B1A}"/>
              </a:ext>
            </a:extLst>
          </p:cNvPr>
          <p:cNvSpPr>
            <a:spLocks noGrp="1"/>
          </p:cNvSpPr>
          <p:nvPr>
            <p:ph type="title"/>
          </p:nvPr>
        </p:nvSpPr>
        <p:spPr/>
        <p:txBody>
          <a:bodyPr/>
          <a:lstStyle/>
          <a:p>
            <a:r>
              <a:rPr lang="en-US" dirty="0"/>
              <a:t>EXPECTATIONS</a:t>
            </a:r>
          </a:p>
        </p:txBody>
      </p:sp>
      <p:sp>
        <p:nvSpPr>
          <p:cNvPr id="3" name="Content Placeholder 2">
            <a:extLst>
              <a:ext uri="{FF2B5EF4-FFF2-40B4-BE49-F238E27FC236}">
                <a16:creationId xmlns:a16="http://schemas.microsoft.com/office/drawing/2014/main" id="{B178D720-7BBF-429B-8373-BBD12EBD9FFB}"/>
              </a:ext>
            </a:extLst>
          </p:cNvPr>
          <p:cNvSpPr>
            <a:spLocks noGrp="1"/>
          </p:cNvSpPr>
          <p:nvPr>
            <p:ph idx="1"/>
          </p:nvPr>
        </p:nvSpPr>
        <p:spPr/>
        <p:txBody>
          <a:bodyPr>
            <a:normAutofit fontScale="92500" lnSpcReduction="20000"/>
          </a:bodyPr>
          <a:lstStyle/>
          <a:p>
            <a:pPr>
              <a:lnSpc>
                <a:spcPct val="200000"/>
              </a:lnSpc>
            </a:pPr>
            <a:r>
              <a:rPr lang="en-US" dirty="0"/>
              <a:t>In this class I expect everyone to be…  </a:t>
            </a:r>
          </a:p>
          <a:p>
            <a:pPr>
              <a:lnSpc>
                <a:spcPct val="200000"/>
              </a:lnSpc>
            </a:pPr>
            <a:r>
              <a:rPr lang="en-US" b="1" dirty="0"/>
              <a:t>Respectful</a:t>
            </a:r>
            <a:r>
              <a:rPr lang="en-US" dirty="0"/>
              <a:t>! - respect and listen when others are talking and respect other  people’s ideas </a:t>
            </a:r>
          </a:p>
          <a:p>
            <a:pPr>
              <a:lnSpc>
                <a:spcPct val="200000"/>
              </a:lnSpc>
            </a:pPr>
            <a:r>
              <a:rPr lang="en-US" b="1" dirty="0"/>
              <a:t>Kind</a:t>
            </a:r>
            <a:r>
              <a:rPr lang="en-US" dirty="0"/>
              <a:t>! - say kind words, portray kind action </a:t>
            </a:r>
          </a:p>
          <a:p>
            <a:pPr>
              <a:lnSpc>
                <a:spcPct val="200000"/>
              </a:lnSpc>
            </a:pPr>
            <a:r>
              <a:rPr lang="en-US" b="1" dirty="0"/>
              <a:t>Safe</a:t>
            </a:r>
            <a:r>
              <a:rPr lang="en-US" dirty="0"/>
              <a:t>! - stay 6ft apart, wash your hands, use hand sanitizer, wear your masks </a:t>
            </a:r>
          </a:p>
          <a:p>
            <a:pPr>
              <a:lnSpc>
                <a:spcPct val="200000"/>
              </a:lnSpc>
            </a:pPr>
            <a:r>
              <a:rPr lang="en-US" b="1" dirty="0"/>
              <a:t>And most importantly, Have fun! </a:t>
            </a:r>
          </a:p>
          <a:p>
            <a:pPr>
              <a:lnSpc>
                <a:spcPct val="200000"/>
              </a:lnSpc>
            </a:pPr>
            <a:endParaRPr lang="en-US" dirty="0"/>
          </a:p>
        </p:txBody>
      </p:sp>
    </p:spTree>
    <p:extLst>
      <p:ext uri="{BB962C8B-B14F-4D97-AF65-F5344CB8AC3E}">
        <p14:creationId xmlns:p14="http://schemas.microsoft.com/office/powerpoint/2010/main" val="28333022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7A1F78-5D0B-4AC7-BDDA-C00B9D893E13}"/>
              </a:ext>
            </a:extLst>
          </p:cNvPr>
          <p:cNvSpPr>
            <a:spLocks noGrp="1"/>
          </p:cNvSpPr>
          <p:nvPr>
            <p:ph type="title"/>
          </p:nvPr>
        </p:nvSpPr>
        <p:spPr/>
        <p:txBody>
          <a:bodyPr/>
          <a:lstStyle/>
          <a:p>
            <a:r>
              <a:rPr lang="en-US" dirty="0"/>
              <a:t>#1 Lab safety</a:t>
            </a:r>
          </a:p>
        </p:txBody>
      </p:sp>
      <p:sp>
        <p:nvSpPr>
          <p:cNvPr id="3" name="Content Placeholder 2">
            <a:extLst>
              <a:ext uri="{FF2B5EF4-FFF2-40B4-BE49-F238E27FC236}">
                <a16:creationId xmlns:a16="http://schemas.microsoft.com/office/drawing/2014/main" id="{1F42BBD1-8551-4B07-94D8-D0AEBF5B2485}"/>
              </a:ext>
            </a:extLst>
          </p:cNvPr>
          <p:cNvSpPr>
            <a:spLocks noGrp="1"/>
          </p:cNvSpPr>
          <p:nvPr>
            <p:ph idx="1"/>
          </p:nvPr>
        </p:nvSpPr>
        <p:spPr/>
        <p:txBody>
          <a:bodyPr/>
          <a:lstStyle/>
          <a:p>
            <a:pPr>
              <a:lnSpc>
                <a:spcPct val="200000"/>
              </a:lnSpc>
            </a:pPr>
            <a:r>
              <a:rPr lang="en-US" dirty="0"/>
              <a:t>Before we do our lab, we have to talk about safety</a:t>
            </a:r>
          </a:p>
          <a:p>
            <a:pPr>
              <a:lnSpc>
                <a:spcPct val="200000"/>
              </a:lnSpc>
            </a:pPr>
            <a:r>
              <a:rPr lang="en-US" dirty="0"/>
              <a:t>Safety while in the lab is very important, especially while conducting an experiment.</a:t>
            </a:r>
          </a:p>
          <a:p>
            <a:pPr>
              <a:lnSpc>
                <a:spcPct val="200000"/>
              </a:lnSpc>
            </a:pPr>
            <a:r>
              <a:rPr lang="en-US" dirty="0"/>
              <a:t>Video: https://youtu.be/MEIXRLcC6RA</a:t>
            </a:r>
          </a:p>
        </p:txBody>
      </p:sp>
    </p:spTree>
    <p:extLst>
      <p:ext uri="{BB962C8B-B14F-4D97-AF65-F5344CB8AC3E}">
        <p14:creationId xmlns:p14="http://schemas.microsoft.com/office/powerpoint/2010/main" val="37540413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A5144-8AEE-4680-A41C-020C06C38584}"/>
              </a:ext>
            </a:extLst>
          </p:cNvPr>
          <p:cNvSpPr>
            <a:spLocks noGrp="1"/>
          </p:cNvSpPr>
          <p:nvPr>
            <p:ph type="title"/>
          </p:nvPr>
        </p:nvSpPr>
        <p:spPr/>
        <p:txBody>
          <a:bodyPr/>
          <a:lstStyle/>
          <a:p>
            <a:r>
              <a:rPr lang="en-US" dirty="0"/>
              <a:t>#2 What is chemistry?</a:t>
            </a:r>
          </a:p>
        </p:txBody>
      </p:sp>
      <p:sp>
        <p:nvSpPr>
          <p:cNvPr id="3" name="Content Placeholder 2">
            <a:extLst>
              <a:ext uri="{FF2B5EF4-FFF2-40B4-BE49-F238E27FC236}">
                <a16:creationId xmlns:a16="http://schemas.microsoft.com/office/drawing/2014/main" id="{9DCB8B19-565F-458B-BDB4-4429593B1FE9}"/>
              </a:ext>
            </a:extLst>
          </p:cNvPr>
          <p:cNvSpPr>
            <a:spLocks noGrp="1"/>
          </p:cNvSpPr>
          <p:nvPr>
            <p:ph idx="1"/>
          </p:nvPr>
        </p:nvSpPr>
        <p:spPr/>
        <p:txBody>
          <a:bodyPr>
            <a:normAutofit/>
          </a:bodyPr>
          <a:lstStyle/>
          <a:p>
            <a:pPr>
              <a:lnSpc>
                <a:spcPct val="100000"/>
              </a:lnSpc>
            </a:pPr>
            <a:r>
              <a:rPr lang="en-US" sz="2400" dirty="0"/>
              <a:t>Chemistry is the study of matter. Ok.. but what is matter?</a:t>
            </a:r>
          </a:p>
          <a:p>
            <a:pPr>
              <a:lnSpc>
                <a:spcPct val="100000"/>
              </a:lnSpc>
            </a:pPr>
            <a:r>
              <a:rPr lang="en-US" sz="2400" dirty="0"/>
              <a:t>Matter is the stuff around you.. It is made of tiny particles called atoms and molecules</a:t>
            </a:r>
          </a:p>
          <a:p>
            <a:pPr lvl="1">
              <a:lnSpc>
                <a:spcPct val="100000"/>
              </a:lnSpc>
            </a:pPr>
            <a:r>
              <a:rPr lang="en-US" sz="2400" dirty="0"/>
              <a:t>Matter is the air you breathe, the water you drink, the ground you walk on, the flowers you</a:t>
            </a:r>
          </a:p>
          <a:p>
            <a:pPr lvl="1">
              <a:lnSpc>
                <a:spcPct val="100000"/>
              </a:lnSpc>
            </a:pPr>
            <a:r>
              <a:rPr lang="en-US" sz="2400" dirty="0"/>
              <a:t>smell, and the food you taste.</a:t>
            </a:r>
          </a:p>
          <a:p>
            <a:pPr lvl="1">
              <a:lnSpc>
                <a:spcPct val="100000"/>
              </a:lnSpc>
            </a:pPr>
            <a:r>
              <a:rPr lang="en-US" sz="2400" dirty="0"/>
              <a:t>Any object you can see, smell, or touch is made of matter. There are also very small pieces of</a:t>
            </a:r>
          </a:p>
          <a:p>
            <a:pPr lvl="1">
              <a:lnSpc>
                <a:spcPct val="100000"/>
              </a:lnSpc>
            </a:pPr>
            <a:r>
              <a:rPr lang="en-US" sz="2400" dirty="0"/>
              <a:t>matter that you can’t see or touch.</a:t>
            </a:r>
          </a:p>
        </p:txBody>
      </p:sp>
    </p:spTree>
    <p:extLst>
      <p:ext uri="{BB962C8B-B14F-4D97-AF65-F5344CB8AC3E}">
        <p14:creationId xmlns:p14="http://schemas.microsoft.com/office/powerpoint/2010/main" val="33388189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4D90A8-73AF-44E6-8D89-A884DFA6C9DA}"/>
              </a:ext>
            </a:extLst>
          </p:cNvPr>
          <p:cNvSpPr>
            <a:spLocks noGrp="1"/>
          </p:cNvSpPr>
          <p:nvPr>
            <p:ph type="title"/>
          </p:nvPr>
        </p:nvSpPr>
        <p:spPr/>
        <p:txBody>
          <a:bodyPr/>
          <a:lstStyle/>
          <a:p>
            <a:r>
              <a:rPr lang="en-US" dirty="0"/>
              <a:t>#3 LAB TIME: What’s the Matter?</a:t>
            </a:r>
          </a:p>
        </p:txBody>
      </p:sp>
      <p:sp>
        <p:nvSpPr>
          <p:cNvPr id="3" name="Content Placeholder 2">
            <a:extLst>
              <a:ext uri="{FF2B5EF4-FFF2-40B4-BE49-F238E27FC236}">
                <a16:creationId xmlns:a16="http://schemas.microsoft.com/office/drawing/2014/main" id="{8E17454A-A22A-4D5A-844C-9F5C76613380}"/>
              </a:ext>
            </a:extLst>
          </p:cNvPr>
          <p:cNvSpPr>
            <a:spLocks noGrp="1"/>
          </p:cNvSpPr>
          <p:nvPr>
            <p:ph idx="1"/>
          </p:nvPr>
        </p:nvSpPr>
        <p:spPr/>
        <p:txBody>
          <a:bodyPr/>
          <a:lstStyle/>
          <a:p>
            <a:r>
              <a:rPr lang="en-US" dirty="0"/>
              <a:t>States of Matter: Solid, Liquid, and Gas</a:t>
            </a:r>
          </a:p>
          <a:p>
            <a:r>
              <a:rPr lang="en-US" dirty="0"/>
              <a:t>Hypothesize what states of matter </a:t>
            </a:r>
            <a:r>
              <a:rPr lang="en-US" dirty="0" err="1"/>
              <a:t>Oobleck</a:t>
            </a:r>
            <a:r>
              <a:rPr lang="en-US" dirty="0"/>
              <a:t> will be</a:t>
            </a:r>
          </a:p>
          <a:p>
            <a:r>
              <a:rPr lang="en-US" dirty="0"/>
              <a:t>Experiment and Observe</a:t>
            </a:r>
          </a:p>
          <a:p>
            <a:r>
              <a:rPr lang="en-US" dirty="0"/>
              <a:t>Conclude</a:t>
            </a:r>
          </a:p>
          <a:p>
            <a:r>
              <a:rPr lang="en-US" dirty="0"/>
              <a:t>Cleanup</a:t>
            </a:r>
          </a:p>
          <a:p>
            <a:endParaRPr lang="en-US" dirty="0"/>
          </a:p>
        </p:txBody>
      </p:sp>
    </p:spTree>
    <p:extLst>
      <p:ext uri="{BB962C8B-B14F-4D97-AF65-F5344CB8AC3E}">
        <p14:creationId xmlns:p14="http://schemas.microsoft.com/office/powerpoint/2010/main" val="28542541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45A410-5255-4B12-BC71-482EC44B177D}"/>
              </a:ext>
            </a:extLst>
          </p:cNvPr>
          <p:cNvSpPr>
            <a:spLocks noGrp="1"/>
          </p:cNvSpPr>
          <p:nvPr>
            <p:ph type="ctrTitle"/>
          </p:nvPr>
        </p:nvSpPr>
        <p:spPr/>
        <p:txBody>
          <a:bodyPr>
            <a:normAutofit fontScale="90000"/>
          </a:bodyPr>
          <a:lstStyle/>
          <a:p>
            <a:r>
              <a:rPr lang="en-US" dirty="0"/>
              <a:t>Day 2: Chemical reactions and changes</a:t>
            </a:r>
          </a:p>
        </p:txBody>
      </p:sp>
    </p:spTree>
    <p:extLst>
      <p:ext uri="{BB962C8B-B14F-4D97-AF65-F5344CB8AC3E}">
        <p14:creationId xmlns:p14="http://schemas.microsoft.com/office/powerpoint/2010/main" val="38195918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78987-3E73-4C6B-AAE0-724140A86C22}"/>
              </a:ext>
            </a:extLst>
          </p:cNvPr>
          <p:cNvSpPr>
            <a:spLocks noGrp="1"/>
          </p:cNvSpPr>
          <p:nvPr>
            <p:ph type="title"/>
          </p:nvPr>
        </p:nvSpPr>
        <p:spPr/>
        <p:txBody>
          <a:bodyPr/>
          <a:lstStyle/>
          <a:p>
            <a:r>
              <a:rPr lang="en-US" dirty="0"/>
              <a:t>CHEMICAL CHANGES AND REACTIONS</a:t>
            </a:r>
          </a:p>
        </p:txBody>
      </p:sp>
      <p:sp>
        <p:nvSpPr>
          <p:cNvPr id="3" name="Content Placeholder 2">
            <a:extLst>
              <a:ext uri="{FF2B5EF4-FFF2-40B4-BE49-F238E27FC236}">
                <a16:creationId xmlns:a16="http://schemas.microsoft.com/office/drawing/2014/main" id="{47EC9399-7BF9-4B90-9A43-217922190752}"/>
              </a:ext>
            </a:extLst>
          </p:cNvPr>
          <p:cNvSpPr>
            <a:spLocks noGrp="1"/>
          </p:cNvSpPr>
          <p:nvPr>
            <p:ph idx="1"/>
          </p:nvPr>
        </p:nvSpPr>
        <p:spPr/>
        <p:txBody>
          <a:bodyPr>
            <a:normAutofit/>
          </a:bodyPr>
          <a:lstStyle/>
          <a:p>
            <a:r>
              <a:rPr lang="en-US" dirty="0"/>
              <a:t>Chemical Reactions happen when some substances are mixed together to make a whole new substances - This is called a chemical change</a:t>
            </a:r>
          </a:p>
          <a:p>
            <a:r>
              <a:rPr lang="en-US" dirty="0"/>
              <a:t>○ Ex. There are toys that use chemical reactions to make them go—like toy rockets that blast into the air and the Hot Wheels “Formula Fuelers” cars.</a:t>
            </a:r>
          </a:p>
          <a:p>
            <a:r>
              <a:rPr lang="en-US" dirty="0"/>
              <a:t>○ Ex. cooking an egg, baking, lighting a candle (combustion), even eating</a:t>
            </a:r>
          </a:p>
          <a:p>
            <a:r>
              <a:rPr lang="en-US" dirty="0"/>
              <a:t>Video: https://youtu.be/37pir0ej_SE</a:t>
            </a:r>
          </a:p>
        </p:txBody>
      </p:sp>
    </p:spTree>
    <p:extLst>
      <p:ext uri="{BB962C8B-B14F-4D97-AF65-F5344CB8AC3E}">
        <p14:creationId xmlns:p14="http://schemas.microsoft.com/office/powerpoint/2010/main" val="22701164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9C574A9-49D7-4BA4-844C-4A58C7385A8D}"/>
              </a:ext>
            </a:extLst>
          </p:cNvPr>
          <p:cNvPicPr>
            <a:picLocks noChangeAspect="1"/>
          </p:cNvPicPr>
          <p:nvPr/>
        </p:nvPicPr>
        <p:blipFill>
          <a:blip r:embed="rId2"/>
          <a:stretch>
            <a:fillRect/>
          </a:stretch>
        </p:blipFill>
        <p:spPr>
          <a:xfrm>
            <a:off x="4255710" y="3600883"/>
            <a:ext cx="2281632" cy="3074712"/>
          </a:xfrm>
          <a:prstGeom prst="rect">
            <a:avLst/>
          </a:prstGeom>
        </p:spPr>
      </p:pic>
      <p:pic>
        <p:nvPicPr>
          <p:cNvPr id="7" name="Picture 6">
            <a:extLst>
              <a:ext uri="{FF2B5EF4-FFF2-40B4-BE49-F238E27FC236}">
                <a16:creationId xmlns:a16="http://schemas.microsoft.com/office/drawing/2014/main" id="{F795A4F3-B3FA-43DE-8A45-3325D412D5CB}"/>
              </a:ext>
            </a:extLst>
          </p:cNvPr>
          <p:cNvPicPr>
            <a:picLocks noChangeAspect="1"/>
          </p:cNvPicPr>
          <p:nvPr/>
        </p:nvPicPr>
        <p:blipFill>
          <a:blip r:embed="rId3"/>
          <a:stretch>
            <a:fillRect/>
          </a:stretch>
        </p:blipFill>
        <p:spPr>
          <a:xfrm>
            <a:off x="3967148" y="1028365"/>
            <a:ext cx="3200847" cy="2400635"/>
          </a:xfrm>
          <a:prstGeom prst="rect">
            <a:avLst/>
          </a:prstGeom>
        </p:spPr>
      </p:pic>
      <p:pic>
        <p:nvPicPr>
          <p:cNvPr id="9" name="Picture 8">
            <a:extLst>
              <a:ext uri="{FF2B5EF4-FFF2-40B4-BE49-F238E27FC236}">
                <a16:creationId xmlns:a16="http://schemas.microsoft.com/office/drawing/2014/main" id="{5363A44F-6E11-48D9-8904-825AEA3E5BBE}"/>
              </a:ext>
            </a:extLst>
          </p:cNvPr>
          <p:cNvPicPr>
            <a:picLocks noChangeAspect="1"/>
          </p:cNvPicPr>
          <p:nvPr/>
        </p:nvPicPr>
        <p:blipFill rotWithShape="1">
          <a:blip r:embed="rId4"/>
          <a:srcRect b="1989"/>
          <a:stretch/>
        </p:blipFill>
        <p:spPr>
          <a:xfrm>
            <a:off x="7792655" y="808728"/>
            <a:ext cx="3686160" cy="2747272"/>
          </a:xfrm>
          <a:prstGeom prst="rect">
            <a:avLst/>
          </a:prstGeom>
        </p:spPr>
      </p:pic>
      <p:pic>
        <p:nvPicPr>
          <p:cNvPr id="1028" name="Picture 4" descr="Why do Apples and Bananas Turn Brown? - YouTube">
            <a:extLst>
              <a:ext uri="{FF2B5EF4-FFF2-40B4-BE49-F238E27FC236}">
                <a16:creationId xmlns:a16="http://schemas.microsoft.com/office/drawing/2014/main" id="{00886A16-B1E1-450F-8603-47A0960C79D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192262" y="4248189"/>
            <a:ext cx="4286553" cy="2411186"/>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3158CB57-E05D-4C90-AD8B-2D6D383C2330}"/>
              </a:ext>
            </a:extLst>
          </p:cNvPr>
          <p:cNvSpPr txBox="1"/>
          <p:nvPr/>
        </p:nvSpPr>
        <p:spPr>
          <a:xfrm>
            <a:off x="399943" y="1617064"/>
            <a:ext cx="3200847" cy="4093428"/>
          </a:xfrm>
          <a:prstGeom prst="rect">
            <a:avLst/>
          </a:prstGeom>
          <a:noFill/>
        </p:spPr>
        <p:txBody>
          <a:bodyPr wrap="square" rtlCol="0">
            <a:spAutoFit/>
          </a:bodyPr>
          <a:lstStyle/>
          <a:p>
            <a:r>
              <a:rPr lang="en-US" sz="2000" b="1" dirty="0"/>
              <a:t>Evidence of chemical change</a:t>
            </a:r>
          </a:p>
          <a:p>
            <a:endParaRPr lang="en-US" sz="2000" b="1" dirty="0"/>
          </a:p>
          <a:p>
            <a:pPr marL="342900" indent="-342900">
              <a:buFontTx/>
              <a:buChar char="-"/>
            </a:pPr>
            <a:r>
              <a:rPr lang="en-US" sz="2000" dirty="0"/>
              <a:t>They can release smells, heat or light, and gases</a:t>
            </a:r>
          </a:p>
          <a:p>
            <a:pPr marL="342900" indent="-342900">
              <a:buFontTx/>
              <a:buChar char="-"/>
            </a:pPr>
            <a:endParaRPr lang="en-US" sz="2000" dirty="0"/>
          </a:p>
          <a:p>
            <a:pPr marL="342900" indent="-342900">
              <a:buFontTx/>
              <a:buChar char="-"/>
            </a:pPr>
            <a:r>
              <a:rPr lang="en-US" sz="2000" dirty="0"/>
              <a:t>Sometimes they have a color and temperature change</a:t>
            </a:r>
          </a:p>
          <a:p>
            <a:pPr marL="342900" indent="-342900">
              <a:buFontTx/>
              <a:buChar char="-"/>
            </a:pPr>
            <a:endParaRPr lang="en-US" sz="2000" dirty="0"/>
          </a:p>
          <a:p>
            <a:pPr marL="342900" indent="-342900">
              <a:buFontTx/>
              <a:buChar char="-"/>
            </a:pPr>
            <a:r>
              <a:rPr lang="en-US" sz="2000" dirty="0"/>
              <a:t>The change can’t be undone!</a:t>
            </a:r>
          </a:p>
        </p:txBody>
      </p:sp>
    </p:spTree>
    <p:extLst>
      <p:ext uri="{BB962C8B-B14F-4D97-AF65-F5344CB8AC3E}">
        <p14:creationId xmlns:p14="http://schemas.microsoft.com/office/powerpoint/2010/main" val="12427967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FAF923-73BB-4D30-870D-327E8D65F53B}"/>
              </a:ext>
            </a:extLst>
          </p:cNvPr>
          <p:cNvSpPr>
            <a:spLocks noGrp="1"/>
          </p:cNvSpPr>
          <p:nvPr>
            <p:ph type="title"/>
          </p:nvPr>
        </p:nvSpPr>
        <p:spPr/>
        <p:txBody>
          <a:bodyPr/>
          <a:lstStyle/>
          <a:p>
            <a:r>
              <a:rPr lang="en-US" dirty="0"/>
              <a:t>LABTIME: ELEPHANT TOOTHPASTE</a:t>
            </a:r>
          </a:p>
        </p:txBody>
      </p:sp>
      <p:sp>
        <p:nvSpPr>
          <p:cNvPr id="3" name="Content Placeholder 2">
            <a:extLst>
              <a:ext uri="{FF2B5EF4-FFF2-40B4-BE49-F238E27FC236}">
                <a16:creationId xmlns:a16="http://schemas.microsoft.com/office/drawing/2014/main" id="{89E92A88-40CD-403E-BFE5-DDD789CE6B29}"/>
              </a:ext>
            </a:extLst>
          </p:cNvPr>
          <p:cNvSpPr>
            <a:spLocks noGrp="1"/>
          </p:cNvSpPr>
          <p:nvPr>
            <p:ph idx="1"/>
          </p:nvPr>
        </p:nvSpPr>
        <p:spPr/>
        <p:txBody>
          <a:bodyPr>
            <a:normAutofit/>
          </a:bodyPr>
          <a:lstStyle/>
          <a:p>
            <a:r>
              <a:rPr lang="en-US" sz="3200" dirty="0"/>
              <a:t>Importance of PPE: The unreacted hydrogen peroxide can irritate skin and eyes.</a:t>
            </a:r>
          </a:p>
        </p:txBody>
      </p:sp>
      <p:pic>
        <p:nvPicPr>
          <p:cNvPr id="2050" name="Picture 2" descr="NSI N-Specs® Tri-Star® OTG Clear Lens Over-the-Glass Safety Glasses - 22916  - Northern Safety Co., Inc.">
            <a:extLst>
              <a:ext uri="{FF2B5EF4-FFF2-40B4-BE49-F238E27FC236}">
                <a16:creationId xmlns:a16="http://schemas.microsoft.com/office/drawing/2014/main" id="{BB570543-74C7-4DE5-8C2C-BD267606445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084056" y="3429000"/>
            <a:ext cx="2926844" cy="292684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Amazon.com: 3M Tekk 11329 Virtua Anti-Fog Safety Glasses, Clear Frame,  Clear Lens, 5-COUNT: Home Improvement">
            <a:extLst>
              <a:ext uri="{FF2B5EF4-FFF2-40B4-BE49-F238E27FC236}">
                <a16:creationId xmlns:a16="http://schemas.microsoft.com/office/drawing/2014/main" id="{D5AD5FBA-2B75-425E-A574-7BEB06DF428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17257" y="3780212"/>
            <a:ext cx="3381375" cy="2057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84093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F4E5A-AE1C-4C75-90F3-DE8A5A07CF10}"/>
              </a:ext>
            </a:extLst>
          </p:cNvPr>
          <p:cNvSpPr>
            <a:spLocks noGrp="1"/>
          </p:cNvSpPr>
          <p:nvPr>
            <p:ph type="title"/>
          </p:nvPr>
        </p:nvSpPr>
        <p:spPr/>
        <p:txBody>
          <a:bodyPr/>
          <a:lstStyle/>
          <a:p>
            <a:r>
              <a:rPr lang="en-US" dirty="0"/>
              <a:t>RECAP</a:t>
            </a:r>
          </a:p>
        </p:txBody>
      </p:sp>
      <p:sp>
        <p:nvSpPr>
          <p:cNvPr id="3" name="Content Placeholder 2">
            <a:extLst>
              <a:ext uri="{FF2B5EF4-FFF2-40B4-BE49-F238E27FC236}">
                <a16:creationId xmlns:a16="http://schemas.microsoft.com/office/drawing/2014/main" id="{2141586D-983D-4543-B8E6-83D2CCF7E195}"/>
              </a:ext>
            </a:extLst>
          </p:cNvPr>
          <p:cNvSpPr>
            <a:spLocks noGrp="1"/>
          </p:cNvSpPr>
          <p:nvPr>
            <p:ph idx="1"/>
          </p:nvPr>
        </p:nvSpPr>
        <p:spPr/>
        <p:txBody>
          <a:bodyPr>
            <a:normAutofit/>
          </a:bodyPr>
          <a:lstStyle/>
          <a:p>
            <a:r>
              <a:rPr lang="en-US" dirty="0"/>
              <a:t>Chemical Reactions happen when some substances are mixed together to make a whole new substances - This is called a chemical change</a:t>
            </a:r>
          </a:p>
          <a:p>
            <a:endParaRPr lang="en-US" dirty="0"/>
          </a:p>
          <a:p>
            <a:r>
              <a:rPr lang="en-US" dirty="0"/>
              <a:t>Evidence of chemical change</a:t>
            </a:r>
          </a:p>
          <a:p>
            <a:pPr>
              <a:buFontTx/>
              <a:buChar char="-"/>
            </a:pPr>
            <a:r>
              <a:rPr lang="en-US" dirty="0"/>
              <a:t>They can release smells, heat or light, and gases</a:t>
            </a:r>
          </a:p>
          <a:p>
            <a:pPr>
              <a:buFontTx/>
              <a:buChar char="-"/>
            </a:pPr>
            <a:r>
              <a:rPr lang="en-US" dirty="0"/>
              <a:t>Sometimes they have a color and temperature change</a:t>
            </a:r>
          </a:p>
          <a:p>
            <a:pPr>
              <a:buFontTx/>
              <a:buChar char="-"/>
            </a:pPr>
            <a:r>
              <a:rPr lang="en-US" dirty="0"/>
              <a:t>The change can’t be undone!</a:t>
            </a:r>
          </a:p>
          <a:p>
            <a:endParaRPr lang="en-US" dirty="0"/>
          </a:p>
          <a:p>
            <a:endParaRPr lang="en-US" dirty="0"/>
          </a:p>
        </p:txBody>
      </p:sp>
    </p:spTree>
    <p:extLst>
      <p:ext uri="{BB962C8B-B14F-4D97-AF65-F5344CB8AC3E}">
        <p14:creationId xmlns:p14="http://schemas.microsoft.com/office/powerpoint/2010/main" val="39042763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45A410-5255-4B12-BC71-482EC44B177D}"/>
              </a:ext>
            </a:extLst>
          </p:cNvPr>
          <p:cNvSpPr>
            <a:spLocks noGrp="1"/>
          </p:cNvSpPr>
          <p:nvPr>
            <p:ph type="ctrTitle"/>
          </p:nvPr>
        </p:nvSpPr>
        <p:spPr/>
        <p:txBody>
          <a:bodyPr>
            <a:normAutofit/>
          </a:bodyPr>
          <a:lstStyle/>
          <a:p>
            <a:r>
              <a:rPr lang="en-US" dirty="0"/>
              <a:t>Day 3: ATOMS,  molecules, and slime</a:t>
            </a:r>
          </a:p>
        </p:txBody>
      </p:sp>
    </p:spTree>
    <p:extLst>
      <p:ext uri="{BB962C8B-B14F-4D97-AF65-F5344CB8AC3E}">
        <p14:creationId xmlns:p14="http://schemas.microsoft.com/office/powerpoint/2010/main" val="9208754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400D8-EE04-4BA4-AC90-924C43BD3E7A}"/>
              </a:ext>
            </a:extLst>
          </p:cNvPr>
          <p:cNvSpPr>
            <a:spLocks noGrp="1"/>
          </p:cNvSpPr>
          <p:nvPr>
            <p:ph type="title"/>
          </p:nvPr>
        </p:nvSpPr>
        <p:spPr/>
        <p:txBody>
          <a:bodyPr/>
          <a:lstStyle/>
          <a:p>
            <a:r>
              <a:rPr lang="en-US" dirty="0"/>
              <a:t>POLYMERS</a:t>
            </a:r>
          </a:p>
        </p:txBody>
      </p:sp>
      <p:sp>
        <p:nvSpPr>
          <p:cNvPr id="3" name="Content Placeholder 2">
            <a:extLst>
              <a:ext uri="{FF2B5EF4-FFF2-40B4-BE49-F238E27FC236}">
                <a16:creationId xmlns:a16="http://schemas.microsoft.com/office/drawing/2014/main" id="{06C9AA0C-D722-4316-A58B-3C0CC16D9E2D}"/>
              </a:ext>
            </a:extLst>
          </p:cNvPr>
          <p:cNvSpPr>
            <a:spLocks noGrp="1"/>
          </p:cNvSpPr>
          <p:nvPr>
            <p:ph idx="1"/>
          </p:nvPr>
        </p:nvSpPr>
        <p:spPr/>
        <p:txBody>
          <a:bodyPr>
            <a:normAutofit/>
          </a:bodyPr>
          <a:lstStyle/>
          <a:p>
            <a:r>
              <a:rPr lang="en-US" dirty="0"/>
              <a:t>Before we can dive into making slime, we must first learn what it is!</a:t>
            </a:r>
          </a:p>
          <a:p>
            <a:r>
              <a:rPr lang="en-US" dirty="0"/>
              <a:t>A polymer is a chemical compound formed from long chains of the same molecule group.</a:t>
            </a:r>
          </a:p>
          <a:p>
            <a:r>
              <a:rPr lang="en-US" dirty="0"/>
              <a:t>These chains repeat over and over.</a:t>
            </a:r>
          </a:p>
          <a:p>
            <a:r>
              <a:rPr lang="en-US" dirty="0"/>
              <a:t>Polymers can be flexible, pliable and stretchy.</a:t>
            </a:r>
          </a:p>
          <a:p>
            <a:r>
              <a:rPr lang="en-US" dirty="0"/>
              <a:t>They have both liquid and solid properties</a:t>
            </a:r>
          </a:p>
          <a:p>
            <a:r>
              <a:rPr lang="en-US" dirty="0"/>
              <a:t>What are some examples of things that are not polymers? (brick, glass, metals </a:t>
            </a:r>
            <a:r>
              <a:rPr lang="en-US" dirty="0" err="1"/>
              <a:t>etc</a:t>
            </a:r>
            <a:r>
              <a:rPr lang="en-US" dirty="0"/>
              <a:t>).</a:t>
            </a:r>
          </a:p>
        </p:txBody>
      </p:sp>
    </p:spTree>
    <p:extLst>
      <p:ext uri="{BB962C8B-B14F-4D97-AF65-F5344CB8AC3E}">
        <p14:creationId xmlns:p14="http://schemas.microsoft.com/office/powerpoint/2010/main" val="2058500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5F92D-7B10-4ACC-9EA5-B3DC707FA940}"/>
              </a:ext>
            </a:extLst>
          </p:cNvPr>
          <p:cNvSpPr>
            <a:spLocks noGrp="1"/>
          </p:cNvSpPr>
          <p:nvPr>
            <p:ph type="title"/>
          </p:nvPr>
        </p:nvSpPr>
        <p:spPr/>
        <p:txBody>
          <a:bodyPr/>
          <a:lstStyle/>
          <a:p>
            <a:r>
              <a:rPr lang="en-US" dirty="0"/>
              <a:t>Lab time: It’s time for slime</a:t>
            </a:r>
          </a:p>
        </p:txBody>
      </p:sp>
      <p:sp>
        <p:nvSpPr>
          <p:cNvPr id="3" name="Content Placeholder 2">
            <a:extLst>
              <a:ext uri="{FF2B5EF4-FFF2-40B4-BE49-F238E27FC236}">
                <a16:creationId xmlns:a16="http://schemas.microsoft.com/office/drawing/2014/main" id="{8BC681F6-EEE1-4232-816C-554F0446943C}"/>
              </a:ext>
            </a:extLst>
          </p:cNvPr>
          <p:cNvSpPr>
            <a:spLocks noGrp="1"/>
          </p:cNvSpPr>
          <p:nvPr>
            <p:ph idx="1"/>
          </p:nvPr>
        </p:nvSpPr>
        <p:spPr/>
        <p:txBody>
          <a:bodyPr/>
          <a:lstStyle/>
          <a:p>
            <a:r>
              <a:rPr lang="en-US" dirty="0"/>
              <a:t>Slime instructions: </a:t>
            </a:r>
            <a:r>
              <a:rPr lang="it-IT" dirty="0">
                <a:hlinkClick r:id="rId2"/>
              </a:rPr>
              <a:t>https://www.youtube.com/watch?v=eaALjlyKDZI</a:t>
            </a:r>
            <a:endParaRPr lang="it-IT" dirty="0"/>
          </a:p>
          <a:p>
            <a:r>
              <a:rPr lang="it-IT" dirty="0"/>
              <a:t>https://www.pbs.org/parents/crafts-and-experiments/homemade-gak</a:t>
            </a:r>
          </a:p>
          <a:p>
            <a:pPr marL="0" indent="0">
              <a:buNone/>
            </a:pPr>
            <a:endParaRPr lang="en-US" dirty="0"/>
          </a:p>
        </p:txBody>
      </p:sp>
      <p:pic>
        <p:nvPicPr>
          <p:cNvPr id="3074" name="Picture 2" descr="The EASIEST Homemade Slime Recipe (3-Ingredients!) - I Heart Naptime">
            <a:extLst>
              <a:ext uri="{FF2B5EF4-FFF2-40B4-BE49-F238E27FC236}">
                <a16:creationId xmlns:a16="http://schemas.microsoft.com/office/drawing/2014/main" id="{02D6E770-6A65-4341-B91C-146B1BDFEC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936709" y="3147494"/>
            <a:ext cx="2449513" cy="3429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407543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F827D2-D740-4DFB-AF4B-28EC6AB5F9BA}"/>
              </a:ext>
            </a:extLst>
          </p:cNvPr>
          <p:cNvSpPr>
            <a:spLocks noGrp="1"/>
          </p:cNvSpPr>
          <p:nvPr>
            <p:ph type="title"/>
          </p:nvPr>
        </p:nvSpPr>
        <p:spPr/>
        <p:txBody>
          <a:bodyPr/>
          <a:lstStyle/>
          <a:p>
            <a:r>
              <a:rPr lang="en-US" dirty="0"/>
              <a:t>RECAP</a:t>
            </a:r>
          </a:p>
        </p:txBody>
      </p:sp>
      <p:sp>
        <p:nvSpPr>
          <p:cNvPr id="3" name="Content Placeholder 2">
            <a:extLst>
              <a:ext uri="{FF2B5EF4-FFF2-40B4-BE49-F238E27FC236}">
                <a16:creationId xmlns:a16="http://schemas.microsoft.com/office/drawing/2014/main" id="{46EC970C-77C8-4580-8300-9A231EACF2DA}"/>
              </a:ext>
            </a:extLst>
          </p:cNvPr>
          <p:cNvSpPr>
            <a:spLocks noGrp="1"/>
          </p:cNvSpPr>
          <p:nvPr>
            <p:ph idx="1"/>
          </p:nvPr>
        </p:nvSpPr>
        <p:spPr/>
        <p:txBody>
          <a:bodyPr/>
          <a:lstStyle/>
          <a:p>
            <a:r>
              <a:rPr lang="en-US"/>
              <a:t>What </a:t>
            </a:r>
            <a:r>
              <a:rPr lang="en-US" dirty="0"/>
              <a:t>a polymer is: A polymer is a chemical compound formed from long chains of the same molecule group.</a:t>
            </a:r>
          </a:p>
          <a:p>
            <a:r>
              <a:rPr lang="en-US" dirty="0"/>
              <a:t>Examples of polymers: slime </a:t>
            </a:r>
          </a:p>
        </p:txBody>
      </p:sp>
    </p:spTree>
    <p:extLst>
      <p:ext uri="{BB962C8B-B14F-4D97-AF65-F5344CB8AC3E}">
        <p14:creationId xmlns:p14="http://schemas.microsoft.com/office/powerpoint/2010/main" val="29713512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45A410-5255-4B12-BC71-482EC44B177D}"/>
              </a:ext>
            </a:extLst>
          </p:cNvPr>
          <p:cNvSpPr>
            <a:spLocks noGrp="1"/>
          </p:cNvSpPr>
          <p:nvPr>
            <p:ph type="ctrTitle"/>
          </p:nvPr>
        </p:nvSpPr>
        <p:spPr/>
        <p:txBody>
          <a:bodyPr>
            <a:normAutofit fontScale="90000"/>
          </a:bodyPr>
          <a:lstStyle/>
          <a:p>
            <a:r>
              <a:rPr lang="en-US" dirty="0"/>
              <a:t>Day 4: Particle interaction and surface tension</a:t>
            </a:r>
          </a:p>
        </p:txBody>
      </p:sp>
    </p:spTree>
    <p:extLst>
      <p:ext uri="{BB962C8B-B14F-4D97-AF65-F5344CB8AC3E}">
        <p14:creationId xmlns:p14="http://schemas.microsoft.com/office/powerpoint/2010/main" val="39030366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5F0178-A8A1-40B2-9DE6-424362D10C17}"/>
              </a:ext>
            </a:extLst>
          </p:cNvPr>
          <p:cNvSpPr>
            <a:spLocks noGrp="1"/>
          </p:cNvSpPr>
          <p:nvPr>
            <p:ph type="title"/>
          </p:nvPr>
        </p:nvSpPr>
        <p:spPr/>
        <p:txBody>
          <a:bodyPr/>
          <a:lstStyle/>
          <a:p>
            <a:r>
              <a:rPr lang="en-US" dirty="0"/>
              <a:t>SURFACE TENSION</a:t>
            </a:r>
          </a:p>
        </p:txBody>
      </p:sp>
      <p:sp>
        <p:nvSpPr>
          <p:cNvPr id="3" name="Content Placeholder 2">
            <a:extLst>
              <a:ext uri="{FF2B5EF4-FFF2-40B4-BE49-F238E27FC236}">
                <a16:creationId xmlns:a16="http://schemas.microsoft.com/office/drawing/2014/main" id="{46D4EE1B-2011-4FA2-9B35-22CEC4F62917}"/>
              </a:ext>
            </a:extLst>
          </p:cNvPr>
          <p:cNvSpPr>
            <a:spLocks noGrp="1"/>
          </p:cNvSpPr>
          <p:nvPr>
            <p:ph idx="1"/>
          </p:nvPr>
        </p:nvSpPr>
        <p:spPr/>
        <p:txBody>
          <a:bodyPr>
            <a:normAutofit/>
          </a:bodyPr>
          <a:lstStyle/>
          <a:p>
            <a:r>
              <a:rPr lang="en-US" sz="1800" dirty="0">
                <a:hlinkClick r:id="rId2"/>
              </a:rPr>
              <a:t>Video</a:t>
            </a:r>
            <a:endParaRPr lang="en-US" sz="1800" dirty="0"/>
          </a:p>
          <a:p>
            <a:r>
              <a:rPr lang="en-US" sz="1800" dirty="0"/>
              <a:t>Surface tension is the film that forms on the surface of a liquid caused by cohesion. Cohesion is the force of attraction between particles (molecules) of a substance.</a:t>
            </a:r>
          </a:p>
        </p:txBody>
      </p:sp>
      <p:pic>
        <p:nvPicPr>
          <p:cNvPr id="1026" name="Picture 2" descr="What Is Surface Tension? Definition and Experiments">
            <a:extLst>
              <a:ext uri="{FF2B5EF4-FFF2-40B4-BE49-F238E27FC236}">
                <a16:creationId xmlns:a16="http://schemas.microsoft.com/office/drawing/2014/main" id="{B139A024-B179-4F24-BAC5-EDFCAF27FC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6963862" y="3279913"/>
            <a:ext cx="4439792" cy="249803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he ramifications of surface energy-in the form of surface tension-are... |  Download Scientific Diagram">
            <a:extLst>
              <a:ext uri="{FF2B5EF4-FFF2-40B4-BE49-F238E27FC236}">
                <a16:creationId xmlns:a16="http://schemas.microsoft.com/office/drawing/2014/main" id="{35D340D5-4DB2-443F-9778-E9A4A997378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38156" y="3857809"/>
            <a:ext cx="4826985" cy="26444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440873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C920D-482E-44D9-A7E1-36BD830E5ED6}"/>
              </a:ext>
            </a:extLst>
          </p:cNvPr>
          <p:cNvSpPr>
            <a:spLocks noGrp="1"/>
          </p:cNvSpPr>
          <p:nvPr>
            <p:ph type="title"/>
          </p:nvPr>
        </p:nvSpPr>
        <p:spPr/>
        <p:txBody>
          <a:bodyPr/>
          <a:lstStyle/>
          <a:p>
            <a:r>
              <a:rPr lang="en-US" dirty="0"/>
              <a:t>Milk RAINBOW Demonstration</a:t>
            </a:r>
          </a:p>
        </p:txBody>
      </p:sp>
      <p:pic>
        <p:nvPicPr>
          <p:cNvPr id="1026" name="Picture 2">
            <a:extLst>
              <a:ext uri="{FF2B5EF4-FFF2-40B4-BE49-F238E27FC236}">
                <a16:creationId xmlns:a16="http://schemas.microsoft.com/office/drawing/2014/main" id="{5789F014-F9C2-4F8A-9015-CF95E9BD87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6117" y="1765852"/>
            <a:ext cx="4572001" cy="19050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D3A3F2B2-9C53-4E63-9109-C906F5EC327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17435" y="2851976"/>
            <a:ext cx="6188765" cy="257865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DD56726-1B5C-4694-AF14-137B10E10D4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71274" y="4326833"/>
            <a:ext cx="3861685" cy="1609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588624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B4EB1-89D9-4EBD-B882-FECCEF2BB951}"/>
              </a:ext>
            </a:extLst>
          </p:cNvPr>
          <p:cNvSpPr>
            <a:spLocks noGrp="1"/>
          </p:cNvSpPr>
          <p:nvPr>
            <p:ph type="title"/>
          </p:nvPr>
        </p:nvSpPr>
        <p:spPr/>
        <p:txBody>
          <a:bodyPr/>
          <a:lstStyle/>
          <a:p>
            <a:r>
              <a:rPr lang="en-US" dirty="0"/>
              <a:t>EXPLANATION</a:t>
            </a:r>
          </a:p>
        </p:txBody>
      </p:sp>
      <p:sp>
        <p:nvSpPr>
          <p:cNvPr id="3" name="Content Placeholder 2">
            <a:extLst>
              <a:ext uri="{FF2B5EF4-FFF2-40B4-BE49-F238E27FC236}">
                <a16:creationId xmlns:a16="http://schemas.microsoft.com/office/drawing/2014/main" id="{3B32D1C8-63B3-4E79-8D47-54E1F53C72FF}"/>
              </a:ext>
            </a:extLst>
          </p:cNvPr>
          <p:cNvSpPr>
            <a:spLocks noGrp="1"/>
          </p:cNvSpPr>
          <p:nvPr>
            <p:ph idx="1"/>
          </p:nvPr>
        </p:nvSpPr>
        <p:spPr/>
        <p:txBody>
          <a:bodyPr>
            <a:normAutofit/>
          </a:bodyPr>
          <a:lstStyle/>
          <a:p>
            <a:pPr marL="0" indent="0">
              <a:buNone/>
            </a:pPr>
            <a:r>
              <a:rPr lang="en-US" sz="2800" dirty="0"/>
              <a:t>When liquid dish soap is added to milk with drops of food coloring on the surface, the soap reduces the surface tension of the milk and reacts with the fat. This interaction causes the fat particles in the milk to move and create swirls of color.</a:t>
            </a:r>
          </a:p>
        </p:txBody>
      </p:sp>
      <p:pic>
        <p:nvPicPr>
          <p:cNvPr id="1026" name="Picture 2" descr="Color Changing Milk | Science Experiment">
            <a:extLst>
              <a:ext uri="{FF2B5EF4-FFF2-40B4-BE49-F238E27FC236}">
                <a16:creationId xmlns:a16="http://schemas.microsoft.com/office/drawing/2014/main" id="{70EC7010-F507-47E4-A58A-B9B4FE394C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54522" y="4017453"/>
            <a:ext cx="5282956" cy="22012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68347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4FFC6-B950-457A-A0F8-5ED26F725623}"/>
              </a:ext>
            </a:extLst>
          </p:cNvPr>
          <p:cNvSpPr>
            <a:spLocks noGrp="1"/>
          </p:cNvSpPr>
          <p:nvPr>
            <p:ph type="title"/>
          </p:nvPr>
        </p:nvSpPr>
        <p:spPr/>
        <p:txBody>
          <a:bodyPr/>
          <a:lstStyle/>
          <a:p>
            <a:r>
              <a:rPr lang="en-US" dirty="0"/>
              <a:t>LAB</a:t>
            </a:r>
          </a:p>
        </p:txBody>
      </p:sp>
      <p:sp>
        <p:nvSpPr>
          <p:cNvPr id="3" name="Content Placeholder 2">
            <a:extLst>
              <a:ext uri="{FF2B5EF4-FFF2-40B4-BE49-F238E27FC236}">
                <a16:creationId xmlns:a16="http://schemas.microsoft.com/office/drawing/2014/main" id="{F59A6F36-5E37-48D0-A804-A1A24FF9D46D}"/>
              </a:ext>
            </a:extLst>
          </p:cNvPr>
          <p:cNvSpPr>
            <a:spLocks noGrp="1"/>
          </p:cNvSpPr>
          <p:nvPr>
            <p:ph idx="1"/>
          </p:nvPr>
        </p:nvSpPr>
        <p:spPr/>
        <p:txBody>
          <a:bodyPr>
            <a:normAutofit fontScale="92500" lnSpcReduction="10000"/>
          </a:bodyPr>
          <a:lstStyle/>
          <a:p>
            <a:r>
              <a:rPr lang="en-US" dirty="0"/>
              <a:t>Paperclip experiment steps:</a:t>
            </a:r>
          </a:p>
          <a:p>
            <a:r>
              <a:rPr lang="en-US" dirty="0"/>
              <a:t>Fill cup with water</a:t>
            </a:r>
          </a:p>
          <a:p>
            <a:r>
              <a:rPr lang="en-US" dirty="0"/>
              <a:t>Place paperclip</a:t>
            </a:r>
          </a:p>
          <a:p>
            <a:r>
              <a:rPr lang="en-US" dirty="0"/>
              <a:t>Observe</a:t>
            </a:r>
          </a:p>
          <a:p>
            <a:endParaRPr lang="en-US" dirty="0"/>
          </a:p>
          <a:p>
            <a:r>
              <a:rPr lang="en-US" dirty="0"/>
              <a:t>Penny experiment steps:</a:t>
            </a:r>
          </a:p>
          <a:p>
            <a:r>
              <a:rPr lang="en-US" dirty="0"/>
              <a:t>Wash and dry penny</a:t>
            </a:r>
          </a:p>
          <a:p>
            <a:r>
              <a:rPr lang="en-US" dirty="0"/>
              <a:t>Fill pipette with water</a:t>
            </a:r>
          </a:p>
          <a:p>
            <a:r>
              <a:rPr lang="en-US" dirty="0"/>
              <a:t>Drop individual drops of water onto penny</a:t>
            </a:r>
          </a:p>
          <a:p>
            <a:r>
              <a:rPr lang="en-US" dirty="0"/>
              <a:t>Keep track of the water drops as you add them, one at a time, until water runs over the edge of the penny.</a:t>
            </a:r>
          </a:p>
          <a:p>
            <a:endParaRPr lang="en-US" dirty="0"/>
          </a:p>
        </p:txBody>
      </p:sp>
      <p:pic>
        <p:nvPicPr>
          <p:cNvPr id="2050" name="Picture 2" descr="Surface Tension - Discovery Express">
            <a:extLst>
              <a:ext uri="{FF2B5EF4-FFF2-40B4-BE49-F238E27FC236}">
                <a16:creationId xmlns:a16="http://schemas.microsoft.com/office/drawing/2014/main" id="{D9F32FD6-189E-4EF3-8828-99AF5037CF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16556" y="2194560"/>
            <a:ext cx="2794802" cy="1825901"/>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36 Drops of Water on a penny - YouTube">
            <a:extLst>
              <a:ext uri="{FF2B5EF4-FFF2-40B4-BE49-F238E27FC236}">
                <a16:creationId xmlns:a16="http://schemas.microsoft.com/office/drawing/2014/main" id="{55CF8EE4-B802-462B-9935-DD5AD8AFD0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51112" y="3429000"/>
            <a:ext cx="3255088" cy="18259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529918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45A410-5255-4B12-BC71-482EC44B177D}"/>
              </a:ext>
            </a:extLst>
          </p:cNvPr>
          <p:cNvSpPr>
            <a:spLocks noGrp="1"/>
          </p:cNvSpPr>
          <p:nvPr>
            <p:ph type="ctrTitle"/>
          </p:nvPr>
        </p:nvSpPr>
        <p:spPr/>
        <p:txBody>
          <a:bodyPr>
            <a:normAutofit/>
          </a:bodyPr>
          <a:lstStyle/>
          <a:p>
            <a:r>
              <a:rPr lang="en-US" dirty="0"/>
              <a:t>Day 5: MASS, DENSITY, &amp; VOLUME</a:t>
            </a:r>
          </a:p>
        </p:txBody>
      </p:sp>
    </p:spTree>
    <p:extLst>
      <p:ext uri="{BB962C8B-B14F-4D97-AF65-F5344CB8AC3E}">
        <p14:creationId xmlns:p14="http://schemas.microsoft.com/office/powerpoint/2010/main" val="35761461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EF8FE3-E34C-4B2C-9411-844E3401A28A}"/>
              </a:ext>
            </a:extLst>
          </p:cNvPr>
          <p:cNvSpPr>
            <a:spLocks noGrp="1"/>
          </p:cNvSpPr>
          <p:nvPr>
            <p:ph type="title"/>
          </p:nvPr>
        </p:nvSpPr>
        <p:spPr/>
        <p:txBody>
          <a:bodyPr/>
          <a:lstStyle/>
          <a:p>
            <a:r>
              <a:rPr lang="en-US" dirty="0"/>
              <a:t>WHAT IS VOLUME, MASS, AND DENSITY?</a:t>
            </a:r>
          </a:p>
        </p:txBody>
      </p:sp>
      <p:sp>
        <p:nvSpPr>
          <p:cNvPr id="3" name="Content Placeholder 2">
            <a:extLst>
              <a:ext uri="{FF2B5EF4-FFF2-40B4-BE49-F238E27FC236}">
                <a16:creationId xmlns:a16="http://schemas.microsoft.com/office/drawing/2014/main" id="{9EB4F28D-EF55-4B36-93B5-BC459385DCF8}"/>
              </a:ext>
            </a:extLst>
          </p:cNvPr>
          <p:cNvSpPr>
            <a:spLocks noGrp="1"/>
          </p:cNvSpPr>
          <p:nvPr>
            <p:ph idx="1"/>
          </p:nvPr>
        </p:nvSpPr>
        <p:spPr/>
        <p:txBody>
          <a:bodyPr>
            <a:normAutofit/>
          </a:bodyPr>
          <a:lstStyle/>
          <a:p>
            <a:pPr marL="0" indent="0">
              <a:buNone/>
            </a:pPr>
            <a:endParaRPr lang="en-US" dirty="0"/>
          </a:p>
          <a:p>
            <a:r>
              <a:rPr lang="en-US" dirty="0"/>
              <a:t>Volume is the quantity of three-dimensional space occupied by a liquid, solid, or gas. </a:t>
            </a:r>
          </a:p>
          <a:p>
            <a:r>
              <a:rPr lang="en-US" dirty="0"/>
              <a:t>Mass is the amount of matter or substance that makes up an object. Whether you're on the moon or Earth, your mass doesn't change - there's still the same amount of you. </a:t>
            </a:r>
          </a:p>
          <a:p>
            <a:r>
              <a:rPr lang="en-US" dirty="0"/>
              <a:t>Density is a measure of how compact the mass in a substance or object is.</a:t>
            </a:r>
          </a:p>
        </p:txBody>
      </p:sp>
    </p:spTree>
    <p:extLst>
      <p:ext uri="{BB962C8B-B14F-4D97-AF65-F5344CB8AC3E}">
        <p14:creationId xmlns:p14="http://schemas.microsoft.com/office/powerpoint/2010/main" val="39232964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7F5A8E-7C6E-4CFF-978A-56318C215889}"/>
              </a:ext>
            </a:extLst>
          </p:cNvPr>
          <p:cNvSpPr>
            <a:spLocks noGrp="1"/>
          </p:cNvSpPr>
          <p:nvPr>
            <p:ph type="title"/>
          </p:nvPr>
        </p:nvSpPr>
        <p:spPr/>
        <p:txBody>
          <a:bodyPr/>
          <a:lstStyle/>
          <a:p>
            <a:r>
              <a:rPr lang="en-US" dirty="0"/>
              <a:t>VIDEOS</a:t>
            </a:r>
          </a:p>
        </p:txBody>
      </p:sp>
      <p:sp>
        <p:nvSpPr>
          <p:cNvPr id="3" name="Content Placeholder 2">
            <a:extLst>
              <a:ext uri="{FF2B5EF4-FFF2-40B4-BE49-F238E27FC236}">
                <a16:creationId xmlns:a16="http://schemas.microsoft.com/office/drawing/2014/main" id="{802A7595-B05A-40AC-85F2-FAC5B2C19E05}"/>
              </a:ext>
            </a:extLst>
          </p:cNvPr>
          <p:cNvSpPr>
            <a:spLocks noGrp="1"/>
          </p:cNvSpPr>
          <p:nvPr>
            <p:ph idx="1"/>
          </p:nvPr>
        </p:nvSpPr>
        <p:spPr/>
        <p:txBody>
          <a:bodyPr/>
          <a:lstStyle/>
          <a:p>
            <a:r>
              <a:rPr lang="en-US" dirty="0">
                <a:hlinkClick r:id="rId2"/>
              </a:rPr>
              <a:t>VIDEO</a:t>
            </a:r>
            <a:endParaRPr lang="en-US" dirty="0"/>
          </a:p>
          <a:p>
            <a:r>
              <a:rPr lang="en-US" dirty="0">
                <a:hlinkClick r:id="rId3"/>
              </a:rPr>
              <a:t>https://www.youtube.com/watch?v=if2aH9OKZLU</a:t>
            </a:r>
            <a:endParaRPr lang="en-US" dirty="0"/>
          </a:p>
          <a:p>
            <a:r>
              <a:rPr lang="en-US" dirty="0">
                <a:hlinkClick r:id="rId4"/>
              </a:rPr>
              <a:t>https://www.youtube.com/watch?v=GnBQ6vIutDM</a:t>
            </a:r>
            <a:endParaRPr lang="en-US" dirty="0"/>
          </a:p>
          <a:p>
            <a:r>
              <a:rPr lang="en-US" dirty="0">
                <a:hlinkClick r:id="rId5"/>
              </a:rPr>
              <a:t>https://www.youtube.com/watch?v=74jU3B-2bAE</a:t>
            </a:r>
            <a:r>
              <a:rPr lang="en-US" dirty="0"/>
              <a:t> </a:t>
            </a:r>
          </a:p>
          <a:p>
            <a:endParaRPr lang="en-US" dirty="0"/>
          </a:p>
        </p:txBody>
      </p:sp>
    </p:spTree>
    <p:extLst>
      <p:ext uri="{BB962C8B-B14F-4D97-AF65-F5344CB8AC3E}">
        <p14:creationId xmlns:p14="http://schemas.microsoft.com/office/powerpoint/2010/main" val="35081926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5E3B8-7EFA-419B-A3BE-E1D828342224}"/>
              </a:ext>
            </a:extLst>
          </p:cNvPr>
          <p:cNvSpPr>
            <a:spLocks noGrp="1"/>
          </p:cNvSpPr>
          <p:nvPr>
            <p:ph type="title"/>
          </p:nvPr>
        </p:nvSpPr>
        <p:spPr/>
        <p:txBody>
          <a:bodyPr/>
          <a:lstStyle/>
          <a:p>
            <a:r>
              <a:rPr lang="en-US" dirty="0"/>
              <a:t>MASS &amp; VOLUME WORKSHEET</a:t>
            </a:r>
          </a:p>
        </p:txBody>
      </p:sp>
      <p:pic>
        <p:nvPicPr>
          <p:cNvPr id="2050" name="Picture 2" descr="How to find volume from density and mass - Quora">
            <a:extLst>
              <a:ext uri="{FF2B5EF4-FFF2-40B4-BE49-F238E27FC236}">
                <a16:creationId xmlns:a16="http://schemas.microsoft.com/office/drawing/2014/main" id="{EA4B51E8-0DD1-483C-B8AE-4882F4AFFC8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3688" y="1687789"/>
            <a:ext cx="5734050" cy="50196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270246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45A410-5255-4B12-BC71-482EC44B177D}"/>
              </a:ext>
            </a:extLst>
          </p:cNvPr>
          <p:cNvSpPr>
            <a:spLocks noGrp="1"/>
          </p:cNvSpPr>
          <p:nvPr>
            <p:ph type="ctrTitle"/>
          </p:nvPr>
        </p:nvSpPr>
        <p:spPr/>
        <p:txBody>
          <a:bodyPr>
            <a:normAutofit/>
          </a:bodyPr>
          <a:lstStyle/>
          <a:p>
            <a:r>
              <a:rPr lang="en-US" dirty="0"/>
              <a:t>Day 6: DENSITY AND FLOATING LIQUIDS</a:t>
            </a:r>
          </a:p>
        </p:txBody>
      </p:sp>
    </p:spTree>
    <p:extLst>
      <p:ext uri="{BB962C8B-B14F-4D97-AF65-F5344CB8AC3E}">
        <p14:creationId xmlns:p14="http://schemas.microsoft.com/office/powerpoint/2010/main" val="24184891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89E3F2-BDA6-49F6-BBCD-2C06DBDC4462}"/>
              </a:ext>
            </a:extLst>
          </p:cNvPr>
          <p:cNvSpPr>
            <a:spLocks noGrp="1"/>
          </p:cNvSpPr>
          <p:nvPr>
            <p:ph type="title"/>
          </p:nvPr>
        </p:nvSpPr>
        <p:spPr/>
        <p:txBody>
          <a:bodyPr/>
          <a:lstStyle/>
          <a:p>
            <a:r>
              <a:rPr lang="en-US" dirty="0"/>
              <a:t>Density and floating liquids</a:t>
            </a:r>
          </a:p>
        </p:txBody>
      </p:sp>
      <p:sp>
        <p:nvSpPr>
          <p:cNvPr id="3" name="Content Placeholder 2">
            <a:extLst>
              <a:ext uri="{FF2B5EF4-FFF2-40B4-BE49-F238E27FC236}">
                <a16:creationId xmlns:a16="http://schemas.microsoft.com/office/drawing/2014/main" id="{FEBEE7F0-0C25-4FFA-8064-F49F4D09956F}"/>
              </a:ext>
            </a:extLst>
          </p:cNvPr>
          <p:cNvSpPr>
            <a:spLocks noGrp="1"/>
          </p:cNvSpPr>
          <p:nvPr>
            <p:ph idx="1"/>
          </p:nvPr>
        </p:nvSpPr>
        <p:spPr/>
        <p:txBody>
          <a:bodyPr/>
          <a:lstStyle/>
          <a:p>
            <a:r>
              <a:rPr lang="en-US" dirty="0"/>
              <a:t>What do you notice about the rock?</a:t>
            </a:r>
          </a:p>
          <a:p>
            <a:pPr marL="0" indent="0">
              <a:buNone/>
            </a:pPr>
            <a:r>
              <a:rPr lang="en-US" dirty="0"/>
              <a:t>	○ A layer is a thickness of a substance that sits on a surface.</a:t>
            </a:r>
          </a:p>
          <a:p>
            <a:pPr marL="0" indent="0">
              <a:buNone/>
            </a:pPr>
            <a:endParaRPr lang="en-US" dirty="0"/>
          </a:p>
          <a:p>
            <a:r>
              <a:rPr lang="en-US" dirty="0"/>
              <a:t>Multiple layers can sit on top of one another.</a:t>
            </a:r>
          </a:p>
          <a:p>
            <a:pPr marL="0" indent="0">
              <a:buNone/>
            </a:pPr>
            <a:r>
              <a:rPr lang="en-US" dirty="0"/>
              <a:t>	➢ Different liquids can layer on top of one another.</a:t>
            </a:r>
          </a:p>
          <a:p>
            <a:pPr marL="0" indent="0">
              <a:buNone/>
            </a:pPr>
            <a:r>
              <a:rPr lang="en-US" dirty="0"/>
              <a:t>	➢ Substances that are less dense will float on top of substances with 	greater density.</a:t>
            </a:r>
          </a:p>
          <a:p>
            <a:pPr marL="0" indent="0">
              <a:buNone/>
            </a:pPr>
            <a:r>
              <a:rPr lang="en-US" dirty="0"/>
              <a:t>		○ This explains why oil floats on water</a:t>
            </a:r>
          </a:p>
        </p:txBody>
      </p:sp>
    </p:spTree>
    <p:extLst>
      <p:ext uri="{BB962C8B-B14F-4D97-AF65-F5344CB8AC3E}">
        <p14:creationId xmlns:p14="http://schemas.microsoft.com/office/powerpoint/2010/main" val="32799685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D7EF6E-F99F-46C4-A7EC-2E8C6F953DFE}"/>
              </a:ext>
            </a:extLst>
          </p:cNvPr>
          <p:cNvSpPr>
            <a:spLocks noGrp="1"/>
          </p:cNvSpPr>
          <p:nvPr>
            <p:ph type="title"/>
          </p:nvPr>
        </p:nvSpPr>
        <p:spPr/>
        <p:txBody>
          <a:bodyPr/>
          <a:lstStyle/>
          <a:p>
            <a:r>
              <a:rPr lang="en-US" dirty="0"/>
              <a:t>LECTURE</a:t>
            </a:r>
          </a:p>
        </p:txBody>
      </p:sp>
      <p:sp>
        <p:nvSpPr>
          <p:cNvPr id="3" name="Content Placeholder 2">
            <a:extLst>
              <a:ext uri="{FF2B5EF4-FFF2-40B4-BE49-F238E27FC236}">
                <a16:creationId xmlns:a16="http://schemas.microsoft.com/office/drawing/2014/main" id="{10CE5703-66DD-4879-AC6B-A6A7C8DA8E52}"/>
              </a:ext>
            </a:extLst>
          </p:cNvPr>
          <p:cNvSpPr>
            <a:spLocks noGrp="1"/>
          </p:cNvSpPr>
          <p:nvPr>
            <p:ph idx="1"/>
          </p:nvPr>
        </p:nvSpPr>
        <p:spPr>
          <a:xfrm>
            <a:off x="685800" y="2194560"/>
            <a:ext cx="8338930" cy="4024125"/>
          </a:xfrm>
        </p:spPr>
        <p:txBody>
          <a:bodyPr>
            <a:normAutofit fontScale="92500" lnSpcReduction="10000"/>
          </a:bodyPr>
          <a:lstStyle/>
          <a:p>
            <a:r>
              <a:rPr lang="en-US" sz="2800" dirty="0"/>
              <a:t>The density of a liquid determines whether it will float on or sink in another liquid. A liquid will float if it is less dense than the liquid it is placed in. A liquid will sink if it is denser than the liquid it is placed in.</a:t>
            </a:r>
          </a:p>
          <a:p>
            <a:r>
              <a:rPr lang="en-US" sz="2800" dirty="0"/>
              <a:t>The density of a liquid is a measure of how heavy it is for the amount measured. If you weigh equal amounts or volumes of two different liquids, the liquid that weighs more is denser. If a liquid that is less dense than water is gently added to the surface of the water, it will float on the water.</a:t>
            </a:r>
          </a:p>
        </p:txBody>
      </p:sp>
      <p:pic>
        <p:nvPicPr>
          <p:cNvPr id="2050" name="Picture 2" descr="Density—Sink and Float for Liquids | Chapter 3: Density | Middle School  Chemistry">
            <a:extLst>
              <a:ext uri="{FF2B5EF4-FFF2-40B4-BE49-F238E27FC236}">
                <a16:creationId xmlns:a16="http://schemas.microsoft.com/office/drawing/2014/main" id="{021ED7DB-7C18-4A02-8F64-24F03D3F3FC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806401" y="2518080"/>
            <a:ext cx="1699799" cy="33770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552741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46BE8C-40E1-4C83-A6DB-4AAE030E1E79}"/>
              </a:ext>
            </a:extLst>
          </p:cNvPr>
          <p:cNvSpPr>
            <a:spLocks noGrp="1"/>
          </p:cNvSpPr>
          <p:nvPr>
            <p:ph type="title"/>
          </p:nvPr>
        </p:nvSpPr>
        <p:spPr/>
        <p:txBody>
          <a:bodyPr/>
          <a:lstStyle/>
          <a:p>
            <a:r>
              <a:rPr lang="en-US" dirty="0"/>
              <a:t>WILL IT SINK OR FLOAT?</a:t>
            </a:r>
          </a:p>
        </p:txBody>
      </p:sp>
      <p:sp>
        <p:nvSpPr>
          <p:cNvPr id="3" name="Content Placeholder 2">
            <a:extLst>
              <a:ext uri="{FF2B5EF4-FFF2-40B4-BE49-F238E27FC236}">
                <a16:creationId xmlns:a16="http://schemas.microsoft.com/office/drawing/2014/main" id="{2CC155E1-A63C-4317-8663-DB74708AD417}"/>
              </a:ext>
            </a:extLst>
          </p:cNvPr>
          <p:cNvSpPr>
            <a:spLocks noGrp="1"/>
          </p:cNvSpPr>
          <p:nvPr>
            <p:ph idx="1"/>
          </p:nvPr>
        </p:nvSpPr>
        <p:spPr/>
        <p:txBody>
          <a:bodyPr>
            <a:normAutofit/>
          </a:bodyPr>
          <a:lstStyle/>
          <a:p>
            <a:r>
              <a:rPr lang="en-US" sz="4400" dirty="0"/>
              <a:t>Popsicle Stick 					S/F</a:t>
            </a:r>
          </a:p>
          <a:p>
            <a:r>
              <a:rPr lang="en-US" sz="4400" dirty="0"/>
              <a:t>Metal Penny 					S/F</a:t>
            </a:r>
          </a:p>
          <a:p>
            <a:r>
              <a:rPr lang="en-US" sz="4400" dirty="0"/>
              <a:t>Plastic Spoon 					S/F</a:t>
            </a:r>
          </a:p>
          <a:p>
            <a:r>
              <a:rPr lang="en-US" sz="4400" dirty="0"/>
              <a:t>Metal Spoon 					S/F</a:t>
            </a:r>
          </a:p>
        </p:txBody>
      </p:sp>
    </p:spTree>
    <p:extLst>
      <p:ext uri="{BB962C8B-B14F-4D97-AF65-F5344CB8AC3E}">
        <p14:creationId xmlns:p14="http://schemas.microsoft.com/office/powerpoint/2010/main" val="34084031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C4D665-0C09-4906-92E4-EF74D168C9C5}"/>
              </a:ext>
            </a:extLst>
          </p:cNvPr>
          <p:cNvSpPr>
            <a:spLocks noGrp="1"/>
          </p:cNvSpPr>
          <p:nvPr>
            <p:ph type="title"/>
          </p:nvPr>
        </p:nvSpPr>
        <p:spPr/>
        <p:txBody>
          <a:bodyPr/>
          <a:lstStyle/>
          <a:p>
            <a:r>
              <a:rPr lang="en-US" dirty="0"/>
              <a:t>LAYERING LIQUIDS LAB</a:t>
            </a:r>
          </a:p>
        </p:txBody>
      </p:sp>
      <p:sp>
        <p:nvSpPr>
          <p:cNvPr id="3" name="Content Placeholder 2">
            <a:extLst>
              <a:ext uri="{FF2B5EF4-FFF2-40B4-BE49-F238E27FC236}">
                <a16:creationId xmlns:a16="http://schemas.microsoft.com/office/drawing/2014/main" id="{840C26D6-5C0D-4FDA-8CE7-4080F0BB5DDD}"/>
              </a:ext>
            </a:extLst>
          </p:cNvPr>
          <p:cNvSpPr>
            <a:spLocks noGrp="1"/>
          </p:cNvSpPr>
          <p:nvPr>
            <p:ph idx="1"/>
          </p:nvPr>
        </p:nvSpPr>
        <p:spPr/>
        <p:txBody>
          <a:bodyPr/>
          <a:lstStyle/>
          <a:p>
            <a:r>
              <a:rPr lang="en-US" dirty="0"/>
              <a:t>Honey, corn syrup. Dish soap, water, vegetable oil, rubbing alcohol, </a:t>
            </a:r>
          </a:p>
          <a:p>
            <a:endParaRPr lang="en-US" dirty="0"/>
          </a:p>
          <a:p>
            <a:endParaRPr lang="en-US" dirty="0"/>
          </a:p>
        </p:txBody>
      </p:sp>
      <p:pic>
        <p:nvPicPr>
          <p:cNvPr id="1026" name="Picture 2" descr="Seven-Layer Density Column | Science Experiment">
            <a:extLst>
              <a:ext uri="{FF2B5EF4-FFF2-40B4-BE49-F238E27FC236}">
                <a16:creationId xmlns:a16="http://schemas.microsoft.com/office/drawing/2014/main" id="{96E9E01D-F08B-4AB0-88D3-DAEFE126D6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1350" y="2847010"/>
            <a:ext cx="8592708" cy="35802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767300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45A410-5255-4B12-BC71-482EC44B177D}"/>
              </a:ext>
            </a:extLst>
          </p:cNvPr>
          <p:cNvSpPr>
            <a:spLocks noGrp="1"/>
          </p:cNvSpPr>
          <p:nvPr>
            <p:ph type="ctrTitle"/>
          </p:nvPr>
        </p:nvSpPr>
        <p:spPr/>
        <p:txBody>
          <a:bodyPr>
            <a:normAutofit/>
          </a:bodyPr>
          <a:lstStyle/>
          <a:p>
            <a:r>
              <a:rPr lang="en-US" dirty="0"/>
              <a:t>Day 7: MIXTURES AND SOLUTIONS</a:t>
            </a:r>
          </a:p>
        </p:txBody>
      </p:sp>
    </p:spTree>
    <p:extLst>
      <p:ext uri="{BB962C8B-B14F-4D97-AF65-F5344CB8AC3E}">
        <p14:creationId xmlns:p14="http://schemas.microsoft.com/office/powerpoint/2010/main" val="12426592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B228CF-D0D9-4E5A-8509-902E78F128F3}"/>
              </a:ext>
            </a:extLst>
          </p:cNvPr>
          <p:cNvSpPr>
            <a:spLocks noGrp="1"/>
          </p:cNvSpPr>
          <p:nvPr>
            <p:ph type="title"/>
          </p:nvPr>
        </p:nvSpPr>
        <p:spPr/>
        <p:txBody>
          <a:bodyPr/>
          <a:lstStyle/>
          <a:p>
            <a:r>
              <a:rPr lang="en-US" dirty="0"/>
              <a:t>WHAT ARE THEY?</a:t>
            </a:r>
          </a:p>
        </p:txBody>
      </p:sp>
      <p:sp>
        <p:nvSpPr>
          <p:cNvPr id="3" name="Content Placeholder 2">
            <a:extLst>
              <a:ext uri="{FF2B5EF4-FFF2-40B4-BE49-F238E27FC236}">
                <a16:creationId xmlns:a16="http://schemas.microsoft.com/office/drawing/2014/main" id="{D659ED2C-3BDE-432D-A754-3D59C10E3100}"/>
              </a:ext>
            </a:extLst>
          </p:cNvPr>
          <p:cNvSpPr>
            <a:spLocks noGrp="1"/>
          </p:cNvSpPr>
          <p:nvPr>
            <p:ph idx="1"/>
          </p:nvPr>
        </p:nvSpPr>
        <p:spPr/>
        <p:txBody>
          <a:bodyPr>
            <a:normAutofit/>
          </a:bodyPr>
          <a:lstStyle/>
          <a:p>
            <a:r>
              <a:rPr lang="en-US" sz="2400" dirty="0"/>
              <a:t>Mixture: When two or more kinds of matter are put together.</a:t>
            </a:r>
          </a:p>
          <a:p>
            <a:pPr marL="0" indent="0">
              <a:buNone/>
            </a:pPr>
            <a:r>
              <a:rPr lang="en-US" sz="2400" dirty="0"/>
              <a:t>○ Mixtures can be made with solids, liquids or gases. Any combination of two or more substances will result in a mixture.</a:t>
            </a:r>
          </a:p>
          <a:p>
            <a:endParaRPr lang="en-US" sz="2400" dirty="0"/>
          </a:p>
          <a:p>
            <a:r>
              <a:rPr lang="en-US" sz="2400" dirty="0"/>
              <a:t>Solution: A mixture where the substances are spread out evenly and can no longer be told apart with the physical eye, also called homogeneous</a:t>
            </a:r>
          </a:p>
          <a:p>
            <a:pPr marL="0" indent="0">
              <a:buNone/>
            </a:pPr>
            <a:r>
              <a:rPr lang="en-US" sz="2400" dirty="0"/>
              <a:t>○ Example: When a solid is dissolved in a liquid, we call the liquid a solvent and the solid is called the solute.</a:t>
            </a:r>
          </a:p>
          <a:p>
            <a:r>
              <a:rPr lang="en-US" sz="2400" dirty="0">
                <a:hlinkClick r:id="rId2"/>
              </a:rPr>
              <a:t>Video</a:t>
            </a:r>
            <a:endParaRPr lang="en-US" sz="2400" dirty="0"/>
          </a:p>
        </p:txBody>
      </p:sp>
    </p:spTree>
    <p:extLst>
      <p:ext uri="{BB962C8B-B14F-4D97-AF65-F5344CB8AC3E}">
        <p14:creationId xmlns:p14="http://schemas.microsoft.com/office/powerpoint/2010/main" val="41909611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CAE290-9627-4B5B-9028-A6057763EA48}"/>
              </a:ext>
            </a:extLst>
          </p:cNvPr>
          <p:cNvSpPr>
            <a:spLocks noGrp="1"/>
          </p:cNvSpPr>
          <p:nvPr>
            <p:ph type="title"/>
          </p:nvPr>
        </p:nvSpPr>
        <p:spPr/>
        <p:txBody>
          <a:bodyPr/>
          <a:lstStyle/>
          <a:p>
            <a:r>
              <a:rPr lang="en-US" dirty="0"/>
              <a:t>Can you separate it?</a:t>
            </a:r>
          </a:p>
        </p:txBody>
      </p:sp>
      <p:sp>
        <p:nvSpPr>
          <p:cNvPr id="3" name="Content Placeholder 2">
            <a:extLst>
              <a:ext uri="{FF2B5EF4-FFF2-40B4-BE49-F238E27FC236}">
                <a16:creationId xmlns:a16="http://schemas.microsoft.com/office/drawing/2014/main" id="{B598D935-AF34-4253-AAEE-A5E6202624D0}"/>
              </a:ext>
            </a:extLst>
          </p:cNvPr>
          <p:cNvSpPr>
            <a:spLocks noGrp="1"/>
          </p:cNvSpPr>
          <p:nvPr>
            <p:ph idx="1"/>
          </p:nvPr>
        </p:nvSpPr>
        <p:spPr/>
        <p:txBody>
          <a:bodyPr/>
          <a:lstStyle/>
          <a:p>
            <a:r>
              <a:rPr lang="en-US" dirty="0"/>
              <a:t>Can you separate out the parts of a mixture or solution?</a:t>
            </a:r>
          </a:p>
          <a:p>
            <a:pPr marL="0" indent="0">
              <a:buNone/>
            </a:pPr>
            <a:r>
              <a:rPr lang="en-US" dirty="0"/>
              <a:t>	○ You can do this by filtering, actually pick out and separate, or you 	can even change the phase of matter (liquid, solid, gas)</a:t>
            </a:r>
          </a:p>
          <a:p>
            <a:pPr marL="0" indent="0">
              <a:buNone/>
            </a:pPr>
            <a:endParaRPr lang="en-US" dirty="0"/>
          </a:p>
          <a:p>
            <a:pPr marL="0" indent="0">
              <a:buNone/>
            </a:pPr>
            <a:r>
              <a:rPr lang="en-US" dirty="0"/>
              <a:t>	○ Example: picking out and separating the different fruits in a fruit salad 	or evaporating water from a saltwater solution.</a:t>
            </a:r>
          </a:p>
        </p:txBody>
      </p:sp>
    </p:spTree>
    <p:extLst>
      <p:ext uri="{BB962C8B-B14F-4D97-AF65-F5344CB8AC3E}">
        <p14:creationId xmlns:p14="http://schemas.microsoft.com/office/powerpoint/2010/main" val="22782510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15C58-F67E-4BBB-ADB6-E316E4B7CACA}"/>
              </a:ext>
            </a:extLst>
          </p:cNvPr>
          <p:cNvSpPr>
            <a:spLocks noGrp="1"/>
          </p:cNvSpPr>
          <p:nvPr>
            <p:ph type="title"/>
          </p:nvPr>
        </p:nvSpPr>
        <p:spPr/>
        <p:txBody>
          <a:bodyPr/>
          <a:lstStyle/>
          <a:p>
            <a:r>
              <a:rPr lang="en-US" dirty="0"/>
              <a:t>IS THIS A MIXTURE OR A SOLUTION?</a:t>
            </a:r>
          </a:p>
        </p:txBody>
      </p:sp>
      <p:sp>
        <p:nvSpPr>
          <p:cNvPr id="3" name="Content Placeholder 2">
            <a:extLst>
              <a:ext uri="{FF2B5EF4-FFF2-40B4-BE49-F238E27FC236}">
                <a16:creationId xmlns:a16="http://schemas.microsoft.com/office/drawing/2014/main" id="{E5A6EDA9-BE5D-4408-976E-94DD5F949FE9}"/>
              </a:ext>
            </a:extLst>
          </p:cNvPr>
          <p:cNvSpPr>
            <a:spLocks noGrp="1"/>
          </p:cNvSpPr>
          <p:nvPr>
            <p:ph idx="1"/>
          </p:nvPr>
        </p:nvSpPr>
        <p:spPr/>
        <p:txBody>
          <a:bodyPr/>
          <a:lstStyle/>
          <a:p>
            <a:r>
              <a:rPr lang="en-US" dirty="0"/>
              <a:t>SALT AND WATER						SOLUTION/MIXTURE</a:t>
            </a:r>
          </a:p>
          <a:p>
            <a:r>
              <a:rPr lang="en-US" dirty="0"/>
              <a:t>OIL AND WATER						SOLUTION/MIXTURE</a:t>
            </a:r>
          </a:p>
          <a:p>
            <a:r>
              <a:rPr lang="en-US" dirty="0"/>
              <a:t>TRAIL MIX							SOLUTION/MIXTURE</a:t>
            </a:r>
          </a:p>
          <a:p>
            <a:r>
              <a:rPr lang="en-US" dirty="0"/>
              <a:t>MIXED CEREALS						SOLUTION/MIXTURE</a:t>
            </a:r>
          </a:p>
          <a:p>
            <a:endParaRPr lang="en-US" dirty="0"/>
          </a:p>
          <a:p>
            <a:endParaRPr lang="en-US" dirty="0"/>
          </a:p>
        </p:txBody>
      </p:sp>
    </p:spTree>
    <p:extLst>
      <p:ext uri="{BB962C8B-B14F-4D97-AF65-F5344CB8AC3E}">
        <p14:creationId xmlns:p14="http://schemas.microsoft.com/office/powerpoint/2010/main" val="42838940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BCDA2-C5AB-4B63-B05D-0D38FE0B8788}"/>
              </a:ext>
            </a:extLst>
          </p:cNvPr>
          <p:cNvSpPr>
            <a:spLocks noGrp="1"/>
          </p:cNvSpPr>
          <p:nvPr>
            <p:ph type="title"/>
          </p:nvPr>
        </p:nvSpPr>
        <p:spPr/>
        <p:txBody>
          <a:bodyPr/>
          <a:lstStyle/>
          <a:p>
            <a:r>
              <a:rPr lang="en-US" dirty="0"/>
              <a:t>LAB - MESSING WITH MIXTURES</a:t>
            </a:r>
          </a:p>
        </p:txBody>
      </p:sp>
      <p:pic>
        <p:nvPicPr>
          <p:cNvPr id="9" name="Picture 8" descr="A picture containing cake, chocolate, piece, slice&#10;&#10;Description automatically generated">
            <a:extLst>
              <a:ext uri="{FF2B5EF4-FFF2-40B4-BE49-F238E27FC236}">
                <a16:creationId xmlns:a16="http://schemas.microsoft.com/office/drawing/2014/main" id="{808A47F3-D00E-4127-86EB-FC5BCFDF41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09335" y="1845366"/>
            <a:ext cx="2380310" cy="1583634"/>
          </a:xfrm>
          <a:prstGeom prst="rect">
            <a:avLst/>
          </a:prstGeom>
        </p:spPr>
      </p:pic>
      <p:pic>
        <p:nvPicPr>
          <p:cNvPr id="11" name="Picture 10" descr="A picture containing person, piece, slice&#10;&#10;Description automatically generated">
            <a:extLst>
              <a:ext uri="{FF2B5EF4-FFF2-40B4-BE49-F238E27FC236}">
                <a16:creationId xmlns:a16="http://schemas.microsoft.com/office/drawing/2014/main" id="{2C670F4A-0D50-4773-B682-9018EDFF41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25794" y="3560746"/>
            <a:ext cx="2227394" cy="1481898"/>
          </a:xfrm>
          <a:prstGeom prst="rect">
            <a:avLst/>
          </a:prstGeom>
        </p:spPr>
      </p:pic>
      <p:pic>
        <p:nvPicPr>
          <p:cNvPr id="13" name="Picture 12" descr="A picture containing chocolate, piece, slice, eaten&#10;&#10;Description automatically generated">
            <a:extLst>
              <a:ext uri="{FF2B5EF4-FFF2-40B4-BE49-F238E27FC236}">
                <a16:creationId xmlns:a16="http://schemas.microsoft.com/office/drawing/2014/main" id="{6AFD3DBD-22BA-4A88-AD89-45D073206A1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639491" y="5191711"/>
            <a:ext cx="2150724" cy="1430890"/>
          </a:xfrm>
          <a:prstGeom prst="rect">
            <a:avLst/>
          </a:prstGeom>
        </p:spPr>
      </p:pic>
      <p:sp>
        <p:nvSpPr>
          <p:cNvPr id="3" name="TextBox 2">
            <a:extLst>
              <a:ext uri="{FF2B5EF4-FFF2-40B4-BE49-F238E27FC236}">
                <a16:creationId xmlns:a16="http://schemas.microsoft.com/office/drawing/2014/main" id="{7F4DC366-DCCE-41BE-A158-05F8060A14AE}"/>
              </a:ext>
            </a:extLst>
          </p:cNvPr>
          <p:cNvSpPr txBox="1"/>
          <p:nvPr/>
        </p:nvSpPr>
        <p:spPr>
          <a:xfrm>
            <a:off x="685800" y="2057401"/>
            <a:ext cx="6467061" cy="3970318"/>
          </a:xfrm>
          <a:prstGeom prst="rect">
            <a:avLst/>
          </a:prstGeom>
          <a:noFill/>
        </p:spPr>
        <p:txBody>
          <a:bodyPr wrap="square" rtlCol="0">
            <a:spAutoFit/>
          </a:bodyPr>
          <a:lstStyle/>
          <a:p>
            <a:pPr marL="285750" indent="-285750">
              <a:buFont typeface="Arial" panose="020B0604020202020204" pitchFamily="34" charset="0"/>
              <a:buChar char="•"/>
            </a:pPr>
            <a:r>
              <a:rPr lang="en-US" dirty="0"/>
              <a:t>Have you ever wondered where metals such as iron, copper or nickel come from? </a:t>
            </a:r>
          </a:p>
          <a:p>
            <a:pPr marL="285750" indent="-285750">
              <a:buFont typeface="Arial" panose="020B0604020202020204" pitchFamily="34" charset="0"/>
              <a:buChar char="•"/>
            </a:pPr>
            <a:r>
              <a:rPr lang="en-US" dirty="0"/>
              <a:t>Turns out a lot of metals can simply be found in soil.</a:t>
            </a:r>
          </a:p>
          <a:p>
            <a:pPr marL="285750" indent="-285750">
              <a:buFont typeface="Arial" panose="020B0604020202020204" pitchFamily="34" charset="0"/>
              <a:buChar char="•"/>
            </a:pPr>
            <a:endParaRPr lang="en-US" dirty="0"/>
          </a:p>
          <a:p>
            <a:r>
              <a:rPr lang="en-US" b="1" dirty="0"/>
              <a:t>Steps:</a:t>
            </a:r>
          </a:p>
          <a:p>
            <a:pPr marL="342900" indent="-342900">
              <a:buFont typeface="+mj-lt"/>
              <a:buAutoNum type="arabicPeriod"/>
            </a:pPr>
            <a:r>
              <a:rPr lang="en-US" dirty="0"/>
              <a:t>Put soil on a paper plate.</a:t>
            </a:r>
          </a:p>
          <a:p>
            <a:pPr marL="342900" indent="-342900">
              <a:buFont typeface="+mj-lt"/>
              <a:buAutoNum type="arabicPeriod"/>
            </a:pPr>
            <a:r>
              <a:rPr lang="en-US" dirty="0"/>
              <a:t>Place the magnet underneath the soil and the paper plate</a:t>
            </a:r>
          </a:p>
          <a:p>
            <a:pPr marL="342900" indent="-342900">
              <a:buFont typeface="+mj-lt"/>
              <a:buAutoNum type="arabicPeriod"/>
            </a:pPr>
            <a:r>
              <a:rPr lang="en-US" dirty="0"/>
              <a:t>Move the magnet around and see what happens</a:t>
            </a:r>
          </a:p>
          <a:p>
            <a:pPr marL="342900" indent="-342900">
              <a:buFont typeface="+mj-lt"/>
              <a:buAutoNum type="arabicPeriod"/>
            </a:pPr>
            <a:endParaRPr lang="en-US" dirty="0"/>
          </a:p>
          <a:p>
            <a:pPr marL="342900" indent="-342900">
              <a:buFont typeface="+mj-lt"/>
              <a:buAutoNum type="arabicPeriod"/>
            </a:pPr>
            <a:r>
              <a:rPr lang="en-US" dirty="0"/>
              <a:t>As you move the magnet around, some of the soil will move with it. If there is enough magnetic soil, you can see the pieces align with the magnetic field of the magnet.</a:t>
            </a:r>
          </a:p>
        </p:txBody>
      </p:sp>
    </p:spTree>
    <p:extLst>
      <p:ext uri="{BB962C8B-B14F-4D97-AF65-F5344CB8AC3E}">
        <p14:creationId xmlns:p14="http://schemas.microsoft.com/office/powerpoint/2010/main" val="31869900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4A8ACA-A3A3-496C-928D-E2B09B1E3748}"/>
              </a:ext>
            </a:extLst>
          </p:cNvPr>
          <p:cNvSpPr>
            <a:spLocks noGrp="1"/>
          </p:cNvSpPr>
          <p:nvPr>
            <p:ph type="title"/>
          </p:nvPr>
        </p:nvSpPr>
        <p:spPr/>
        <p:txBody>
          <a:bodyPr/>
          <a:lstStyle/>
          <a:p>
            <a:r>
              <a:rPr lang="en-US" dirty="0"/>
              <a:t>RECAP</a:t>
            </a:r>
          </a:p>
        </p:txBody>
      </p:sp>
      <p:sp>
        <p:nvSpPr>
          <p:cNvPr id="3" name="Content Placeholder 2">
            <a:extLst>
              <a:ext uri="{FF2B5EF4-FFF2-40B4-BE49-F238E27FC236}">
                <a16:creationId xmlns:a16="http://schemas.microsoft.com/office/drawing/2014/main" id="{72820E32-5239-4B1B-9B69-846BB21D8AB2}"/>
              </a:ext>
            </a:extLst>
          </p:cNvPr>
          <p:cNvSpPr>
            <a:spLocks noGrp="1"/>
          </p:cNvSpPr>
          <p:nvPr>
            <p:ph idx="1"/>
          </p:nvPr>
        </p:nvSpPr>
        <p:spPr/>
        <p:txBody>
          <a:bodyPr/>
          <a:lstStyle/>
          <a:p>
            <a:r>
              <a:rPr lang="en-US" dirty="0"/>
              <a:t>Today we learned the difference between a mixture and a solution</a:t>
            </a:r>
          </a:p>
          <a:p>
            <a:r>
              <a:rPr lang="en-US" dirty="0"/>
              <a:t>We learned different ways we can separate a mixture or a solution</a:t>
            </a:r>
          </a:p>
        </p:txBody>
      </p:sp>
      <p:pic>
        <p:nvPicPr>
          <p:cNvPr id="5" name="Picture 4">
            <a:extLst>
              <a:ext uri="{FF2B5EF4-FFF2-40B4-BE49-F238E27FC236}">
                <a16:creationId xmlns:a16="http://schemas.microsoft.com/office/drawing/2014/main" id="{9C061D0B-F10B-470F-9C1C-B7DBC4A70F16}"/>
              </a:ext>
            </a:extLst>
          </p:cNvPr>
          <p:cNvPicPr>
            <a:picLocks noChangeAspect="1"/>
          </p:cNvPicPr>
          <p:nvPr/>
        </p:nvPicPr>
        <p:blipFill>
          <a:blip r:embed="rId2"/>
          <a:stretch>
            <a:fillRect/>
          </a:stretch>
        </p:blipFill>
        <p:spPr>
          <a:xfrm>
            <a:off x="4171201" y="3210507"/>
            <a:ext cx="3849597" cy="2883120"/>
          </a:xfrm>
          <a:prstGeom prst="rect">
            <a:avLst/>
          </a:prstGeom>
        </p:spPr>
      </p:pic>
    </p:spTree>
    <p:extLst>
      <p:ext uri="{BB962C8B-B14F-4D97-AF65-F5344CB8AC3E}">
        <p14:creationId xmlns:p14="http://schemas.microsoft.com/office/powerpoint/2010/main" val="13322887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45A410-5255-4B12-BC71-482EC44B177D}"/>
              </a:ext>
            </a:extLst>
          </p:cNvPr>
          <p:cNvSpPr>
            <a:spLocks noGrp="1"/>
          </p:cNvSpPr>
          <p:nvPr>
            <p:ph type="ctrTitle"/>
          </p:nvPr>
        </p:nvSpPr>
        <p:spPr/>
        <p:txBody>
          <a:bodyPr>
            <a:normAutofit/>
          </a:bodyPr>
          <a:lstStyle/>
          <a:p>
            <a:r>
              <a:rPr lang="en-US" dirty="0"/>
              <a:t>Day 8: ACIDS and BASES</a:t>
            </a:r>
          </a:p>
        </p:txBody>
      </p:sp>
    </p:spTree>
    <p:extLst>
      <p:ext uri="{BB962C8B-B14F-4D97-AF65-F5344CB8AC3E}">
        <p14:creationId xmlns:p14="http://schemas.microsoft.com/office/powerpoint/2010/main" val="33207031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1D62FC-94F8-4AB4-A3A4-802A787B072C}"/>
              </a:ext>
            </a:extLst>
          </p:cNvPr>
          <p:cNvSpPr>
            <a:spLocks noGrp="1"/>
          </p:cNvSpPr>
          <p:nvPr>
            <p:ph type="title"/>
          </p:nvPr>
        </p:nvSpPr>
        <p:spPr/>
        <p:txBody>
          <a:bodyPr/>
          <a:lstStyle/>
          <a:p>
            <a:r>
              <a:rPr lang="en-US" dirty="0"/>
              <a:t>What is an Acid, what is a BASE</a:t>
            </a:r>
          </a:p>
        </p:txBody>
      </p:sp>
      <p:sp>
        <p:nvSpPr>
          <p:cNvPr id="3" name="Content Placeholder 2">
            <a:extLst>
              <a:ext uri="{FF2B5EF4-FFF2-40B4-BE49-F238E27FC236}">
                <a16:creationId xmlns:a16="http://schemas.microsoft.com/office/drawing/2014/main" id="{624148F0-8C40-4814-BB20-A126FC1B4F9B}"/>
              </a:ext>
            </a:extLst>
          </p:cNvPr>
          <p:cNvSpPr>
            <a:spLocks noGrp="1"/>
          </p:cNvSpPr>
          <p:nvPr>
            <p:ph idx="1"/>
          </p:nvPr>
        </p:nvSpPr>
        <p:spPr/>
        <p:txBody>
          <a:bodyPr>
            <a:normAutofit/>
          </a:bodyPr>
          <a:lstStyle/>
          <a:p>
            <a:r>
              <a:rPr lang="en-US" dirty="0"/>
              <a:t>Acid: An acid is a substance that has a lot hydrogen ions (H+)</a:t>
            </a:r>
          </a:p>
          <a:p>
            <a:pPr lvl="1"/>
            <a:r>
              <a:rPr lang="en-US" dirty="0"/>
              <a:t>acidic solution donates hydrogen ions (or accepts electron pairs).</a:t>
            </a:r>
          </a:p>
          <a:p>
            <a:endParaRPr lang="en-US" dirty="0"/>
          </a:p>
          <a:p>
            <a:r>
              <a:rPr lang="en-US" dirty="0"/>
              <a:t>Base: A base is a substance that has a lot of hydroxide ions (OH-)</a:t>
            </a:r>
          </a:p>
          <a:p>
            <a:pPr lvl="1"/>
            <a:r>
              <a:rPr lang="en-US" dirty="0"/>
              <a:t>A basic solution accepts hydrogen ions (or donates electron pairs as hydroxide ions)</a:t>
            </a:r>
          </a:p>
        </p:txBody>
      </p:sp>
      <p:pic>
        <p:nvPicPr>
          <p:cNvPr id="5" name="Picture 4">
            <a:extLst>
              <a:ext uri="{FF2B5EF4-FFF2-40B4-BE49-F238E27FC236}">
                <a16:creationId xmlns:a16="http://schemas.microsoft.com/office/drawing/2014/main" id="{2AE7940D-D858-4607-93D1-B5DBB576A481}"/>
              </a:ext>
            </a:extLst>
          </p:cNvPr>
          <p:cNvPicPr>
            <a:picLocks noChangeAspect="1"/>
          </p:cNvPicPr>
          <p:nvPr/>
        </p:nvPicPr>
        <p:blipFill>
          <a:blip r:embed="rId2"/>
          <a:stretch>
            <a:fillRect/>
          </a:stretch>
        </p:blipFill>
        <p:spPr>
          <a:xfrm>
            <a:off x="1732721" y="4638905"/>
            <a:ext cx="3524874" cy="1973929"/>
          </a:xfrm>
          <a:prstGeom prst="rect">
            <a:avLst/>
          </a:prstGeom>
        </p:spPr>
      </p:pic>
      <p:pic>
        <p:nvPicPr>
          <p:cNvPr id="9" name="Picture 8">
            <a:extLst>
              <a:ext uri="{FF2B5EF4-FFF2-40B4-BE49-F238E27FC236}">
                <a16:creationId xmlns:a16="http://schemas.microsoft.com/office/drawing/2014/main" id="{CC4F62FE-673A-41CB-BBAD-9CB2EB90A108}"/>
              </a:ext>
            </a:extLst>
          </p:cNvPr>
          <p:cNvPicPr>
            <a:picLocks noChangeAspect="1"/>
          </p:cNvPicPr>
          <p:nvPr/>
        </p:nvPicPr>
        <p:blipFill>
          <a:blip r:embed="rId3"/>
          <a:stretch>
            <a:fillRect/>
          </a:stretch>
        </p:blipFill>
        <p:spPr>
          <a:xfrm>
            <a:off x="8454887" y="4136082"/>
            <a:ext cx="3510381" cy="2721917"/>
          </a:xfrm>
          <a:prstGeom prst="rect">
            <a:avLst/>
          </a:prstGeom>
        </p:spPr>
      </p:pic>
    </p:spTree>
    <p:extLst>
      <p:ext uri="{BB962C8B-B14F-4D97-AF65-F5344CB8AC3E}">
        <p14:creationId xmlns:p14="http://schemas.microsoft.com/office/powerpoint/2010/main" val="20482936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2D7FB3-0E80-4D91-9D26-7FCAB5507B36}"/>
              </a:ext>
            </a:extLst>
          </p:cNvPr>
          <p:cNvSpPr>
            <a:spLocks noGrp="1"/>
          </p:cNvSpPr>
          <p:nvPr>
            <p:ph type="title"/>
          </p:nvPr>
        </p:nvSpPr>
        <p:spPr/>
        <p:txBody>
          <a:bodyPr/>
          <a:lstStyle/>
          <a:p>
            <a:r>
              <a:rPr lang="en-US" dirty="0"/>
              <a:t>WHAT IS </a:t>
            </a:r>
            <a:r>
              <a:rPr lang="en-US" dirty="0" err="1"/>
              <a:t>ph</a:t>
            </a:r>
            <a:r>
              <a:rPr lang="en-US" dirty="0"/>
              <a:t>?</a:t>
            </a:r>
          </a:p>
        </p:txBody>
      </p:sp>
      <p:sp>
        <p:nvSpPr>
          <p:cNvPr id="3" name="Content Placeholder 2">
            <a:extLst>
              <a:ext uri="{FF2B5EF4-FFF2-40B4-BE49-F238E27FC236}">
                <a16:creationId xmlns:a16="http://schemas.microsoft.com/office/drawing/2014/main" id="{D7803D08-91AB-4B0F-8133-581C37C3EC0C}"/>
              </a:ext>
            </a:extLst>
          </p:cNvPr>
          <p:cNvSpPr>
            <a:spLocks noGrp="1"/>
          </p:cNvSpPr>
          <p:nvPr>
            <p:ph idx="1"/>
          </p:nvPr>
        </p:nvSpPr>
        <p:spPr/>
        <p:txBody>
          <a:bodyPr/>
          <a:lstStyle/>
          <a:p>
            <a:pPr marL="0" indent="0">
              <a:buNone/>
            </a:pPr>
            <a:endParaRPr lang="en-US" dirty="0"/>
          </a:p>
          <a:p>
            <a:r>
              <a:rPr lang="en-US" dirty="0"/>
              <a:t>pH: Think of the pH scale as a ruler that we can use to measure how acidic or basic something is.</a:t>
            </a:r>
          </a:p>
          <a:p>
            <a:r>
              <a:rPr lang="en-US" dirty="0"/>
              <a:t>To tell if something is an acid or a base, you can use a chemical called an indicator.</a:t>
            </a:r>
          </a:p>
          <a:p>
            <a:pPr lvl="1"/>
            <a:r>
              <a:rPr lang="en-US" dirty="0"/>
              <a:t>An indicator changes color when it encounters an acid or base.</a:t>
            </a:r>
          </a:p>
          <a:p>
            <a:endParaRPr lang="en-US" dirty="0"/>
          </a:p>
          <a:p>
            <a:r>
              <a:rPr lang="en-US" dirty="0">
                <a:hlinkClick r:id="rId2"/>
              </a:rPr>
              <a:t>video</a:t>
            </a:r>
            <a:endParaRPr lang="en-US" dirty="0"/>
          </a:p>
        </p:txBody>
      </p:sp>
    </p:spTree>
    <p:extLst>
      <p:ext uri="{BB962C8B-B14F-4D97-AF65-F5344CB8AC3E}">
        <p14:creationId xmlns:p14="http://schemas.microsoft.com/office/powerpoint/2010/main" val="30090971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038836-BB09-4AA3-96EA-66581DBD6544}"/>
              </a:ext>
            </a:extLst>
          </p:cNvPr>
          <p:cNvSpPr>
            <a:spLocks noGrp="1"/>
          </p:cNvSpPr>
          <p:nvPr>
            <p:ph type="title"/>
          </p:nvPr>
        </p:nvSpPr>
        <p:spPr/>
        <p:txBody>
          <a:bodyPr/>
          <a:lstStyle/>
          <a:p>
            <a:r>
              <a:rPr lang="en-US" dirty="0"/>
              <a:t>LAB TIME: ACID, BASE, and COLOR CHANGE</a:t>
            </a:r>
          </a:p>
        </p:txBody>
      </p:sp>
      <p:sp>
        <p:nvSpPr>
          <p:cNvPr id="3" name="Content Placeholder 2">
            <a:extLst>
              <a:ext uri="{FF2B5EF4-FFF2-40B4-BE49-F238E27FC236}">
                <a16:creationId xmlns:a16="http://schemas.microsoft.com/office/drawing/2014/main" id="{8105D778-9786-41B8-A685-42D9E76C26E2}"/>
              </a:ext>
            </a:extLst>
          </p:cNvPr>
          <p:cNvSpPr>
            <a:spLocks noGrp="1"/>
          </p:cNvSpPr>
          <p:nvPr>
            <p:ph idx="1"/>
          </p:nvPr>
        </p:nvSpPr>
        <p:spPr/>
        <p:txBody>
          <a:bodyPr/>
          <a:lstStyle/>
          <a:p>
            <a:r>
              <a:rPr lang="en-US" dirty="0"/>
              <a:t>Using a red cabbage indicator solution, students will indicate which solutions are acidic and basic</a:t>
            </a:r>
          </a:p>
        </p:txBody>
      </p:sp>
      <p:pic>
        <p:nvPicPr>
          <p:cNvPr id="5" name="Picture 4">
            <a:extLst>
              <a:ext uri="{FF2B5EF4-FFF2-40B4-BE49-F238E27FC236}">
                <a16:creationId xmlns:a16="http://schemas.microsoft.com/office/drawing/2014/main" id="{2B5F5A48-D94C-4343-AE58-B41D7D90E198}"/>
              </a:ext>
            </a:extLst>
          </p:cNvPr>
          <p:cNvPicPr>
            <a:picLocks noChangeAspect="1"/>
          </p:cNvPicPr>
          <p:nvPr/>
        </p:nvPicPr>
        <p:blipFill>
          <a:blip r:embed="rId2"/>
          <a:stretch>
            <a:fillRect/>
          </a:stretch>
        </p:blipFill>
        <p:spPr>
          <a:xfrm>
            <a:off x="3941275" y="3429000"/>
            <a:ext cx="4309450" cy="3223034"/>
          </a:xfrm>
          <a:prstGeom prst="rect">
            <a:avLst/>
          </a:prstGeom>
        </p:spPr>
      </p:pic>
    </p:spTree>
    <p:extLst>
      <p:ext uri="{BB962C8B-B14F-4D97-AF65-F5344CB8AC3E}">
        <p14:creationId xmlns:p14="http://schemas.microsoft.com/office/powerpoint/2010/main" val="9977758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45A410-5255-4B12-BC71-482EC44B177D}"/>
              </a:ext>
            </a:extLst>
          </p:cNvPr>
          <p:cNvSpPr>
            <a:spLocks noGrp="1"/>
          </p:cNvSpPr>
          <p:nvPr>
            <p:ph type="ctrTitle"/>
          </p:nvPr>
        </p:nvSpPr>
        <p:spPr/>
        <p:txBody>
          <a:bodyPr>
            <a:normAutofit/>
          </a:bodyPr>
          <a:lstStyle/>
          <a:p>
            <a:r>
              <a:rPr lang="en-US" dirty="0"/>
              <a:t>Day 9: POTENTIAL AND KINETIC ENERGY</a:t>
            </a:r>
          </a:p>
        </p:txBody>
      </p:sp>
    </p:spTree>
    <p:extLst>
      <p:ext uri="{BB962C8B-B14F-4D97-AF65-F5344CB8AC3E}">
        <p14:creationId xmlns:p14="http://schemas.microsoft.com/office/powerpoint/2010/main" val="255800818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5DC784-DCAC-451A-8B0E-A1B75F78B825}"/>
              </a:ext>
            </a:extLst>
          </p:cNvPr>
          <p:cNvSpPr>
            <a:spLocks noGrp="1"/>
          </p:cNvSpPr>
          <p:nvPr>
            <p:ph type="title"/>
          </p:nvPr>
        </p:nvSpPr>
        <p:spPr/>
        <p:txBody>
          <a:bodyPr/>
          <a:lstStyle/>
          <a:p>
            <a:r>
              <a:rPr lang="en-US" dirty="0"/>
              <a:t>WHAT IS POTENTIAL AND KINETIC ENERGY?</a:t>
            </a:r>
          </a:p>
        </p:txBody>
      </p:sp>
      <p:sp>
        <p:nvSpPr>
          <p:cNvPr id="3" name="Content Placeholder 2">
            <a:extLst>
              <a:ext uri="{FF2B5EF4-FFF2-40B4-BE49-F238E27FC236}">
                <a16:creationId xmlns:a16="http://schemas.microsoft.com/office/drawing/2014/main" id="{C63835AA-0A2D-4DE9-BBDD-CA7DBFACD863}"/>
              </a:ext>
            </a:extLst>
          </p:cNvPr>
          <p:cNvSpPr>
            <a:spLocks noGrp="1"/>
          </p:cNvSpPr>
          <p:nvPr>
            <p:ph idx="1"/>
          </p:nvPr>
        </p:nvSpPr>
        <p:spPr/>
        <p:txBody>
          <a:bodyPr/>
          <a:lstStyle/>
          <a:p>
            <a:r>
              <a:rPr lang="en-US" dirty="0"/>
              <a:t>Potential energy is the stored energy an object has because of its position or state. A bicycle on top of a hill, a book held over your head, and a stretched spring all have potential energy.</a:t>
            </a:r>
          </a:p>
          <a:p>
            <a:endParaRPr lang="en-US" dirty="0"/>
          </a:p>
          <a:p>
            <a:r>
              <a:rPr lang="en-US" dirty="0"/>
              <a:t>Kinetic energy is the energy an object has due to its motion. As long as an object is moving at the same velocity, it will maintain the same kinetic energy. The kinetic energy of an object is calculated from the velocity and the mass of the object.</a:t>
            </a:r>
          </a:p>
        </p:txBody>
      </p:sp>
    </p:spTree>
    <p:extLst>
      <p:ext uri="{BB962C8B-B14F-4D97-AF65-F5344CB8AC3E}">
        <p14:creationId xmlns:p14="http://schemas.microsoft.com/office/powerpoint/2010/main" val="12302277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2E70E1-36DB-49B2-B7FD-22EF320795E9}"/>
              </a:ext>
            </a:extLst>
          </p:cNvPr>
          <p:cNvSpPr>
            <a:spLocks noGrp="1"/>
          </p:cNvSpPr>
          <p:nvPr>
            <p:ph type="title"/>
          </p:nvPr>
        </p:nvSpPr>
        <p:spPr/>
        <p:txBody>
          <a:bodyPr/>
          <a:lstStyle/>
          <a:p>
            <a:r>
              <a:rPr lang="en-US" dirty="0"/>
              <a:t>PAPER ROLLER COASTER</a:t>
            </a:r>
          </a:p>
        </p:txBody>
      </p:sp>
      <p:sp>
        <p:nvSpPr>
          <p:cNvPr id="3" name="Content Placeholder 2">
            <a:extLst>
              <a:ext uri="{FF2B5EF4-FFF2-40B4-BE49-F238E27FC236}">
                <a16:creationId xmlns:a16="http://schemas.microsoft.com/office/drawing/2014/main" id="{AE594C8C-DE35-46C9-B0D3-A0334845D768}"/>
              </a:ext>
            </a:extLst>
          </p:cNvPr>
          <p:cNvSpPr>
            <a:spLocks noGrp="1"/>
          </p:cNvSpPr>
          <p:nvPr>
            <p:ph idx="1"/>
          </p:nvPr>
        </p:nvSpPr>
        <p:spPr/>
        <p:txBody>
          <a:bodyPr/>
          <a:lstStyle/>
          <a:p>
            <a:pPr marL="0" indent="0">
              <a:buNone/>
            </a:pPr>
            <a:r>
              <a:rPr lang="en-US" dirty="0"/>
              <a:t>What goes up, must come down. How much energy does a roller coaster car need to make it through a loop? In this lesson, students will learn about kinetic and potential energy as they build their own roller coasters from simple classroom materials.</a:t>
            </a:r>
          </a:p>
          <a:p>
            <a:endParaRPr lang="en-US" dirty="0"/>
          </a:p>
        </p:txBody>
      </p:sp>
      <p:pic>
        <p:nvPicPr>
          <p:cNvPr id="5" name="Picture 4">
            <a:extLst>
              <a:ext uri="{FF2B5EF4-FFF2-40B4-BE49-F238E27FC236}">
                <a16:creationId xmlns:a16="http://schemas.microsoft.com/office/drawing/2014/main" id="{70365204-8B5F-4ECA-BD64-A779F666F84C}"/>
              </a:ext>
            </a:extLst>
          </p:cNvPr>
          <p:cNvPicPr>
            <a:picLocks noChangeAspect="1"/>
          </p:cNvPicPr>
          <p:nvPr/>
        </p:nvPicPr>
        <p:blipFill>
          <a:blip r:embed="rId2"/>
          <a:stretch>
            <a:fillRect/>
          </a:stretch>
        </p:blipFill>
        <p:spPr>
          <a:xfrm>
            <a:off x="627820" y="3742926"/>
            <a:ext cx="2458730" cy="1194880"/>
          </a:xfrm>
          <a:prstGeom prst="rect">
            <a:avLst/>
          </a:prstGeom>
        </p:spPr>
      </p:pic>
      <p:pic>
        <p:nvPicPr>
          <p:cNvPr id="7" name="Picture 6">
            <a:extLst>
              <a:ext uri="{FF2B5EF4-FFF2-40B4-BE49-F238E27FC236}">
                <a16:creationId xmlns:a16="http://schemas.microsoft.com/office/drawing/2014/main" id="{D6E2B352-1B45-47E2-8772-5DEEBB134126}"/>
              </a:ext>
            </a:extLst>
          </p:cNvPr>
          <p:cNvPicPr>
            <a:picLocks noChangeAspect="1"/>
          </p:cNvPicPr>
          <p:nvPr/>
        </p:nvPicPr>
        <p:blipFill>
          <a:blip r:embed="rId3"/>
          <a:stretch>
            <a:fillRect/>
          </a:stretch>
        </p:blipFill>
        <p:spPr>
          <a:xfrm>
            <a:off x="1762538" y="5172381"/>
            <a:ext cx="2570923" cy="1181185"/>
          </a:xfrm>
          <a:prstGeom prst="rect">
            <a:avLst/>
          </a:prstGeom>
        </p:spPr>
      </p:pic>
      <p:pic>
        <p:nvPicPr>
          <p:cNvPr id="9" name="Picture 8">
            <a:extLst>
              <a:ext uri="{FF2B5EF4-FFF2-40B4-BE49-F238E27FC236}">
                <a16:creationId xmlns:a16="http://schemas.microsoft.com/office/drawing/2014/main" id="{C376E7BF-BCA6-489D-80F0-520FDC7AC927}"/>
              </a:ext>
            </a:extLst>
          </p:cNvPr>
          <p:cNvPicPr>
            <a:picLocks noChangeAspect="1"/>
          </p:cNvPicPr>
          <p:nvPr/>
        </p:nvPicPr>
        <p:blipFill>
          <a:blip r:embed="rId4"/>
          <a:stretch>
            <a:fillRect/>
          </a:stretch>
        </p:blipFill>
        <p:spPr>
          <a:xfrm>
            <a:off x="4510259" y="3657417"/>
            <a:ext cx="2541464" cy="1278601"/>
          </a:xfrm>
          <a:prstGeom prst="rect">
            <a:avLst/>
          </a:prstGeom>
        </p:spPr>
      </p:pic>
      <p:pic>
        <p:nvPicPr>
          <p:cNvPr id="11" name="Picture 10">
            <a:extLst>
              <a:ext uri="{FF2B5EF4-FFF2-40B4-BE49-F238E27FC236}">
                <a16:creationId xmlns:a16="http://schemas.microsoft.com/office/drawing/2014/main" id="{94D72CB6-C026-479B-93B9-6D9901EEAFB4}"/>
              </a:ext>
            </a:extLst>
          </p:cNvPr>
          <p:cNvPicPr>
            <a:picLocks noChangeAspect="1"/>
          </p:cNvPicPr>
          <p:nvPr/>
        </p:nvPicPr>
        <p:blipFill>
          <a:blip r:embed="rId5"/>
          <a:stretch>
            <a:fillRect/>
          </a:stretch>
        </p:blipFill>
        <p:spPr>
          <a:xfrm>
            <a:off x="6533322" y="5155816"/>
            <a:ext cx="3366052" cy="1655680"/>
          </a:xfrm>
          <a:prstGeom prst="rect">
            <a:avLst/>
          </a:prstGeom>
        </p:spPr>
      </p:pic>
      <p:pic>
        <p:nvPicPr>
          <p:cNvPr id="13" name="Picture 12">
            <a:extLst>
              <a:ext uri="{FF2B5EF4-FFF2-40B4-BE49-F238E27FC236}">
                <a16:creationId xmlns:a16="http://schemas.microsoft.com/office/drawing/2014/main" id="{8A6FCFD3-BDA1-4182-AFEC-C82082808121}"/>
              </a:ext>
            </a:extLst>
          </p:cNvPr>
          <p:cNvPicPr>
            <a:picLocks noChangeAspect="1"/>
          </p:cNvPicPr>
          <p:nvPr/>
        </p:nvPicPr>
        <p:blipFill>
          <a:blip r:embed="rId6"/>
          <a:stretch>
            <a:fillRect/>
          </a:stretch>
        </p:blipFill>
        <p:spPr>
          <a:xfrm>
            <a:off x="8786277" y="3306375"/>
            <a:ext cx="2870668" cy="1616208"/>
          </a:xfrm>
          <a:prstGeom prst="rect">
            <a:avLst/>
          </a:prstGeom>
        </p:spPr>
      </p:pic>
    </p:spTree>
    <p:extLst>
      <p:ext uri="{BB962C8B-B14F-4D97-AF65-F5344CB8AC3E}">
        <p14:creationId xmlns:p14="http://schemas.microsoft.com/office/powerpoint/2010/main" val="267167693"/>
      </p:ext>
    </p:extLst>
  </p:cSld>
  <p:clrMapOvr>
    <a:masterClrMapping/>
  </p:clrMapOvr>
</p:sld>
</file>

<file path=ppt/theme/theme1.xml><?xml version="1.0" encoding="utf-8"?>
<a:theme xmlns:a="http://schemas.openxmlformats.org/drawingml/2006/main" name="Vapor Trail">
  <a:themeElements>
    <a:clrScheme name="Vapor Trail">
      <a:dk1>
        <a:sysClr val="windowText" lastClr="000000"/>
      </a:dk1>
      <a:lt1>
        <a:sysClr val="window" lastClr="FFFFFF"/>
      </a:lt1>
      <a:dk2>
        <a:srgbClr val="454545"/>
      </a:dk2>
      <a:lt2>
        <a:srgbClr val="DADADA"/>
      </a:lt2>
      <a:accent1>
        <a:srgbClr val="DF2E28"/>
      </a:accent1>
      <a:accent2>
        <a:srgbClr val="FE801A"/>
      </a:accent2>
      <a:accent3>
        <a:srgbClr val="E9BF35"/>
      </a:accent3>
      <a:accent4>
        <a:srgbClr val="81BB42"/>
      </a:accent4>
      <a:accent5>
        <a:srgbClr val="32C7A9"/>
      </a:accent5>
      <a:accent6>
        <a:srgbClr val="4A9BDC"/>
      </a:accent6>
      <a:hlink>
        <a:srgbClr val="F0532B"/>
      </a:hlink>
      <a:folHlink>
        <a:srgbClr val="F38B53"/>
      </a:folHlink>
    </a:clrScheme>
    <a:fontScheme name="Vapor Trail">
      <a:majorFont>
        <a:latin typeface="Century Gothic" panose="020B0502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apor Trail">
      <a:fillStyleLst>
        <a:solidFill>
          <a:schemeClr val="phClr"/>
        </a:solidFill>
        <a:gradFill rotWithShape="1">
          <a:gsLst>
            <a:gs pos="0">
              <a:schemeClr val="phClr">
                <a:tint val="69000"/>
                <a:alpha val="100000"/>
                <a:satMod val="109000"/>
                <a:lumMod val="110000"/>
              </a:schemeClr>
            </a:gs>
            <a:gs pos="52000">
              <a:schemeClr val="phClr">
                <a:tint val="74000"/>
                <a:satMod val="100000"/>
                <a:lumMod val="104000"/>
              </a:schemeClr>
            </a:gs>
            <a:gs pos="100000">
              <a:schemeClr val="phClr">
                <a:tint val="78000"/>
                <a:satMod val="100000"/>
                <a:lumMod val="100000"/>
              </a:schemeClr>
            </a:gs>
          </a:gsLst>
          <a:lin ang="5400000" scaled="0"/>
        </a:gradFill>
        <a:gradFill rotWithShape="1">
          <a:gsLst>
            <a:gs pos="0">
              <a:schemeClr val="phClr">
                <a:tint val="96000"/>
                <a:satMod val="100000"/>
                <a:lumMod val="104000"/>
              </a:schemeClr>
            </a:gs>
            <a:gs pos="78000">
              <a:schemeClr val="phClr">
                <a:shade val="100000"/>
                <a:satMod val="110000"/>
                <a:lumMod val="100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cene3d>
            <a:camera prst="orthographicFront">
              <a:rot lat="0" lon="0" rev="0"/>
            </a:camera>
            <a:lightRig rig="threePt" dir="t"/>
          </a:scene3d>
          <a:sp3d>
            <a:bevelT w="25400" h="12700"/>
          </a:sp3d>
        </a:effectStyle>
        <a:effectStyle>
          <a:effectLst>
            <a:outerShdw blurRad="57150" dist="19050" dir="5400000" algn="ctr" rotWithShape="0">
              <a:srgbClr val="000000">
                <a:alpha val="48000"/>
              </a:srgbClr>
            </a:outerShdw>
          </a:effectLst>
          <a:scene3d>
            <a:camera prst="orthographicFront">
              <a:rot lat="0" lon="0" rev="0"/>
            </a:camera>
            <a:lightRig rig="threePt" dir="t"/>
          </a:scene3d>
          <a:sp3d>
            <a:bevelT w="50800" h="25400"/>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por Trail" id="{4FDF2955-7D9C-493C-B9F9-C205151B46CD}" vid="{8F31A783-2159-4870-BC29-2BA7D038EA44}"/>
    </a:ext>
  </a:extLst>
</a:theme>
</file>

<file path=docProps/app.xml><?xml version="1.0" encoding="utf-8"?>
<Properties xmlns="http://schemas.openxmlformats.org/officeDocument/2006/extended-properties" xmlns:vt="http://schemas.openxmlformats.org/officeDocument/2006/docPropsVTypes">
  <Template>TM04033937[[fn=Vapor Trail]]</Template>
  <TotalTime>1973</TotalTime>
  <Words>1964</Words>
  <Application>Microsoft Office PowerPoint</Application>
  <PresentationFormat>Widescreen</PresentationFormat>
  <Paragraphs>184</Paragraphs>
  <Slides>44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Century Gothic</vt:lpstr>
      <vt:lpstr>Vapor Trail</vt:lpstr>
      <vt:lpstr>Day 1: Intro to Chemistry</vt:lpstr>
      <vt:lpstr>Who am I?</vt:lpstr>
      <vt:lpstr>What is this class all about</vt:lpstr>
      <vt:lpstr>What will this class be like?</vt:lpstr>
      <vt:lpstr>EXPECTATIONS</vt:lpstr>
      <vt:lpstr>#1 Lab safety</vt:lpstr>
      <vt:lpstr>#2 What is chemistry?</vt:lpstr>
      <vt:lpstr>#3 LAB TIME: What’s the Matter?</vt:lpstr>
      <vt:lpstr>Day 2: Chemical reactions and changes</vt:lpstr>
      <vt:lpstr>CHEMICAL CHANGES AND REACTIONS</vt:lpstr>
      <vt:lpstr>PowerPoint Presentation</vt:lpstr>
      <vt:lpstr>LABTIME: ELEPHANT TOOTHPASTE</vt:lpstr>
      <vt:lpstr>RECAP</vt:lpstr>
      <vt:lpstr>Day 3: ATOMS,  molecules, and slime</vt:lpstr>
      <vt:lpstr>POLYMERS</vt:lpstr>
      <vt:lpstr>Lab time: It’s time for slime</vt:lpstr>
      <vt:lpstr>RECAP</vt:lpstr>
      <vt:lpstr>Day 4: Particle interaction and surface tension</vt:lpstr>
      <vt:lpstr>SURFACE TENSION</vt:lpstr>
      <vt:lpstr>Milk RAINBOW Demonstration</vt:lpstr>
      <vt:lpstr>EXPLANATION</vt:lpstr>
      <vt:lpstr>LAB</vt:lpstr>
      <vt:lpstr>Day 5: MASS, DENSITY, &amp; VOLUME</vt:lpstr>
      <vt:lpstr>WHAT IS VOLUME, MASS, AND DENSITY?</vt:lpstr>
      <vt:lpstr>VIDEOS</vt:lpstr>
      <vt:lpstr>MASS &amp; VOLUME WORKSHEET</vt:lpstr>
      <vt:lpstr>Day 6: DENSITY AND FLOATING LIQUIDS</vt:lpstr>
      <vt:lpstr>Density and floating liquids</vt:lpstr>
      <vt:lpstr>LECTURE</vt:lpstr>
      <vt:lpstr>WILL IT SINK OR FLOAT?</vt:lpstr>
      <vt:lpstr>LAYERING LIQUIDS LAB</vt:lpstr>
      <vt:lpstr>Day 7: MIXTURES AND SOLUTIONS</vt:lpstr>
      <vt:lpstr>WHAT ARE THEY?</vt:lpstr>
      <vt:lpstr>Can you separate it?</vt:lpstr>
      <vt:lpstr>IS THIS A MIXTURE OR A SOLUTION?</vt:lpstr>
      <vt:lpstr>LAB - MESSING WITH MIXTURES</vt:lpstr>
      <vt:lpstr>RECAP</vt:lpstr>
      <vt:lpstr>Day 8: ACIDS and BASES</vt:lpstr>
      <vt:lpstr>What is an Acid, what is a BASE</vt:lpstr>
      <vt:lpstr>WHAT IS ph?</vt:lpstr>
      <vt:lpstr>LAB TIME: ACID, BASE, and COLOR CHANGE</vt:lpstr>
      <vt:lpstr>Day 9: POTENTIAL AND KINETIC ENERGY</vt:lpstr>
      <vt:lpstr>WHAT IS POTENTIAL AND KINETIC ENERGY?</vt:lpstr>
      <vt:lpstr>PAPER ROLLER COASTER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Day 1:Intro to Chemistry</dc:title>
  <dc:creator>Brian Ngo</dc:creator>
  <cp:lastModifiedBy>Brian Ngo</cp:lastModifiedBy>
  <cp:revision>62</cp:revision>
  <dcterms:created xsi:type="dcterms:W3CDTF">2021-06-14T05:21:05Z</dcterms:created>
  <dcterms:modified xsi:type="dcterms:W3CDTF">2021-06-30T17:48:59Z</dcterms:modified>
</cp:coreProperties>
</file>