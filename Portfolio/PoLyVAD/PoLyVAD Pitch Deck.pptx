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Alexandria Medium"/>
      <p:regular r:id="rId20"/>
      <p:bold r:id="rId21"/>
    </p:embeddedFont>
    <p:embeddedFont>
      <p:font typeface="Anonymous Pro"/>
      <p:regular r:id="rId22"/>
      <p:bold r:id="rId23"/>
      <p:italic r:id="rId24"/>
      <p:boldItalic r:id="rId25"/>
    </p:embeddedFont>
    <p:embeddedFont>
      <p:font typeface="Albert Sans"/>
      <p:regular r:id="rId26"/>
      <p:bold r:id="rId27"/>
      <p:italic r:id="rId28"/>
      <p:boldItalic r:id="rId29"/>
    </p:embeddedFont>
    <p:embeddedFont>
      <p:font typeface="Alexandria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lexandriaMedium-regular.fntdata"/><Relationship Id="rId22" Type="http://schemas.openxmlformats.org/officeDocument/2006/relationships/font" Target="fonts/AnonymousPro-regular.fntdata"/><Relationship Id="rId21" Type="http://schemas.openxmlformats.org/officeDocument/2006/relationships/font" Target="fonts/AlexandriaMedium-bold.fntdata"/><Relationship Id="rId24" Type="http://schemas.openxmlformats.org/officeDocument/2006/relationships/font" Target="fonts/AnonymousPro-italic.fntdata"/><Relationship Id="rId23" Type="http://schemas.openxmlformats.org/officeDocument/2006/relationships/font" Target="fonts/AnonymousPr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lbertSans-regular.fntdata"/><Relationship Id="rId25" Type="http://schemas.openxmlformats.org/officeDocument/2006/relationships/font" Target="fonts/AnonymousPro-boldItalic.fntdata"/><Relationship Id="rId28" Type="http://schemas.openxmlformats.org/officeDocument/2006/relationships/font" Target="fonts/AlbertSans-italic.fntdata"/><Relationship Id="rId27" Type="http://schemas.openxmlformats.org/officeDocument/2006/relationships/font" Target="fonts/Albert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Albert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Alexandria-bold.fntdata"/><Relationship Id="rId30" Type="http://schemas.openxmlformats.org/officeDocument/2006/relationships/font" Target="fonts/Alexandria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558abb5f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558abb5f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09f594a03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09f594a03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5703cb3a7b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5703cb3a7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572bee519d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572bee519d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558abb5fb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558abb5fb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09aafc37e8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09aafc37e8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572bee519d_0_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572bee519d_0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5703cb3a7b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5703cb3a7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093d19adc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093d19adc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572bee519d_0_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572bee519d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72bee519d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572bee519d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572bee519d_0_8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572bee519d_0_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09fd0152b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09fd0152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medical device companies, Abbott and Medtronic, are currently in the process of developing fully implantable LVAD systems [3] but lack polymagnet technology [2]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f9f8b0364c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f9f8b0364c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09aafc37e8_3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09aafc37e8_3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2272" l="-19689" r="19690" t="41478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711750" y="1958600"/>
            <a:ext cx="4280100" cy="26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 rotWithShape="1">
          <a:blip r:embed="rId3">
            <a:alphaModFix/>
          </a:blip>
          <a:srcRect b="-40" l="36283" r="-6" t="30"/>
          <a:stretch/>
        </p:blipFill>
        <p:spPr>
          <a:xfrm rot="10800000">
            <a:off x="5864950" y="-3275"/>
            <a:ext cx="32790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7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4572000" y="535000"/>
            <a:ext cx="38568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 b="41635" l="174697" r="177064" t="-83399"/>
          <a:stretch/>
        </p:blipFill>
        <p:spPr>
          <a:xfrm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/>
          <p:nvPr>
            <p:ph type="title"/>
          </p:nvPr>
        </p:nvSpPr>
        <p:spPr>
          <a:xfrm>
            <a:off x="715100" y="535000"/>
            <a:ext cx="3856800" cy="948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715100" y="1636300"/>
            <a:ext cx="3856800" cy="189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" name="Google Shape;23;p4"/>
          <p:cNvSpPr/>
          <p:nvPr>
            <p:ph idx="2" type="pic"/>
          </p:nvPr>
        </p:nvSpPr>
        <p:spPr>
          <a:xfrm>
            <a:off x="5715175" y="75"/>
            <a:ext cx="3429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/>
          <p:nvPr>
            <p:ph idx="1" type="subTitle"/>
          </p:nvPr>
        </p:nvSpPr>
        <p:spPr>
          <a:xfrm>
            <a:off x="1189750" y="1742900"/>
            <a:ext cx="2907600" cy="21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5046650" y="1742900"/>
            <a:ext cx="2907600" cy="21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 b="47851" l="104756" r="280062" t="-108210"/>
          <a:stretch/>
        </p:blipFill>
        <p:spPr>
          <a:xfrm rot="10800000"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"/>
          <p:cNvPicPr preferRelativeResize="0"/>
          <p:nvPr/>
        </p:nvPicPr>
        <p:blipFill rotWithShape="1">
          <a:blip r:embed="rId2">
            <a:alphaModFix/>
          </a:blip>
          <a:srcRect b="34585" l="130683" r="175247" t="-50527"/>
          <a:stretch/>
        </p:blipFill>
        <p:spPr>
          <a:xfrm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/>
          <p:nvPr>
            <p:ph type="title"/>
          </p:nvPr>
        </p:nvSpPr>
        <p:spPr>
          <a:xfrm>
            <a:off x="715100" y="535000"/>
            <a:ext cx="3856800" cy="9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715100" y="1641400"/>
            <a:ext cx="3856800" cy="726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" name="Google Shape;36;p7"/>
          <p:cNvSpPr/>
          <p:nvPr>
            <p:ph idx="2" type="pic"/>
          </p:nvPr>
        </p:nvSpPr>
        <p:spPr>
          <a:xfrm>
            <a:off x="5714900" y="-75"/>
            <a:ext cx="3429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8"/>
          <p:cNvPicPr preferRelativeResize="0"/>
          <p:nvPr/>
        </p:nvPicPr>
        <p:blipFill rotWithShape="1">
          <a:blip r:embed="rId2">
            <a:alphaModFix/>
          </a:blip>
          <a:srcRect b="2272" l="-19689" r="19690" t="41478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8"/>
          <p:cNvSpPr txBox="1"/>
          <p:nvPr>
            <p:ph type="title"/>
          </p:nvPr>
        </p:nvSpPr>
        <p:spPr>
          <a:xfrm>
            <a:off x="715100" y="535000"/>
            <a:ext cx="7713900" cy="23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9"/>
          <p:cNvPicPr preferRelativeResize="0"/>
          <p:nvPr/>
        </p:nvPicPr>
        <p:blipFill rotWithShape="1">
          <a:blip r:embed="rId2">
            <a:alphaModFix/>
          </a:blip>
          <a:srcRect b="-26994" l="7043" r="-48486" t="47434"/>
          <a:stretch/>
        </p:blipFill>
        <p:spPr>
          <a:xfrm flipH="1" rot="10800000">
            <a:off x="-12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9"/>
          <p:cNvSpPr txBox="1"/>
          <p:nvPr>
            <p:ph type="title"/>
          </p:nvPr>
        </p:nvSpPr>
        <p:spPr>
          <a:xfrm>
            <a:off x="720000" y="535000"/>
            <a:ext cx="5925300" cy="12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4572000" y="3358100"/>
            <a:ext cx="3856800" cy="12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715100" y="4059800"/>
            <a:ext cx="7713600" cy="5487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1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1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715100" y="3068600"/>
            <a:ext cx="7713900" cy="15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subTitle"/>
          </p:nvPr>
        </p:nvSpPr>
        <p:spPr>
          <a:xfrm>
            <a:off x="4572000" y="535000"/>
            <a:ext cx="38568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/>
          </a:blip>
          <a:srcRect b="-108521" l="-235242" r="44460" t="44962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hasCustomPrompt="1" type="title"/>
          </p:nvPr>
        </p:nvSpPr>
        <p:spPr>
          <a:xfrm>
            <a:off x="1070650" y="1367325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1609075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2"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hasCustomPrompt="1" idx="3" type="title"/>
          </p:nvPr>
        </p:nvSpPr>
        <p:spPr>
          <a:xfrm>
            <a:off x="1070650" y="2103525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/>
          <p:nvPr>
            <p:ph idx="4" type="subTitle"/>
          </p:nvPr>
        </p:nvSpPr>
        <p:spPr>
          <a:xfrm>
            <a:off x="1609075" y="2103524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hasCustomPrompt="1" idx="5" type="title"/>
          </p:nvPr>
        </p:nvSpPr>
        <p:spPr>
          <a:xfrm>
            <a:off x="1070650" y="2839750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idx="6" type="subTitle"/>
          </p:nvPr>
        </p:nvSpPr>
        <p:spPr>
          <a:xfrm>
            <a:off x="1609075" y="2839748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hasCustomPrompt="1" idx="7" type="title"/>
          </p:nvPr>
        </p:nvSpPr>
        <p:spPr>
          <a:xfrm>
            <a:off x="1070650" y="3575950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/>
          <p:nvPr>
            <p:ph idx="8" type="subTitle"/>
          </p:nvPr>
        </p:nvSpPr>
        <p:spPr>
          <a:xfrm>
            <a:off x="1609075" y="3575948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hasCustomPrompt="1" idx="9" type="title"/>
          </p:nvPr>
        </p:nvSpPr>
        <p:spPr>
          <a:xfrm>
            <a:off x="4927449" y="1367325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/>
          <p:nvPr>
            <p:ph idx="13" type="subTitle"/>
          </p:nvPr>
        </p:nvSpPr>
        <p:spPr>
          <a:xfrm>
            <a:off x="5465950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hasCustomPrompt="1" idx="14" type="title"/>
          </p:nvPr>
        </p:nvSpPr>
        <p:spPr>
          <a:xfrm>
            <a:off x="4927449" y="2103522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/>
          <p:nvPr>
            <p:ph idx="15" type="subTitle"/>
          </p:nvPr>
        </p:nvSpPr>
        <p:spPr>
          <a:xfrm>
            <a:off x="5465950" y="2103519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68" name="Google Shape;68;p13"/>
          <p:cNvSpPr txBox="1"/>
          <p:nvPr>
            <p:ph hasCustomPrompt="1" idx="16" type="title"/>
          </p:nvPr>
        </p:nvSpPr>
        <p:spPr>
          <a:xfrm>
            <a:off x="4927449" y="2839728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/>
          <p:nvPr>
            <p:ph idx="17" type="subTitle"/>
          </p:nvPr>
        </p:nvSpPr>
        <p:spPr>
          <a:xfrm>
            <a:off x="5465950" y="2839721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hasCustomPrompt="1" idx="18" type="title"/>
          </p:nvPr>
        </p:nvSpPr>
        <p:spPr>
          <a:xfrm>
            <a:off x="4927449" y="3575925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/>
          <p:nvPr>
            <p:ph idx="19" type="subTitle"/>
          </p:nvPr>
        </p:nvSpPr>
        <p:spPr>
          <a:xfrm>
            <a:off x="5465950" y="3575916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4"/>
          <p:cNvPicPr preferRelativeResize="0"/>
          <p:nvPr/>
        </p:nvPicPr>
        <p:blipFill rotWithShape="1">
          <a:blip r:embed="rId2">
            <a:alphaModFix/>
          </a:blip>
          <a:srcRect b="-35825" l="-6643" r="27548" t="13471"/>
          <a:stretch/>
        </p:blipFill>
        <p:spPr>
          <a:xfrm>
            <a:off x="5819050" y="0"/>
            <a:ext cx="33249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 rotWithShape="1">
          <a:blip r:embed="rId2">
            <a:alphaModFix/>
          </a:blip>
          <a:srcRect b="-108521" l="-235242" r="44460" t="44962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>
            <p:ph idx="1" type="subTitle"/>
          </p:nvPr>
        </p:nvSpPr>
        <p:spPr>
          <a:xfrm>
            <a:off x="715100" y="1503175"/>
            <a:ext cx="5930100" cy="200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6" name="Google Shape;76;p14"/>
          <p:cNvSpPr txBox="1"/>
          <p:nvPr>
            <p:ph idx="2" type="subTitle"/>
          </p:nvPr>
        </p:nvSpPr>
        <p:spPr>
          <a:xfrm>
            <a:off x="715100" y="3965300"/>
            <a:ext cx="5930100" cy="45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 b="2272" l="-19689" r="19690" t="41478"/>
          <a:stretch/>
        </p:blipFill>
        <p:spPr>
          <a:xfrm flipH="1" rot="10800000">
            <a:off x="0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>
            <p:ph type="title"/>
          </p:nvPr>
        </p:nvSpPr>
        <p:spPr>
          <a:xfrm>
            <a:off x="715100" y="2259575"/>
            <a:ext cx="4276800" cy="231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7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572000" y="535000"/>
            <a:ext cx="3856500" cy="80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400"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6"/>
          <p:cNvPicPr preferRelativeResize="0"/>
          <p:nvPr/>
        </p:nvPicPr>
        <p:blipFill rotWithShape="1">
          <a:blip r:embed="rId2">
            <a:alphaModFix/>
          </a:blip>
          <a:srcRect b="-26994" l="7043" r="-48486" t="47434"/>
          <a:stretch/>
        </p:blipFill>
        <p:spPr>
          <a:xfrm flipH="1" rot="10800000">
            <a:off x="-12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>
            <p:ph type="title"/>
          </p:nvPr>
        </p:nvSpPr>
        <p:spPr>
          <a:xfrm>
            <a:off x="715100" y="1931850"/>
            <a:ext cx="37044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715100" y="2480550"/>
            <a:ext cx="3704400" cy="731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_1"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 rotWithShape="1">
          <a:blip r:embed="rId2">
            <a:alphaModFix/>
          </a:blip>
          <a:srcRect b="-5849" l="-50000" r="50000" t="4960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>
            <p:ph type="title"/>
          </p:nvPr>
        </p:nvSpPr>
        <p:spPr>
          <a:xfrm>
            <a:off x="4302272" y="1931850"/>
            <a:ext cx="37044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4302272" y="2480550"/>
            <a:ext cx="3704400" cy="731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_1_1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>
            <p:ph type="title"/>
          </p:nvPr>
        </p:nvSpPr>
        <p:spPr>
          <a:xfrm>
            <a:off x="1545472" y="1931850"/>
            <a:ext cx="37044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1545472" y="2480550"/>
            <a:ext cx="3704400" cy="731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 rotWithShape="1">
          <a:blip r:embed="rId2">
            <a:alphaModFix/>
          </a:blip>
          <a:srcRect b="-5849" l="-50000" r="50000" t="4960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>
            <p:ph idx="1" type="subTitle"/>
          </p:nvPr>
        </p:nvSpPr>
        <p:spPr>
          <a:xfrm>
            <a:off x="715100" y="2046500"/>
            <a:ext cx="59301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2" type="subTitle"/>
          </p:nvPr>
        </p:nvSpPr>
        <p:spPr>
          <a:xfrm>
            <a:off x="715100" y="3299000"/>
            <a:ext cx="59301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3" type="subTitle"/>
          </p:nvPr>
        </p:nvSpPr>
        <p:spPr>
          <a:xfrm>
            <a:off x="715100" y="1666700"/>
            <a:ext cx="59301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4" type="subTitle"/>
          </p:nvPr>
        </p:nvSpPr>
        <p:spPr>
          <a:xfrm>
            <a:off x="715100" y="2919200"/>
            <a:ext cx="59301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/>
          <p:cNvPicPr preferRelativeResize="0"/>
          <p:nvPr/>
        </p:nvPicPr>
        <p:blipFill rotWithShape="1">
          <a:blip r:embed="rId2">
            <a:alphaModFix/>
          </a:blip>
          <a:srcRect b="-108521" l="-235242" r="44460" t="44962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 rotWithShape="1">
          <a:blip r:embed="rId2">
            <a:alphaModFix/>
          </a:blip>
          <a:srcRect b="-108521" l="-235242" r="44460" t="44962"/>
          <a:stretch/>
        </p:blipFill>
        <p:spPr>
          <a:xfrm flipH="1" rot="10800000">
            <a:off x="-4572" y="-2437"/>
            <a:ext cx="9153145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/>
          <p:nvPr>
            <p:ph idx="1" type="subTitle"/>
          </p:nvPr>
        </p:nvSpPr>
        <p:spPr>
          <a:xfrm>
            <a:off x="715100" y="2328775"/>
            <a:ext cx="2131800" cy="14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20"/>
          <p:cNvSpPr txBox="1"/>
          <p:nvPr>
            <p:ph idx="2" type="subTitle"/>
          </p:nvPr>
        </p:nvSpPr>
        <p:spPr>
          <a:xfrm>
            <a:off x="715100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06" name="Google Shape;106;p20"/>
          <p:cNvSpPr txBox="1"/>
          <p:nvPr>
            <p:ph idx="3" type="subTitle"/>
          </p:nvPr>
        </p:nvSpPr>
        <p:spPr>
          <a:xfrm>
            <a:off x="3506100" y="2328775"/>
            <a:ext cx="2131800" cy="14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4" type="subTitle"/>
          </p:nvPr>
        </p:nvSpPr>
        <p:spPr>
          <a:xfrm>
            <a:off x="3506099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5" type="subTitle"/>
          </p:nvPr>
        </p:nvSpPr>
        <p:spPr>
          <a:xfrm>
            <a:off x="6297202" y="2328775"/>
            <a:ext cx="2131800" cy="14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6" type="subTitle"/>
          </p:nvPr>
        </p:nvSpPr>
        <p:spPr>
          <a:xfrm>
            <a:off x="6297200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/>
          <p:cNvPicPr preferRelativeResize="0"/>
          <p:nvPr/>
        </p:nvPicPr>
        <p:blipFill rotWithShape="1">
          <a:blip r:embed="rId2">
            <a:alphaModFix/>
          </a:blip>
          <a:srcRect b="-5849" l="-50000" r="50000" t="4960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>
            <p:ph idx="1" type="subTitle"/>
          </p:nvPr>
        </p:nvSpPr>
        <p:spPr>
          <a:xfrm>
            <a:off x="715100" y="3758613"/>
            <a:ext cx="2131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21"/>
          <p:cNvSpPr txBox="1"/>
          <p:nvPr>
            <p:ph idx="2" type="subTitle"/>
          </p:nvPr>
        </p:nvSpPr>
        <p:spPr>
          <a:xfrm>
            <a:off x="715100" y="3377613"/>
            <a:ext cx="2131800" cy="457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15" name="Google Shape;115;p21"/>
          <p:cNvSpPr txBox="1"/>
          <p:nvPr>
            <p:ph idx="3" type="subTitle"/>
          </p:nvPr>
        </p:nvSpPr>
        <p:spPr>
          <a:xfrm>
            <a:off x="3506099" y="3758613"/>
            <a:ext cx="2131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4" type="subTitle"/>
          </p:nvPr>
        </p:nvSpPr>
        <p:spPr>
          <a:xfrm>
            <a:off x="3506099" y="3377613"/>
            <a:ext cx="2131800" cy="457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5" type="subTitle"/>
          </p:nvPr>
        </p:nvSpPr>
        <p:spPr>
          <a:xfrm>
            <a:off x="6297200" y="3758613"/>
            <a:ext cx="2131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6" type="subTitle"/>
          </p:nvPr>
        </p:nvSpPr>
        <p:spPr>
          <a:xfrm>
            <a:off x="6297200" y="3377613"/>
            <a:ext cx="2131800" cy="457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2"/>
          <p:cNvPicPr preferRelativeResize="0"/>
          <p:nvPr/>
        </p:nvPicPr>
        <p:blipFill rotWithShape="1">
          <a:blip r:embed="rId2">
            <a:alphaModFix/>
          </a:blip>
          <a:srcRect b="47851" l="104756" r="280062" t="-108210"/>
          <a:stretch/>
        </p:blipFill>
        <p:spPr>
          <a:xfrm rot="10800000"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/>
          <p:nvPr>
            <p:ph idx="1" type="subTitle"/>
          </p:nvPr>
        </p:nvSpPr>
        <p:spPr>
          <a:xfrm>
            <a:off x="715100" y="2046500"/>
            <a:ext cx="37806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3" name="Google Shape;123;p22"/>
          <p:cNvSpPr txBox="1"/>
          <p:nvPr>
            <p:ph idx="2" type="subTitle"/>
          </p:nvPr>
        </p:nvSpPr>
        <p:spPr>
          <a:xfrm>
            <a:off x="715100" y="3299000"/>
            <a:ext cx="37806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4" name="Google Shape;124;p22"/>
          <p:cNvSpPr txBox="1"/>
          <p:nvPr>
            <p:ph idx="3" type="subTitle"/>
          </p:nvPr>
        </p:nvSpPr>
        <p:spPr>
          <a:xfrm>
            <a:off x="715100" y="166670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25" name="Google Shape;125;p22"/>
          <p:cNvSpPr txBox="1"/>
          <p:nvPr>
            <p:ph idx="4" type="subTitle"/>
          </p:nvPr>
        </p:nvSpPr>
        <p:spPr>
          <a:xfrm>
            <a:off x="715100" y="291920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26" name="Google Shape;126;p22"/>
          <p:cNvSpPr txBox="1"/>
          <p:nvPr>
            <p:ph idx="5" type="subTitle"/>
          </p:nvPr>
        </p:nvSpPr>
        <p:spPr>
          <a:xfrm>
            <a:off x="4648300" y="2046500"/>
            <a:ext cx="37806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7" name="Google Shape;127;p22"/>
          <p:cNvSpPr txBox="1"/>
          <p:nvPr>
            <p:ph idx="6" type="subTitle"/>
          </p:nvPr>
        </p:nvSpPr>
        <p:spPr>
          <a:xfrm>
            <a:off x="4648300" y="3299000"/>
            <a:ext cx="37806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8" name="Google Shape;128;p22"/>
          <p:cNvSpPr txBox="1"/>
          <p:nvPr>
            <p:ph idx="7" type="subTitle"/>
          </p:nvPr>
        </p:nvSpPr>
        <p:spPr>
          <a:xfrm>
            <a:off x="4648300" y="166670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29" name="Google Shape;129;p22"/>
          <p:cNvSpPr txBox="1"/>
          <p:nvPr>
            <p:ph idx="8" type="subTitle"/>
          </p:nvPr>
        </p:nvSpPr>
        <p:spPr>
          <a:xfrm>
            <a:off x="4648300" y="291920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idx="1" type="subTitle"/>
          </p:nvPr>
        </p:nvSpPr>
        <p:spPr>
          <a:xfrm>
            <a:off x="715100" y="1879700"/>
            <a:ext cx="2432400" cy="88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2" name="Google Shape;132;p23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idx="2" type="subTitle"/>
          </p:nvPr>
        </p:nvSpPr>
        <p:spPr>
          <a:xfrm>
            <a:off x="715100" y="3574400"/>
            <a:ext cx="2432400" cy="88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4" name="Google Shape;134;p23"/>
          <p:cNvSpPr txBox="1"/>
          <p:nvPr>
            <p:ph idx="3" type="subTitle"/>
          </p:nvPr>
        </p:nvSpPr>
        <p:spPr>
          <a:xfrm>
            <a:off x="715100" y="1224500"/>
            <a:ext cx="2432400" cy="73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35" name="Google Shape;135;p23"/>
          <p:cNvSpPr txBox="1"/>
          <p:nvPr>
            <p:ph idx="4" type="subTitle"/>
          </p:nvPr>
        </p:nvSpPr>
        <p:spPr>
          <a:xfrm>
            <a:off x="715100" y="2919200"/>
            <a:ext cx="2432400" cy="73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36" name="Google Shape;136;p23"/>
          <p:cNvSpPr txBox="1"/>
          <p:nvPr>
            <p:ph idx="5" type="subTitle"/>
          </p:nvPr>
        </p:nvSpPr>
        <p:spPr>
          <a:xfrm>
            <a:off x="3355799" y="1879700"/>
            <a:ext cx="2432400" cy="88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idx="6" type="subTitle"/>
          </p:nvPr>
        </p:nvSpPr>
        <p:spPr>
          <a:xfrm>
            <a:off x="3355799" y="3574400"/>
            <a:ext cx="2432400" cy="88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7" type="subTitle"/>
          </p:nvPr>
        </p:nvSpPr>
        <p:spPr>
          <a:xfrm>
            <a:off x="3355800" y="1224500"/>
            <a:ext cx="2432400" cy="73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39" name="Google Shape;139;p23"/>
          <p:cNvSpPr txBox="1"/>
          <p:nvPr>
            <p:ph idx="8" type="subTitle"/>
          </p:nvPr>
        </p:nvSpPr>
        <p:spPr>
          <a:xfrm>
            <a:off x="3355800" y="2919200"/>
            <a:ext cx="2432400" cy="73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40" name="Google Shape;140;p23"/>
          <p:cNvSpPr txBox="1"/>
          <p:nvPr>
            <p:ph idx="9" type="subTitle"/>
          </p:nvPr>
        </p:nvSpPr>
        <p:spPr>
          <a:xfrm>
            <a:off x="5996501" y="1879700"/>
            <a:ext cx="2432400" cy="88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1" name="Google Shape;141;p23"/>
          <p:cNvSpPr txBox="1"/>
          <p:nvPr>
            <p:ph idx="13" type="subTitle"/>
          </p:nvPr>
        </p:nvSpPr>
        <p:spPr>
          <a:xfrm>
            <a:off x="5996501" y="3574400"/>
            <a:ext cx="2432400" cy="88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2" name="Google Shape;142;p23"/>
          <p:cNvSpPr txBox="1"/>
          <p:nvPr>
            <p:ph idx="14" type="subTitle"/>
          </p:nvPr>
        </p:nvSpPr>
        <p:spPr>
          <a:xfrm>
            <a:off x="5996503" y="1224500"/>
            <a:ext cx="2432400" cy="73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43" name="Google Shape;143;p23"/>
          <p:cNvSpPr txBox="1"/>
          <p:nvPr>
            <p:ph idx="15" type="subTitle"/>
          </p:nvPr>
        </p:nvSpPr>
        <p:spPr>
          <a:xfrm>
            <a:off x="5996503" y="2919200"/>
            <a:ext cx="2432400" cy="73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4"/>
          <p:cNvPicPr preferRelativeResize="0"/>
          <p:nvPr/>
        </p:nvPicPr>
        <p:blipFill rotWithShape="1">
          <a:blip r:embed="rId2">
            <a:alphaModFix/>
          </a:blip>
          <a:srcRect b="-5849" l="-50000" r="50000" t="4960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4"/>
          <p:cNvSpPr txBox="1"/>
          <p:nvPr>
            <p:ph hasCustomPrompt="1" type="title"/>
          </p:nvPr>
        </p:nvSpPr>
        <p:spPr>
          <a:xfrm>
            <a:off x="715100" y="983000"/>
            <a:ext cx="7713900" cy="9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7" name="Google Shape;147;p24"/>
          <p:cNvSpPr txBox="1"/>
          <p:nvPr>
            <p:ph idx="1" type="subTitle"/>
          </p:nvPr>
        </p:nvSpPr>
        <p:spPr>
          <a:xfrm>
            <a:off x="715100" y="1858700"/>
            <a:ext cx="7713900" cy="6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8" name="Google Shape;148;p24"/>
          <p:cNvSpPr txBox="1"/>
          <p:nvPr>
            <p:ph hasCustomPrompt="1" idx="2" type="title"/>
          </p:nvPr>
        </p:nvSpPr>
        <p:spPr>
          <a:xfrm>
            <a:off x="715100" y="2921600"/>
            <a:ext cx="7713900" cy="9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9" name="Google Shape;149;p24"/>
          <p:cNvSpPr txBox="1"/>
          <p:nvPr>
            <p:ph idx="3" type="subTitle"/>
          </p:nvPr>
        </p:nvSpPr>
        <p:spPr>
          <a:xfrm>
            <a:off x="715100" y="3797300"/>
            <a:ext cx="7713900" cy="6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BLANK_1_1_1_1_1_1_3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 rotWithShape="1">
          <a:blip r:embed="rId2">
            <a:alphaModFix/>
          </a:blip>
          <a:srcRect b="-108521" l="-235242" r="44460" t="44962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25"/>
          <p:cNvSpPr txBox="1"/>
          <p:nvPr>
            <p:ph hasCustomPrompt="1" idx="2" type="title"/>
          </p:nvPr>
        </p:nvSpPr>
        <p:spPr>
          <a:xfrm>
            <a:off x="715100" y="253235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4" name="Google Shape;154;p25"/>
          <p:cNvSpPr txBox="1"/>
          <p:nvPr>
            <p:ph idx="1" type="subTitle"/>
          </p:nvPr>
        </p:nvSpPr>
        <p:spPr>
          <a:xfrm>
            <a:off x="715100" y="3291950"/>
            <a:ext cx="3780600" cy="8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25"/>
          <p:cNvSpPr txBox="1"/>
          <p:nvPr>
            <p:ph idx="3" type="subTitle"/>
          </p:nvPr>
        </p:nvSpPr>
        <p:spPr>
          <a:xfrm>
            <a:off x="715100" y="291215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56" name="Google Shape;156;p25"/>
          <p:cNvSpPr txBox="1"/>
          <p:nvPr>
            <p:ph idx="4" type="subTitle"/>
          </p:nvPr>
        </p:nvSpPr>
        <p:spPr>
          <a:xfrm>
            <a:off x="4648300" y="3291950"/>
            <a:ext cx="3780600" cy="8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7" name="Google Shape;157;p25"/>
          <p:cNvSpPr txBox="1"/>
          <p:nvPr>
            <p:ph idx="5" type="subTitle"/>
          </p:nvPr>
        </p:nvSpPr>
        <p:spPr>
          <a:xfrm>
            <a:off x="4648300" y="291215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58" name="Google Shape;158;p25"/>
          <p:cNvSpPr txBox="1"/>
          <p:nvPr>
            <p:ph hasCustomPrompt="1" idx="6" type="title"/>
          </p:nvPr>
        </p:nvSpPr>
        <p:spPr>
          <a:xfrm>
            <a:off x="4648300" y="253235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_1"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7"/>
          <p:cNvPicPr preferRelativeResize="0"/>
          <p:nvPr/>
        </p:nvPicPr>
        <p:blipFill rotWithShape="1">
          <a:blip r:embed="rId2">
            <a:alphaModFix/>
          </a:blip>
          <a:srcRect b="-108521" l="-235242" r="44460" t="44962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7"/>
          <p:cNvPicPr preferRelativeResize="0"/>
          <p:nvPr/>
        </p:nvPicPr>
        <p:blipFill rotWithShape="1">
          <a:blip r:embed="rId2">
            <a:alphaModFix/>
          </a:blip>
          <a:srcRect b="-108521" l="-235242" r="44460" t="44962"/>
          <a:stretch/>
        </p:blipFill>
        <p:spPr>
          <a:xfrm flipH="1" rot="10800000">
            <a:off x="-4572" y="-2437"/>
            <a:ext cx="9153145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7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_1_1"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8"/>
          <p:cNvPicPr preferRelativeResize="0"/>
          <p:nvPr/>
        </p:nvPicPr>
        <p:blipFill rotWithShape="1">
          <a:blip r:embed="rId2">
            <a:alphaModFix/>
          </a:blip>
          <a:srcRect b="-11170" l="-6643" r="27548" t="-11183"/>
          <a:stretch/>
        </p:blipFill>
        <p:spPr>
          <a:xfrm>
            <a:off x="5819050" y="0"/>
            <a:ext cx="3324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8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9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9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9"/>
          <p:cNvSpPr txBox="1"/>
          <p:nvPr>
            <p:ph type="ctrTitle"/>
          </p:nvPr>
        </p:nvSpPr>
        <p:spPr>
          <a:xfrm>
            <a:off x="715100" y="3330625"/>
            <a:ext cx="3856800" cy="12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2" name="Google Shape;172;p29"/>
          <p:cNvSpPr txBox="1"/>
          <p:nvPr>
            <p:ph idx="1" type="subTitle"/>
          </p:nvPr>
        </p:nvSpPr>
        <p:spPr>
          <a:xfrm>
            <a:off x="4571900" y="535000"/>
            <a:ext cx="2683800" cy="11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3" name="Google Shape;173;p29"/>
          <p:cNvSpPr txBox="1"/>
          <p:nvPr/>
        </p:nvSpPr>
        <p:spPr>
          <a:xfrm>
            <a:off x="4571863" y="2278000"/>
            <a:ext cx="26838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b="1" lang="en" sz="9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b="1" lang="en" sz="9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and infographics &amp; images by </a:t>
            </a:r>
            <a:r>
              <a:rPr b="1" lang="en" sz="9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9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0"/>
          <p:cNvPicPr preferRelativeResize="0"/>
          <p:nvPr/>
        </p:nvPicPr>
        <p:blipFill rotWithShape="1">
          <a:blip r:embed="rId2">
            <a:alphaModFix/>
          </a:blip>
          <a:srcRect b="-35825" l="-6643" r="27548" t="13471"/>
          <a:stretch/>
        </p:blipFill>
        <p:spPr>
          <a:xfrm flipH="1">
            <a:off x="-10680" y="-2437"/>
            <a:ext cx="332129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2">
            <a:alphaModFix/>
          </a:blip>
          <a:srcRect b="-108521" l="-235242" r="44460" t="44962"/>
          <a:stretch/>
        </p:blipFill>
        <p:spPr>
          <a:xfrm flipH="1" rot="10800000">
            <a:off x="-10680" y="-2437"/>
            <a:ext cx="9144080" cy="51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1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083700"/>
            <a:ext cx="7713900" cy="3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6.jp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14.jpg"/><Relationship Id="rId8" Type="http://schemas.openxmlformats.org/officeDocument/2006/relationships/image" Target="../media/image16.jpg"/><Relationship Id="rId10" Type="http://schemas.openxmlformats.org/officeDocument/2006/relationships/image" Target="../media/image2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idx="4294967295" type="subTitle"/>
          </p:nvPr>
        </p:nvSpPr>
        <p:spPr>
          <a:xfrm>
            <a:off x="106125" y="4176600"/>
            <a:ext cx="16686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Omid Ghofrani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Biomedical Engineering, B.S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aoghofra@uci.edu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2"/>
          <p:cNvSpPr txBox="1"/>
          <p:nvPr>
            <p:ph idx="4294967295" type="subTitle"/>
          </p:nvPr>
        </p:nvSpPr>
        <p:spPr>
          <a:xfrm>
            <a:off x="2029100" y="4176600"/>
            <a:ext cx="13863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Brian Ngo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Biomedical Engineering, B.S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bpngo2@uci.edu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2"/>
          <p:cNvSpPr txBox="1"/>
          <p:nvPr>
            <p:ph idx="4294967295" type="subTitle"/>
          </p:nvPr>
        </p:nvSpPr>
        <p:spPr>
          <a:xfrm>
            <a:off x="3829300" y="4150200"/>
            <a:ext cx="15384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Isaac Hoyt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Biomedical Engineering, B.S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hoyti@uci.edu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2"/>
          <p:cNvSpPr txBox="1"/>
          <p:nvPr>
            <p:ph idx="4294967295" type="subTitle"/>
          </p:nvPr>
        </p:nvSpPr>
        <p:spPr>
          <a:xfrm>
            <a:off x="5644325" y="4123900"/>
            <a:ext cx="1440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Prince Mundy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Biomedical Engineering, B.S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pmundy@uci.edu</a:t>
            </a:r>
            <a:endParaRPr/>
          </a:p>
        </p:txBody>
      </p:sp>
      <p:sp>
        <p:nvSpPr>
          <p:cNvPr id="188" name="Google Shape;188;p32"/>
          <p:cNvSpPr txBox="1"/>
          <p:nvPr>
            <p:ph idx="4294967295" type="subTitle"/>
          </p:nvPr>
        </p:nvSpPr>
        <p:spPr>
          <a:xfrm>
            <a:off x="7618325" y="4123900"/>
            <a:ext cx="1485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Clara Jones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Biomedical Engineering, PhD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laraej@uci.edu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2"/>
          <p:cNvSpPr txBox="1"/>
          <p:nvPr/>
        </p:nvSpPr>
        <p:spPr>
          <a:xfrm>
            <a:off x="2002650" y="2436600"/>
            <a:ext cx="513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“Eliminating Driveline Complications by Eliminating the Driveline”</a:t>
            </a:r>
            <a:endParaRPr b="1"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190" name="Google Shape;190;p32"/>
          <p:cNvGrpSpPr/>
          <p:nvPr/>
        </p:nvGrpSpPr>
        <p:grpSpPr>
          <a:xfrm>
            <a:off x="4858236" y="667126"/>
            <a:ext cx="1297094" cy="1289117"/>
            <a:chOff x="3404575" y="278577"/>
            <a:chExt cx="2212338" cy="2066223"/>
          </a:xfrm>
        </p:grpSpPr>
        <p:pic>
          <p:nvPicPr>
            <p:cNvPr id="191" name="Google Shape;191;p32"/>
            <p:cNvPicPr preferRelativeResize="0"/>
            <p:nvPr/>
          </p:nvPicPr>
          <p:blipFill rotWithShape="1">
            <a:blip r:embed="rId3">
              <a:alphaModFix/>
            </a:blip>
            <a:srcRect b="63847" l="33008" r="45081" t="14185"/>
            <a:stretch/>
          </p:blipFill>
          <p:spPr>
            <a:xfrm>
              <a:off x="4000000" y="278577"/>
              <a:ext cx="1142999" cy="11416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32"/>
            <p:cNvPicPr preferRelativeResize="0"/>
            <p:nvPr/>
          </p:nvPicPr>
          <p:blipFill rotWithShape="1">
            <a:blip r:embed="rId4">
              <a:alphaModFix/>
            </a:blip>
            <a:srcRect b="0" l="23195" r="0" t="20723"/>
            <a:stretch/>
          </p:blipFill>
          <p:spPr>
            <a:xfrm>
              <a:off x="3404575" y="1420264"/>
              <a:ext cx="813175" cy="9245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32"/>
            <p:cNvPicPr preferRelativeResize="0"/>
            <p:nvPr/>
          </p:nvPicPr>
          <p:blipFill rotWithShape="1">
            <a:blip r:embed="rId3">
              <a:alphaModFix/>
            </a:blip>
            <a:srcRect b="51560" l="30431" r="58144" t="32986"/>
            <a:stretch/>
          </p:blipFill>
          <p:spPr>
            <a:xfrm>
              <a:off x="3976500" y="1050800"/>
              <a:ext cx="584899" cy="788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32"/>
            <p:cNvPicPr preferRelativeResize="0"/>
            <p:nvPr/>
          </p:nvPicPr>
          <p:blipFill rotWithShape="1">
            <a:blip r:embed="rId3">
              <a:alphaModFix/>
            </a:blip>
            <a:srcRect b="34056" l="40447" r="26872" t="33302"/>
            <a:stretch/>
          </p:blipFill>
          <p:spPr>
            <a:xfrm>
              <a:off x="4561399" y="1262524"/>
              <a:ext cx="1055514" cy="10502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5" name="Google Shape;195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61775" y="2930562"/>
            <a:ext cx="1250800" cy="12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29112" y="149750"/>
            <a:ext cx="5138776" cy="23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5400000">
            <a:off x="5641386" y="3079299"/>
            <a:ext cx="1271101" cy="953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5400000">
            <a:off x="1940150" y="3066323"/>
            <a:ext cx="1305723" cy="979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5400000">
            <a:off x="124025" y="3073337"/>
            <a:ext cx="1286999" cy="965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5400000">
            <a:off x="3791900" y="3053899"/>
            <a:ext cx="1338824" cy="100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3"/>
          <p:cNvSpPr txBox="1"/>
          <p:nvPr>
            <p:ph type="title"/>
          </p:nvPr>
        </p:nvSpPr>
        <p:spPr>
          <a:xfrm>
            <a:off x="295200" y="2489300"/>
            <a:ext cx="4276800" cy="23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900"/>
              <a:t>What are LVADs?</a:t>
            </a:r>
            <a:endParaRPr sz="6900"/>
          </a:p>
        </p:txBody>
      </p:sp>
      <p:pic>
        <p:nvPicPr>
          <p:cNvPr id="206" name="Google Shape;20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4425" y="142425"/>
            <a:ext cx="4267200" cy="279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3700" y="304800"/>
            <a:ext cx="2921656" cy="218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2450" y="3127007"/>
            <a:ext cx="2481731" cy="1903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/>
          <p:nvPr>
            <p:ph idx="1" type="subTitle"/>
          </p:nvPr>
        </p:nvSpPr>
        <p:spPr>
          <a:xfrm>
            <a:off x="715100" y="2046500"/>
            <a:ext cx="75516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occurred in 16.9% (56 of 332) of patients.”</a:t>
            </a:r>
            <a:endParaRPr sz="1600"/>
          </a:p>
        </p:txBody>
      </p:sp>
      <p:sp>
        <p:nvSpPr>
          <p:cNvPr id="214" name="Google Shape;214;p34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Problem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4"/>
          <p:cNvSpPr txBox="1"/>
          <p:nvPr>
            <p:ph idx="2" type="subTitle"/>
          </p:nvPr>
        </p:nvSpPr>
        <p:spPr>
          <a:xfrm>
            <a:off x="715100" y="3070400"/>
            <a:ext cx="75516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occurred in 17.2% (57 of 332) of patients (0.23 EPPY), and sepsis events </a:t>
            </a:r>
            <a:r>
              <a:rPr b="1" lang="en" sz="1600"/>
              <a:t>occurred more frequently &gt;30 days post-implant</a:t>
            </a:r>
            <a:r>
              <a:rPr lang="en" sz="1600"/>
              <a:t> (86%, or 60 of 70 sepsis events).”</a:t>
            </a:r>
            <a:endParaRPr sz="1600"/>
          </a:p>
        </p:txBody>
      </p:sp>
      <p:sp>
        <p:nvSpPr>
          <p:cNvPr id="216" name="Google Shape;216;p34"/>
          <p:cNvSpPr txBox="1"/>
          <p:nvPr>
            <p:ph idx="3" type="subTitle"/>
          </p:nvPr>
        </p:nvSpPr>
        <p:spPr>
          <a:xfrm>
            <a:off x="715100" y="1666700"/>
            <a:ext cx="5930100" cy="45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lang="en"/>
              <a:t>Drive-line exit-site infections…</a:t>
            </a:r>
            <a:endParaRPr/>
          </a:p>
        </p:txBody>
      </p:sp>
      <p:sp>
        <p:nvSpPr>
          <p:cNvPr id="217" name="Google Shape;217;p34"/>
          <p:cNvSpPr txBox="1"/>
          <p:nvPr>
            <p:ph idx="4" type="subTitle"/>
          </p:nvPr>
        </p:nvSpPr>
        <p:spPr>
          <a:xfrm>
            <a:off x="715100" y="2690600"/>
            <a:ext cx="5930100" cy="45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“Sepsis…</a:t>
            </a:r>
            <a:endParaRPr/>
          </a:p>
        </p:txBody>
      </p:sp>
      <p:grpSp>
        <p:nvGrpSpPr>
          <p:cNvPr id="218" name="Google Shape;218;p34"/>
          <p:cNvGrpSpPr/>
          <p:nvPr/>
        </p:nvGrpSpPr>
        <p:grpSpPr>
          <a:xfrm>
            <a:off x="715100" y="4171700"/>
            <a:ext cx="8428901" cy="969625"/>
            <a:chOff x="715100" y="4171700"/>
            <a:chExt cx="8428901" cy="969625"/>
          </a:xfrm>
        </p:grpSpPr>
        <p:pic>
          <p:nvPicPr>
            <p:cNvPr id="219" name="Google Shape;219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403675" y="4171700"/>
              <a:ext cx="4740326" cy="96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15100" y="4239455"/>
              <a:ext cx="3688574" cy="64467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1" name="Google Shape;221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7425" y="1065100"/>
            <a:ext cx="3631299" cy="173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>
            <p:ph type="title"/>
          </p:nvPr>
        </p:nvSpPr>
        <p:spPr>
          <a:xfrm>
            <a:off x="715100" y="535000"/>
            <a:ext cx="6154800" cy="9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Proposed Solution</a:t>
            </a:r>
            <a:endParaRPr/>
          </a:p>
        </p:txBody>
      </p:sp>
      <p:sp>
        <p:nvSpPr>
          <p:cNvPr id="227" name="Google Shape;227;p35"/>
          <p:cNvSpPr txBox="1"/>
          <p:nvPr>
            <p:ph idx="1" type="body"/>
          </p:nvPr>
        </p:nvSpPr>
        <p:spPr>
          <a:xfrm>
            <a:off x="5183000" y="1489000"/>
            <a:ext cx="3960900" cy="25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lexandria"/>
              <a:buChar char="●"/>
            </a:pPr>
            <a:r>
              <a:rPr lang="en" sz="1700">
                <a:latin typeface="Alexandria"/>
                <a:ea typeface="Alexandria"/>
                <a:cs typeface="Alexandria"/>
                <a:sym typeface="Alexandria"/>
              </a:rPr>
              <a:t>Polymagnetically</a:t>
            </a:r>
            <a:r>
              <a:rPr lang="en" sz="1700">
                <a:latin typeface="Alexandria"/>
                <a:ea typeface="Alexandria"/>
                <a:cs typeface="Alexandria"/>
                <a:sym typeface="Alexandria"/>
              </a:rPr>
              <a:t>-Coupled Inductive Charging System</a:t>
            </a:r>
            <a:endParaRPr sz="1700"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lexandria"/>
              <a:ea typeface="Alexandria"/>
              <a:cs typeface="Alexandria"/>
              <a:sym typeface="Alexandria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lexandria"/>
              <a:buChar char="●"/>
            </a:pPr>
            <a:r>
              <a:rPr lang="en" sz="1700">
                <a:latin typeface="Alexandria"/>
                <a:ea typeface="Alexandria"/>
                <a:cs typeface="Alexandria"/>
                <a:sym typeface="Alexandria"/>
              </a:rPr>
              <a:t>Wireless Inductive Power </a:t>
            </a:r>
            <a:br>
              <a:rPr lang="en" sz="1700">
                <a:latin typeface="Alexandria"/>
                <a:ea typeface="Alexandria"/>
                <a:cs typeface="Alexandria"/>
                <a:sym typeface="Alexandria"/>
              </a:rPr>
            </a:br>
            <a:r>
              <a:rPr lang="en" sz="1700">
                <a:latin typeface="Alexandria"/>
                <a:ea typeface="Alexandria"/>
                <a:cs typeface="Alexandria"/>
                <a:sym typeface="Alexandria"/>
              </a:rPr>
              <a:t>Transfer </a:t>
            </a:r>
            <a:endParaRPr sz="1700"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lexandria"/>
              <a:ea typeface="Alexandria"/>
              <a:cs typeface="Alexandria"/>
              <a:sym typeface="Alexandria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lexandria"/>
              <a:buChar char="●"/>
            </a:pPr>
            <a:r>
              <a:rPr lang="en" sz="1700">
                <a:latin typeface="Alexandria"/>
                <a:ea typeface="Alexandria"/>
                <a:cs typeface="Alexandria"/>
                <a:sym typeface="Alexandria"/>
              </a:rPr>
              <a:t>Fully Implantable</a:t>
            </a:r>
            <a:br>
              <a:rPr lang="en" sz="1700">
                <a:latin typeface="Alexandria"/>
                <a:ea typeface="Alexandria"/>
                <a:cs typeface="Alexandria"/>
                <a:sym typeface="Alexandria"/>
              </a:rPr>
            </a:br>
            <a:r>
              <a:rPr lang="en" sz="1700">
                <a:latin typeface="Alexandria"/>
                <a:ea typeface="Alexandria"/>
                <a:cs typeface="Alexandria"/>
                <a:sym typeface="Alexandria"/>
              </a:rPr>
              <a:t>LVAD eliminates the need for a driveline </a:t>
            </a:r>
            <a:endParaRPr sz="1700">
              <a:latin typeface="Alexandria"/>
              <a:ea typeface="Alexandria"/>
              <a:cs typeface="Alexandria"/>
              <a:sym typeface="Alexandria"/>
            </a:endParaRPr>
          </a:p>
        </p:txBody>
      </p:sp>
      <p:pic>
        <p:nvPicPr>
          <p:cNvPr id="228" name="Google Shape;228;p3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690" l="0" r="0" t="0"/>
          <a:stretch/>
        </p:blipFill>
        <p:spPr>
          <a:xfrm>
            <a:off x="459400" y="1321350"/>
            <a:ext cx="4723600" cy="308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6"/>
          <p:cNvSpPr txBox="1"/>
          <p:nvPr>
            <p:ph type="title"/>
          </p:nvPr>
        </p:nvSpPr>
        <p:spPr>
          <a:xfrm>
            <a:off x="715050" y="372450"/>
            <a:ext cx="7713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Now?</a:t>
            </a:r>
            <a:endParaRPr/>
          </a:p>
        </p:txBody>
      </p:sp>
      <p:sp>
        <p:nvSpPr>
          <p:cNvPr id="234" name="Google Shape;234;p36"/>
          <p:cNvSpPr/>
          <p:nvPr/>
        </p:nvSpPr>
        <p:spPr>
          <a:xfrm>
            <a:off x="96000" y="1024900"/>
            <a:ext cx="1842600" cy="572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84"/>
              <a:buFont typeface="Arial"/>
              <a:buNone/>
            </a:pPr>
            <a:r>
              <a:rPr lang="en" sz="3384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1966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6"/>
          <p:cNvSpPr/>
          <p:nvPr/>
        </p:nvSpPr>
        <p:spPr>
          <a:xfrm>
            <a:off x="1419490" y="1024900"/>
            <a:ext cx="1842600" cy="572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84"/>
              <a:buFont typeface="Arial"/>
              <a:buNone/>
            </a:pPr>
            <a:r>
              <a:rPr lang="en" sz="3384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2008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6"/>
          <p:cNvSpPr/>
          <p:nvPr/>
        </p:nvSpPr>
        <p:spPr>
          <a:xfrm>
            <a:off x="2817510" y="1024900"/>
            <a:ext cx="1842600" cy="572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84"/>
              <a:buFont typeface="Arial"/>
              <a:buNone/>
            </a:pPr>
            <a:r>
              <a:rPr lang="en" sz="3384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2012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6"/>
          <p:cNvSpPr/>
          <p:nvPr/>
        </p:nvSpPr>
        <p:spPr>
          <a:xfrm>
            <a:off x="4195299" y="1024900"/>
            <a:ext cx="1842600" cy="572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84"/>
              <a:buFont typeface="Arial"/>
              <a:buNone/>
            </a:pPr>
            <a:r>
              <a:rPr lang="en" sz="3384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2018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6"/>
          <p:cNvSpPr/>
          <p:nvPr/>
        </p:nvSpPr>
        <p:spPr>
          <a:xfrm>
            <a:off x="5539005" y="1024900"/>
            <a:ext cx="1842600" cy="572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84"/>
              <a:buFont typeface="Arial"/>
              <a:buNone/>
            </a:pPr>
            <a:r>
              <a:rPr lang="en" sz="3384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2023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6"/>
          <p:cNvSpPr/>
          <p:nvPr/>
        </p:nvSpPr>
        <p:spPr>
          <a:xfrm>
            <a:off x="7107197" y="1024900"/>
            <a:ext cx="1842600" cy="572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84"/>
              <a:buFont typeface="Arial"/>
              <a:buNone/>
            </a:pPr>
            <a:r>
              <a:rPr lang="en" sz="2684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6"/>
          <p:cNvSpPr txBox="1"/>
          <p:nvPr/>
        </p:nvSpPr>
        <p:spPr>
          <a:xfrm>
            <a:off x="-205950" y="1537450"/>
            <a:ext cx="1673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95959"/>
                </a:solidFill>
                <a:latin typeface="Albert Sans"/>
                <a:ea typeface="Albert Sans"/>
                <a:cs typeface="Albert Sans"/>
                <a:sym typeface="Albert Sans"/>
              </a:rPr>
              <a:t>The first LVAD implantation</a:t>
            </a:r>
            <a:endParaRPr b="1" sz="1200">
              <a:solidFill>
                <a:srgbClr val="595959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1" name="Google Shape;241;p36"/>
          <p:cNvSpPr txBox="1"/>
          <p:nvPr/>
        </p:nvSpPr>
        <p:spPr>
          <a:xfrm>
            <a:off x="1226175" y="1537450"/>
            <a:ext cx="15894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95959"/>
                </a:solidFill>
                <a:latin typeface="Albert Sans"/>
                <a:ea typeface="Albert Sans"/>
                <a:cs typeface="Albert Sans"/>
                <a:sym typeface="Albert Sans"/>
              </a:rPr>
              <a:t>HeartMate II approved by the FDA </a:t>
            </a:r>
            <a:endParaRPr b="1" sz="1200">
              <a:solidFill>
                <a:srgbClr val="595959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2" name="Google Shape;242;p36"/>
          <p:cNvSpPr txBox="1"/>
          <p:nvPr/>
        </p:nvSpPr>
        <p:spPr>
          <a:xfrm>
            <a:off x="2442450" y="1537450"/>
            <a:ext cx="18426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95959"/>
                </a:solidFill>
                <a:latin typeface="Albert Sans"/>
                <a:ea typeface="Albert Sans"/>
                <a:cs typeface="Albert Sans"/>
                <a:sym typeface="Albert Sans"/>
              </a:rPr>
              <a:t>TETS technology experimented with LVADs</a:t>
            </a:r>
            <a:endParaRPr b="1" sz="1200">
              <a:solidFill>
                <a:srgbClr val="595959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3" name="Google Shape;243;p36"/>
          <p:cNvSpPr txBox="1"/>
          <p:nvPr/>
        </p:nvSpPr>
        <p:spPr>
          <a:xfrm>
            <a:off x="4321225" y="1537450"/>
            <a:ext cx="13863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95959"/>
                </a:solidFill>
                <a:latin typeface="Albert Sans"/>
                <a:ea typeface="Albert Sans"/>
                <a:cs typeface="Albert Sans"/>
                <a:sym typeface="Albert Sans"/>
              </a:rPr>
              <a:t>The HeartMate3 gains FDA approval</a:t>
            </a:r>
            <a:endParaRPr b="1" sz="1200">
              <a:solidFill>
                <a:srgbClr val="595959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4" name="Google Shape;244;p36"/>
          <p:cNvSpPr txBox="1"/>
          <p:nvPr/>
        </p:nvSpPr>
        <p:spPr>
          <a:xfrm>
            <a:off x="5600500" y="1537450"/>
            <a:ext cx="15591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95959"/>
                </a:solidFill>
                <a:latin typeface="Albert Sans"/>
                <a:ea typeface="Albert Sans"/>
                <a:cs typeface="Albert Sans"/>
                <a:sym typeface="Albert Sans"/>
              </a:rPr>
              <a:t>Shift towards fully implantable LVADs</a:t>
            </a:r>
            <a:endParaRPr b="1" sz="1200">
              <a:solidFill>
                <a:srgbClr val="595959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5" name="Google Shape;245;p36"/>
          <p:cNvSpPr txBox="1"/>
          <p:nvPr/>
        </p:nvSpPr>
        <p:spPr>
          <a:xfrm>
            <a:off x="7033250" y="1537450"/>
            <a:ext cx="18426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95959"/>
                </a:solidFill>
                <a:latin typeface="Albert Sans"/>
                <a:ea typeface="Albert Sans"/>
                <a:cs typeface="Albert Sans"/>
                <a:sym typeface="Albert Sans"/>
              </a:rPr>
              <a:t>poLyVAD introduces a novel inductive charging system</a:t>
            </a:r>
            <a:endParaRPr b="1" sz="1200">
              <a:solidFill>
                <a:srgbClr val="595959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6" name="Google Shape;246;p36"/>
          <p:cNvSpPr txBox="1"/>
          <p:nvPr/>
        </p:nvSpPr>
        <p:spPr>
          <a:xfrm>
            <a:off x="950925" y="2584250"/>
            <a:ext cx="5376000" cy="22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Market Trends:</a:t>
            </a:r>
            <a:endParaRPr b="1" sz="2200">
              <a:solidFill>
                <a:schemeClr val="dk1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">
              <a:solidFill>
                <a:schemeClr val="dk1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lbert Sans"/>
              <a:buChar char="●"/>
            </a:pPr>
            <a:r>
              <a:rPr lang="en" sz="15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Advancements in Wireless Energy Transfer </a:t>
            </a:r>
            <a:endParaRPr sz="15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lbert Sans"/>
              <a:buChar char="●"/>
            </a:pPr>
            <a:r>
              <a:rPr lang="en" sz="15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Rise in Driveline Infection Costs</a:t>
            </a:r>
            <a:endParaRPr sz="15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lbert Sans"/>
              <a:buChar char="●"/>
            </a:pPr>
            <a:r>
              <a:rPr lang="en" sz="15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Growing Focus on </a:t>
            </a:r>
            <a:r>
              <a:rPr lang="en" sz="15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F</a:t>
            </a:r>
            <a:r>
              <a:rPr lang="en" sz="15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ully </a:t>
            </a:r>
            <a:r>
              <a:rPr lang="en" sz="15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</a:t>
            </a:r>
            <a:r>
              <a:rPr lang="en" sz="15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mplantable Medical Devices</a:t>
            </a:r>
            <a:endParaRPr sz="15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/>
          <p:nvPr/>
        </p:nvSpPr>
        <p:spPr>
          <a:xfrm>
            <a:off x="2319875" y="576250"/>
            <a:ext cx="4572000" cy="4572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52" name="Google Shape;252;p37"/>
          <p:cNvSpPr/>
          <p:nvPr/>
        </p:nvSpPr>
        <p:spPr>
          <a:xfrm>
            <a:off x="3004025" y="1950850"/>
            <a:ext cx="3203700" cy="319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53" name="Google Shape;253;p37"/>
          <p:cNvSpPr/>
          <p:nvPr/>
        </p:nvSpPr>
        <p:spPr>
          <a:xfrm>
            <a:off x="3657600" y="3319450"/>
            <a:ext cx="1828800" cy="18288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54" name="Google Shape;254;p37"/>
          <p:cNvSpPr txBox="1"/>
          <p:nvPr>
            <p:ph idx="4294967295" type="title"/>
          </p:nvPr>
        </p:nvSpPr>
        <p:spPr>
          <a:xfrm>
            <a:off x="204600" y="380275"/>
            <a:ext cx="2439900" cy="9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Size</a:t>
            </a:r>
            <a:endParaRPr/>
          </a:p>
        </p:txBody>
      </p:sp>
      <p:sp>
        <p:nvSpPr>
          <p:cNvPr id="255" name="Google Shape;255;p37"/>
          <p:cNvSpPr txBox="1"/>
          <p:nvPr>
            <p:ph idx="4294967295" type="body"/>
          </p:nvPr>
        </p:nvSpPr>
        <p:spPr>
          <a:xfrm>
            <a:off x="104700" y="1081125"/>
            <a:ext cx="2539800" cy="17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Value (2020):</a:t>
            </a:r>
            <a:r>
              <a:rPr lang="en" sz="1400"/>
              <a:t> $5.7 billion</a:t>
            </a:r>
            <a:endParaRPr sz="14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" sz="1400"/>
              <a:t>Projected Value (2025): </a:t>
            </a:r>
            <a:r>
              <a:rPr lang="en" sz="1400"/>
              <a:t>$8.8 billion </a:t>
            </a:r>
            <a:endParaRPr sz="14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" sz="1400"/>
              <a:t>CAGR: </a:t>
            </a:r>
            <a:r>
              <a:rPr lang="en" sz="1400"/>
              <a:t>9.1%</a:t>
            </a:r>
            <a:endParaRPr sz="14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7"/>
          <p:cNvSpPr txBox="1"/>
          <p:nvPr/>
        </p:nvSpPr>
        <p:spPr>
          <a:xfrm>
            <a:off x="3196925" y="1100188"/>
            <a:ext cx="28179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rPr>
              <a:t>Global Emerging Heart Failure Device Market </a:t>
            </a:r>
            <a:endParaRPr>
              <a:solidFill>
                <a:schemeClr val="lt1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rPr>
              <a:t>(BCC Research) </a:t>
            </a:r>
            <a:endParaRPr>
              <a:solidFill>
                <a:schemeClr val="lt1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57" name="Google Shape;257;p37"/>
          <p:cNvSpPr txBox="1"/>
          <p:nvPr/>
        </p:nvSpPr>
        <p:spPr>
          <a:xfrm>
            <a:off x="3478025" y="2407413"/>
            <a:ext cx="2255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rPr>
              <a:t>US Global Emerging Heart Failure Device Market </a:t>
            </a:r>
            <a:endParaRPr>
              <a:solidFill>
                <a:schemeClr val="lt1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58" name="Google Shape;258;p37"/>
          <p:cNvSpPr txBox="1"/>
          <p:nvPr/>
        </p:nvSpPr>
        <p:spPr>
          <a:xfrm>
            <a:off x="3478025" y="4077563"/>
            <a:ext cx="2255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rPr>
              <a:t>LVAD Market</a:t>
            </a:r>
            <a:endParaRPr>
              <a:solidFill>
                <a:schemeClr val="lt1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59" name="Google Shape;259;p37"/>
          <p:cNvSpPr txBox="1"/>
          <p:nvPr>
            <p:ph idx="4294967295" type="body"/>
          </p:nvPr>
        </p:nvSpPr>
        <p:spPr>
          <a:xfrm>
            <a:off x="-263150" y="3514950"/>
            <a:ext cx="3063900" cy="16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7432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/>
              <a:t>Accounts for</a:t>
            </a:r>
            <a:r>
              <a:rPr b="1" lang="en" sz="1400"/>
              <a:t> 20.2%</a:t>
            </a:r>
            <a:r>
              <a:rPr lang="en" sz="1400"/>
              <a:t> of Emerging Heart Failure Device</a:t>
            </a:r>
            <a:endParaRPr sz="1400"/>
          </a:p>
          <a:p>
            <a:pPr indent="0" lvl="0" marL="27432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" sz="1400"/>
              <a:t>Value (2020): </a:t>
            </a:r>
            <a:r>
              <a:rPr lang="en" sz="1400"/>
              <a:t>$545 million</a:t>
            </a:r>
            <a:r>
              <a:rPr b="1" lang="en" sz="1400"/>
              <a:t> </a:t>
            </a:r>
            <a:endParaRPr sz="14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7"/>
          <p:cNvSpPr txBox="1"/>
          <p:nvPr>
            <p:ph idx="4294967295" type="body"/>
          </p:nvPr>
        </p:nvSpPr>
        <p:spPr>
          <a:xfrm>
            <a:off x="6478725" y="503775"/>
            <a:ext cx="2539800" cy="15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7432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/>
              <a:t>Value (2020): </a:t>
            </a:r>
            <a:r>
              <a:rPr lang="en" sz="1400"/>
              <a:t>$2.7 billion</a:t>
            </a:r>
            <a:r>
              <a:rPr b="1" lang="en" sz="1400"/>
              <a:t> </a:t>
            </a:r>
            <a:endParaRPr b="1" sz="1400"/>
          </a:p>
          <a:p>
            <a:pPr indent="0" lvl="0" marL="27432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" sz="1400"/>
              <a:t>Projected Value (2025): </a:t>
            </a:r>
            <a:r>
              <a:rPr lang="en" sz="1400"/>
              <a:t>$4.1 billion </a:t>
            </a:r>
            <a:endParaRPr sz="1400"/>
          </a:p>
          <a:p>
            <a:pPr indent="0" lvl="0" marL="27432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" sz="1400"/>
              <a:t>CAGR: </a:t>
            </a:r>
            <a:r>
              <a:rPr lang="en" sz="1400"/>
              <a:t>8.3%</a:t>
            </a:r>
            <a:endParaRPr sz="14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134690" y="380275"/>
            <a:ext cx="17710" cy="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7"/>
          <p:cNvSpPr/>
          <p:nvPr/>
        </p:nvSpPr>
        <p:spPr>
          <a:xfrm>
            <a:off x="1534925" y="1856175"/>
            <a:ext cx="1943100" cy="183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63" name="Google Shape;263;p37"/>
          <p:cNvSpPr/>
          <p:nvPr/>
        </p:nvSpPr>
        <p:spPr>
          <a:xfrm rot="9194950">
            <a:off x="5752757" y="2472900"/>
            <a:ext cx="1572277" cy="18367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64" name="Google Shape;264;p37"/>
          <p:cNvSpPr/>
          <p:nvPr/>
        </p:nvSpPr>
        <p:spPr>
          <a:xfrm rot="385454">
            <a:off x="2472894" y="4441881"/>
            <a:ext cx="1761561" cy="183537"/>
          </a:xfrm>
          <a:prstGeom prst="rightArrow">
            <a:avLst>
              <a:gd fmla="val 45381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8"/>
          <p:cNvSpPr txBox="1"/>
          <p:nvPr/>
        </p:nvSpPr>
        <p:spPr>
          <a:xfrm>
            <a:off x="715375" y="1264723"/>
            <a:ext cx="3740700" cy="62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Market Landscape</a:t>
            </a:r>
            <a:endParaRPr sz="2300">
              <a:solidFill>
                <a:schemeClr val="dk1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270" name="Google Shape;270;p38"/>
          <p:cNvSpPr txBox="1"/>
          <p:nvPr/>
        </p:nvSpPr>
        <p:spPr>
          <a:xfrm>
            <a:off x="4688325" y="1264723"/>
            <a:ext cx="3740700" cy="62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Advantages</a:t>
            </a:r>
            <a:endParaRPr sz="2600">
              <a:solidFill>
                <a:schemeClr val="dk1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271" name="Google Shape;271;p38"/>
          <p:cNvSpPr txBox="1"/>
          <p:nvPr/>
        </p:nvSpPr>
        <p:spPr>
          <a:xfrm>
            <a:off x="715075" y="2177950"/>
            <a:ext cx="3740700" cy="1164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13359" lvl="0" marL="274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All presently available LVADs </a:t>
            </a:r>
            <a:r>
              <a:rPr b="1"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require drivelines</a:t>
            </a:r>
            <a:endParaRPr b="1"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13359" lvl="0" marL="27432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With HVAD (Medtronic) discontinued, Abbott’s </a:t>
            </a:r>
            <a:r>
              <a:rPr b="1"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HeartMate3 dominates the market</a:t>
            </a:r>
            <a:endParaRPr b="1"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72" name="Google Shape;272;p38"/>
          <p:cNvSpPr txBox="1"/>
          <p:nvPr/>
        </p:nvSpPr>
        <p:spPr>
          <a:xfrm>
            <a:off x="4688325" y="2177925"/>
            <a:ext cx="3740700" cy="1164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13359" lvl="0" marL="274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Small Market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13359" lvl="0" marL="27432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Only one product stands in our way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13359" lvl="0" marL="27432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lbert Sans"/>
              <a:buChar char="■"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Charging technology easily integrated with LVAD system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73" name="Google Shape;273;p38"/>
          <p:cNvSpPr txBox="1"/>
          <p:nvPr/>
        </p:nvSpPr>
        <p:spPr>
          <a:xfrm>
            <a:off x="715125" y="133400"/>
            <a:ext cx="7713900" cy="838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Competition</a:t>
            </a:r>
            <a:endParaRPr sz="4000">
              <a:solidFill>
                <a:schemeClr val="dk1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cxnSp>
        <p:nvCxnSpPr>
          <p:cNvPr id="274" name="Google Shape;274;p38"/>
          <p:cNvCxnSpPr>
            <a:stCxn id="273" idx="2"/>
            <a:endCxn id="269" idx="0"/>
          </p:cNvCxnSpPr>
          <p:nvPr/>
        </p:nvCxnSpPr>
        <p:spPr>
          <a:xfrm rot="5400000">
            <a:off x="3432675" y="125300"/>
            <a:ext cx="292500" cy="19863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38"/>
          <p:cNvCxnSpPr>
            <a:stCxn id="273" idx="2"/>
            <a:endCxn id="270" idx="0"/>
          </p:cNvCxnSpPr>
          <p:nvPr/>
        </p:nvCxnSpPr>
        <p:spPr>
          <a:xfrm flipH="1" rot="-5400000">
            <a:off x="5419125" y="125150"/>
            <a:ext cx="292500" cy="19866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38"/>
          <p:cNvCxnSpPr>
            <a:stCxn id="269" idx="2"/>
            <a:endCxn id="271" idx="0"/>
          </p:cNvCxnSpPr>
          <p:nvPr/>
        </p:nvCxnSpPr>
        <p:spPr>
          <a:xfrm flipH="1" rot="-5400000">
            <a:off x="2439775" y="2031373"/>
            <a:ext cx="292500" cy="600"/>
          </a:xfrm>
          <a:prstGeom prst="bentConnector3">
            <a:avLst>
              <a:gd fmla="val 50005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" name="Google Shape;277;p38"/>
          <p:cNvCxnSpPr>
            <a:stCxn id="270" idx="2"/>
            <a:endCxn id="272" idx="0"/>
          </p:cNvCxnSpPr>
          <p:nvPr/>
        </p:nvCxnSpPr>
        <p:spPr>
          <a:xfrm flipH="1" rot="-5400000">
            <a:off x="6412725" y="2031373"/>
            <a:ext cx="2925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8" name="Google Shape;27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0538" y="3390150"/>
            <a:ext cx="6882924" cy="167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9"/>
          <p:cNvSpPr txBox="1"/>
          <p:nvPr>
            <p:ph idx="1" type="subTitle"/>
          </p:nvPr>
        </p:nvSpPr>
        <p:spPr>
          <a:xfrm>
            <a:off x="347150" y="2430075"/>
            <a:ext cx="2131800" cy="14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Showcase technology via journal publications, trade shows, and cardiology conferences</a:t>
            </a:r>
            <a:endParaRPr sz="1400"/>
          </a:p>
        </p:txBody>
      </p:sp>
      <p:sp>
        <p:nvSpPr>
          <p:cNvPr id="284" name="Google Shape;284;p39"/>
          <p:cNvSpPr txBox="1"/>
          <p:nvPr>
            <p:ph type="title"/>
          </p:nvPr>
        </p:nvSpPr>
        <p:spPr>
          <a:xfrm>
            <a:off x="270675" y="252200"/>
            <a:ext cx="7713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Go-to-Market</a:t>
            </a:r>
            <a:endParaRPr/>
          </a:p>
        </p:txBody>
      </p:sp>
      <p:sp>
        <p:nvSpPr>
          <p:cNvPr id="285" name="Google Shape;285;p39"/>
          <p:cNvSpPr txBox="1"/>
          <p:nvPr>
            <p:ph idx="2" type="subTitle"/>
          </p:nvPr>
        </p:nvSpPr>
        <p:spPr>
          <a:xfrm>
            <a:off x="347150" y="1768000"/>
            <a:ext cx="2131800" cy="73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Raise Awareness</a:t>
            </a:r>
            <a:endParaRPr/>
          </a:p>
        </p:txBody>
      </p:sp>
      <p:sp>
        <p:nvSpPr>
          <p:cNvPr id="286" name="Google Shape;286;p39"/>
          <p:cNvSpPr txBox="1"/>
          <p:nvPr>
            <p:ph idx="3" type="subTitle"/>
          </p:nvPr>
        </p:nvSpPr>
        <p:spPr>
          <a:xfrm>
            <a:off x="3189650" y="2840500"/>
            <a:ext cx="2641500" cy="14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Char char="●"/>
            </a:pPr>
            <a:r>
              <a:rPr lang="en" sz="1400">
                <a:solidFill>
                  <a:schemeClr val="accent1"/>
                </a:solidFill>
              </a:rPr>
              <a:t>Quick market access</a:t>
            </a:r>
            <a:endParaRPr sz="1400"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Char char="●"/>
            </a:pPr>
            <a:r>
              <a:rPr lang="en" sz="1400">
                <a:solidFill>
                  <a:schemeClr val="accent1"/>
                </a:solidFill>
              </a:rPr>
              <a:t>Lower initial costs</a:t>
            </a:r>
            <a:endParaRPr sz="1400"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lbert Sans"/>
              <a:buChar char="●"/>
            </a:pPr>
            <a:r>
              <a:rPr lang="en" sz="1400">
                <a:solidFill>
                  <a:srgbClr val="FF0000"/>
                </a:solidFill>
              </a:rPr>
              <a:t>Limited revenue (royalties or licensing fees)</a:t>
            </a:r>
            <a:endParaRPr sz="1400">
              <a:solidFill>
                <a:srgbClr val="FF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lbert Sans"/>
              <a:buChar char="●"/>
            </a:pPr>
            <a:r>
              <a:rPr lang="en" sz="1400">
                <a:solidFill>
                  <a:srgbClr val="FF0000"/>
                </a:solidFill>
              </a:rPr>
              <a:t>Limited control</a:t>
            </a:r>
            <a:endParaRPr/>
          </a:p>
        </p:txBody>
      </p:sp>
      <p:sp>
        <p:nvSpPr>
          <p:cNvPr id="287" name="Google Shape;287;p39"/>
          <p:cNvSpPr txBox="1"/>
          <p:nvPr>
            <p:ph idx="4" type="subTitle"/>
          </p:nvPr>
        </p:nvSpPr>
        <p:spPr>
          <a:xfrm>
            <a:off x="3189650" y="2178425"/>
            <a:ext cx="2842500" cy="73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Partnership with an existing LVAD manufacturer</a:t>
            </a:r>
            <a:endParaRPr/>
          </a:p>
        </p:txBody>
      </p:sp>
      <p:sp>
        <p:nvSpPr>
          <p:cNvPr id="288" name="Google Shape;288;p39"/>
          <p:cNvSpPr txBox="1"/>
          <p:nvPr>
            <p:ph idx="5" type="subTitle"/>
          </p:nvPr>
        </p:nvSpPr>
        <p:spPr>
          <a:xfrm>
            <a:off x="6032150" y="2840500"/>
            <a:ext cx="2464200" cy="14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Char char="●"/>
            </a:pPr>
            <a:r>
              <a:rPr lang="en" sz="1400">
                <a:solidFill>
                  <a:schemeClr val="accent1"/>
                </a:solidFill>
              </a:rPr>
              <a:t>Higher revenue potential</a:t>
            </a:r>
            <a:endParaRPr sz="1400"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Char char="●"/>
            </a:pPr>
            <a:r>
              <a:rPr lang="en" sz="1400">
                <a:solidFill>
                  <a:schemeClr val="accent1"/>
                </a:solidFill>
              </a:rPr>
              <a:t>Full control</a:t>
            </a:r>
            <a:endParaRPr sz="1400"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lbert Sans"/>
              <a:buChar char="●"/>
            </a:pPr>
            <a:r>
              <a:rPr lang="en" sz="1400">
                <a:solidFill>
                  <a:srgbClr val="FF0000"/>
                </a:solidFill>
              </a:rPr>
              <a:t>Longer and more involved sales cycle</a:t>
            </a:r>
            <a:endParaRPr sz="1400">
              <a:solidFill>
                <a:srgbClr val="FF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lbert Sans"/>
              <a:buChar char="●"/>
            </a:pPr>
            <a:r>
              <a:rPr lang="en" sz="1400">
                <a:solidFill>
                  <a:srgbClr val="FF0000"/>
                </a:solidFill>
              </a:rPr>
              <a:t>Higher upfront costs</a:t>
            </a:r>
            <a:endParaRPr sz="14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9"/>
          <p:cNvSpPr txBox="1"/>
          <p:nvPr>
            <p:ph idx="6" type="subTitle"/>
          </p:nvPr>
        </p:nvSpPr>
        <p:spPr>
          <a:xfrm>
            <a:off x="6032150" y="2178425"/>
            <a:ext cx="2842500" cy="73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Direct Sales to hospitals and healthcare providers</a:t>
            </a:r>
            <a:endParaRPr/>
          </a:p>
        </p:txBody>
      </p:sp>
      <p:sp>
        <p:nvSpPr>
          <p:cNvPr id="290" name="Google Shape;290;p39"/>
          <p:cNvSpPr txBox="1"/>
          <p:nvPr>
            <p:ph idx="4" type="subTitle"/>
          </p:nvPr>
        </p:nvSpPr>
        <p:spPr>
          <a:xfrm>
            <a:off x="3698901" y="1033300"/>
            <a:ext cx="3869400" cy="73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lexandria"/>
                <a:ea typeface="Alexandria"/>
                <a:cs typeface="Alexandria"/>
                <a:sym typeface="Alexandria"/>
              </a:rPr>
              <a:t>Two options for market entry:</a:t>
            </a:r>
            <a:endParaRPr b="1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91" name="Google Shape;291;p39"/>
          <p:cNvSpPr/>
          <p:nvPr/>
        </p:nvSpPr>
        <p:spPr>
          <a:xfrm>
            <a:off x="1279350" y="1360150"/>
            <a:ext cx="2249100" cy="6735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0"/>
          <p:cNvSpPr txBox="1"/>
          <p:nvPr>
            <p:ph idx="1" type="subTitle"/>
          </p:nvPr>
        </p:nvSpPr>
        <p:spPr>
          <a:xfrm>
            <a:off x="1256125" y="2308200"/>
            <a:ext cx="2907600" cy="21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●"/>
            </a:pPr>
            <a:r>
              <a:rPr lang="en" sz="1400"/>
              <a:t>Royalty percentage: </a:t>
            </a:r>
            <a:r>
              <a:rPr b="1" lang="en" sz="1400">
                <a:solidFill>
                  <a:srgbClr val="6AA84F"/>
                </a:solidFill>
              </a:rPr>
              <a:t>3-8% of gross sales</a:t>
            </a:r>
            <a:endParaRPr b="1" sz="1400">
              <a:solidFill>
                <a:srgbClr val="6AA84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●"/>
            </a:pPr>
            <a:r>
              <a:rPr lang="en" sz="1400"/>
              <a:t>Development and regulatory costs: </a:t>
            </a:r>
            <a:r>
              <a:rPr b="1" lang="en" sz="1400">
                <a:solidFill>
                  <a:srgbClr val="FF0000"/>
                </a:solidFill>
              </a:rPr>
              <a:t>$10 million</a:t>
            </a:r>
            <a:endParaRPr b="1" sz="1400">
              <a:solidFill>
                <a:srgbClr val="FF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/>
              <a:t>Assuming speedy market adoption, this venture would break even </a:t>
            </a:r>
            <a:r>
              <a:rPr b="1" lang="en" sz="1400"/>
              <a:t>soon after FDA approval</a:t>
            </a:r>
            <a:endParaRPr sz="1400"/>
          </a:p>
        </p:txBody>
      </p:sp>
      <p:sp>
        <p:nvSpPr>
          <p:cNvPr id="297" name="Google Shape;297;p40"/>
          <p:cNvSpPr txBox="1"/>
          <p:nvPr>
            <p:ph type="title"/>
          </p:nvPr>
        </p:nvSpPr>
        <p:spPr>
          <a:xfrm>
            <a:off x="642450" y="300825"/>
            <a:ext cx="7713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Financial Projections: Partnership vs Direct Sales</a:t>
            </a:r>
            <a:endParaRPr sz="2400"/>
          </a:p>
        </p:txBody>
      </p:sp>
      <p:sp>
        <p:nvSpPr>
          <p:cNvPr id="298" name="Google Shape;298;p40"/>
          <p:cNvSpPr txBox="1"/>
          <p:nvPr>
            <p:ph idx="2" type="subTitle"/>
          </p:nvPr>
        </p:nvSpPr>
        <p:spPr>
          <a:xfrm>
            <a:off x="5113025" y="2308200"/>
            <a:ext cx="2907600" cy="21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●"/>
            </a:pPr>
            <a:r>
              <a:rPr lang="en" sz="1400"/>
              <a:t>Gross profit</a:t>
            </a:r>
            <a:r>
              <a:rPr lang="en" sz="1400">
                <a:solidFill>
                  <a:srgbClr val="595959"/>
                </a:solidFill>
              </a:rPr>
              <a:t>: </a:t>
            </a:r>
            <a:r>
              <a:rPr b="1" lang="en" sz="1400">
                <a:solidFill>
                  <a:srgbClr val="6AA84F"/>
                </a:solidFill>
              </a:rPr>
              <a:t>$50k per LVAD unit</a:t>
            </a:r>
            <a:endParaRPr b="1" sz="1400">
              <a:solidFill>
                <a:srgbClr val="6AA84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●"/>
            </a:pPr>
            <a:r>
              <a:rPr lang="en" sz="1400"/>
              <a:t>Development and regulatory costs: </a:t>
            </a:r>
            <a:r>
              <a:rPr b="1" lang="en" sz="1400">
                <a:solidFill>
                  <a:srgbClr val="FF0000"/>
                </a:solidFill>
              </a:rPr>
              <a:t>$60 million</a:t>
            </a:r>
            <a:endParaRPr b="1" sz="1400">
              <a:solidFill>
                <a:srgbClr val="FF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" sz="1400"/>
              <a:t>Revenue and gross margins explode after FDA approval</a:t>
            </a:r>
            <a:r>
              <a:rPr lang="en" sz="1400"/>
              <a:t> and increases in production capacity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0"/>
          <p:cNvSpPr txBox="1"/>
          <p:nvPr/>
        </p:nvSpPr>
        <p:spPr>
          <a:xfrm>
            <a:off x="642450" y="1713825"/>
            <a:ext cx="21318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5110E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Partnership</a:t>
            </a:r>
            <a:endParaRPr sz="1800">
              <a:solidFill>
                <a:srgbClr val="15110E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300" name="Google Shape;300;p40"/>
          <p:cNvSpPr txBox="1"/>
          <p:nvPr/>
        </p:nvSpPr>
        <p:spPr>
          <a:xfrm>
            <a:off x="5023450" y="1573500"/>
            <a:ext cx="21318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5110E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Direct Sales</a:t>
            </a:r>
            <a:endParaRPr sz="1800">
              <a:solidFill>
                <a:srgbClr val="15110E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301" name="Google Shape;301;p40"/>
          <p:cNvSpPr txBox="1"/>
          <p:nvPr/>
        </p:nvSpPr>
        <p:spPr>
          <a:xfrm>
            <a:off x="866400" y="919675"/>
            <a:ext cx="7411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Securing premarket authorization from the FDA will take at least 3-5 years. Once approved, however, </a:t>
            </a:r>
            <a:r>
              <a:rPr b="1" lang="en" sz="16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superior LVAD models can quickly take over the LVAD market</a:t>
            </a:r>
            <a:endParaRPr sz="1600">
              <a:solidFill>
                <a:schemeClr val="dk1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41"/>
          <p:cNvPicPr preferRelativeResize="0"/>
          <p:nvPr/>
        </p:nvPicPr>
        <p:blipFill rotWithShape="1">
          <a:blip r:embed="rId3">
            <a:alphaModFix/>
          </a:blip>
          <a:srcRect b="9942" l="0" r="0" t="12501"/>
          <a:stretch/>
        </p:blipFill>
        <p:spPr>
          <a:xfrm>
            <a:off x="250919" y="0"/>
            <a:ext cx="864218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4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76250"/>
            <a:ext cx="9144001" cy="6096000"/>
          </a:xfrm>
          <a:prstGeom prst="rect">
            <a:avLst/>
          </a:prstGeom>
        </p:spPr>
      </p:pic>
      <p:sp>
        <p:nvSpPr>
          <p:cNvPr id="312" name="Google Shape;312;p42"/>
          <p:cNvSpPr txBox="1"/>
          <p:nvPr/>
        </p:nvSpPr>
        <p:spPr>
          <a:xfrm>
            <a:off x="2689400" y="882675"/>
            <a:ext cx="50754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type="ctrTitle"/>
          </p:nvPr>
        </p:nvSpPr>
        <p:spPr>
          <a:xfrm>
            <a:off x="5626925" y="3361050"/>
            <a:ext cx="2865600" cy="11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Thanks!</a:t>
            </a:r>
            <a:endParaRPr sz="5200"/>
          </a:p>
        </p:txBody>
      </p:sp>
      <p:sp>
        <p:nvSpPr>
          <p:cNvPr id="318" name="Google Shape;318;p43"/>
          <p:cNvSpPr/>
          <p:nvPr/>
        </p:nvSpPr>
        <p:spPr>
          <a:xfrm>
            <a:off x="0" y="4635600"/>
            <a:ext cx="2683500" cy="507900"/>
          </a:xfrm>
          <a:prstGeom prst="rect">
            <a:avLst/>
          </a:prstGeom>
          <a:solidFill>
            <a:srgbClr val="FEFFF6"/>
          </a:solidFill>
          <a:ln cap="flat" cmpd="sng" w="9525">
            <a:solidFill>
              <a:srgbClr val="FEFF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Albert Sans"/>
                <a:ea typeface="Albert Sans"/>
                <a:cs typeface="Albert Sans"/>
                <a:sym typeface="Albert Sans"/>
              </a:rPr>
              <a:t>CREDITS: This </a:t>
            </a:r>
            <a:r>
              <a:rPr lang="en" sz="900">
                <a:latin typeface="Albert Sans"/>
                <a:ea typeface="Albert Sans"/>
                <a:cs typeface="Albert Sans"/>
                <a:sym typeface="Albert Sans"/>
              </a:rPr>
              <a:t>Presentation template was created by </a:t>
            </a:r>
            <a:r>
              <a:rPr b="1" lang="en" sz="900">
                <a:latin typeface="Albert Sans"/>
                <a:ea typeface="Albert Sans"/>
                <a:cs typeface="Albert Sans"/>
                <a:sym typeface="Albert Sans"/>
              </a:rPr>
              <a:t>Slidesgo</a:t>
            </a:r>
            <a:r>
              <a:rPr lang="en" sz="900"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b="1" lang="en" sz="900">
                <a:latin typeface="Albert Sans"/>
                <a:ea typeface="Albert Sans"/>
                <a:cs typeface="Albert Sans"/>
                <a:sym typeface="Albert Sans"/>
              </a:rPr>
              <a:t>Flatcon</a:t>
            </a:r>
            <a:r>
              <a:rPr lang="en" sz="900">
                <a:latin typeface="Albert Sans"/>
                <a:ea typeface="Albert Sans"/>
                <a:cs typeface="Albert Sans"/>
                <a:sym typeface="Albert Sans"/>
              </a:rPr>
              <a:t> and infographics &amp; images by </a:t>
            </a:r>
            <a:r>
              <a:rPr b="1" lang="en" sz="900">
                <a:latin typeface="Albert Sans"/>
                <a:ea typeface="Albert Sans"/>
                <a:cs typeface="Albert Sans"/>
                <a:sym typeface="Albert Sans"/>
              </a:rPr>
              <a:t>Freepik</a:t>
            </a:r>
            <a:endParaRPr sz="900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9" name="Google Shape;319;p43"/>
          <p:cNvSpPr/>
          <p:nvPr/>
        </p:nvSpPr>
        <p:spPr>
          <a:xfrm>
            <a:off x="4638350" y="2234050"/>
            <a:ext cx="2550600" cy="507900"/>
          </a:xfrm>
          <a:prstGeom prst="rect">
            <a:avLst/>
          </a:prstGeom>
          <a:solidFill>
            <a:srgbClr val="FEFFF6"/>
          </a:solidFill>
          <a:ln cap="flat" cmpd="sng" w="9525">
            <a:solidFill>
              <a:srgbClr val="FEFF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320" name="Google Shape;32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551" y="1095525"/>
            <a:ext cx="5341124" cy="241537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43"/>
          <p:cNvSpPr txBox="1"/>
          <p:nvPr/>
        </p:nvSpPr>
        <p:spPr>
          <a:xfrm>
            <a:off x="5721425" y="656925"/>
            <a:ext cx="27711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“</a:t>
            </a:r>
            <a:r>
              <a:rPr b="1" lang="en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Eliminating Driveline Complications by Eliminating the Driveline”</a:t>
            </a:r>
            <a:endParaRPr b="1" sz="3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4"/>
          <p:cNvSpPr txBox="1"/>
          <p:nvPr/>
        </p:nvSpPr>
        <p:spPr>
          <a:xfrm>
            <a:off x="290750" y="1180725"/>
            <a:ext cx="2656500" cy="26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Since our proposed innovation is a </a:t>
            </a:r>
            <a:r>
              <a:rPr b="1"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functional improvement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we will apply for a </a:t>
            </a:r>
            <a:r>
              <a:rPr b="1"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utility-type patent 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and this gives us a </a:t>
            </a:r>
            <a:r>
              <a:rPr b="1"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20-year term 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from the effective filing date.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As our core inventive concept has already been established and is ready to present, we will take action to file a </a:t>
            </a:r>
            <a:r>
              <a:rPr b="1"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provisional/non-provisional application 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to the U.S. patent office.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7" name="Google Shape;327;p44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 1 - Patents</a:t>
            </a:r>
            <a:endParaRPr/>
          </a:p>
        </p:txBody>
      </p:sp>
      <p:pic>
        <p:nvPicPr>
          <p:cNvPr id="328" name="Google Shape;32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2775" y="535000"/>
            <a:ext cx="3590276" cy="84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5100" y="1464526"/>
            <a:ext cx="2564601" cy="89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9650" y="2507751"/>
            <a:ext cx="5504184" cy="248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4"/>
          <p:cNvSpPr txBox="1"/>
          <p:nvPr/>
        </p:nvSpPr>
        <p:spPr>
          <a:xfrm>
            <a:off x="3463800" y="1000950"/>
            <a:ext cx="1694100" cy="12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https://www.medtechdive.com/news/abbott-wins-breakthrough-tag-for-fully-implantable-lvad-system-following-m/571670/</a:t>
            </a:r>
            <a:endParaRPr sz="6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32" name="Google Shape;332;p44"/>
          <p:cNvSpPr txBox="1"/>
          <p:nvPr/>
        </p:nvSpPr>
        <p:spPr>
          <a:xfrm>
            <a:off x="3678600" y="1703675"/>
            <a:ext cx="27765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Stein, Aaron1; Kovacevic, Milovan1; Aung Kyaw, Phyo1; Anderson, Russell2; Verma, Resy2; Provos, John2; Brandmire, Adam2; Iudice, Jeffrey2. CARD14: Wireless Transcutaneous Energy Transfer and Control System for Powering a Fully-Implanted Left-Ventricular Assist System. ASAIO Journal 69(Supplement 2):p 64, June 2023. | DOI: 10.1097/01.mat.0000943580.83459.85 </a:t>
            </a:r>
            <a:endParaRPr sz="5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5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 2 - Supporting Infection Info </a:t>
            </a:r>
            <a:endParaRPr/>
          </a:p>
        </p:txBody>
      </p:sp>
      <p:pic>
        <p:nvPicPr>
          <p:cNvPr id="338" name="Google Shape;33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150" y="1236038"/>
            <a:ext cx="5943600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5"/>
          <p:cNvSpPr txBox="1"/>
          <p:nvPr/>
        </p:nvSpPr>
        <p:spPr>
          <a:xfrm>
            <a:off x="2834550" y="2722925"/>
            <a:ext cx="4223100" cy="12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FFFFFF"/>
                </a:highlight>
              </a:rPr>
              <a:t> Figure 2. Chance of each complication happening with each successive device within a 2-3 year implantation. 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6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 3 - Market Analysis (LVAD Infections)</a:t>
            </a:r>
            <a:endParaRPr/>
          </a:p>
        </p:txBody>
      </p:sp>
      <p:pic>
        <p:nvPicPr>
          <p:cNvPr id="345" name="Google Shape;34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343" y="2322956"/>
            <a:ext cx="7204056" cy="2097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025" y="1252875"/>
            <a:ext cx="5310166" cy="87301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6"/>
          <p:cNvSpPr txBox="1"/>
          <p:nvPr/>
        </p:nvSpPr>
        <p:spPr>
          <a:xfrm>
            <a:off x="-1600" y="4420400"/>
            <a:ext cx="91440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Akhter SA, Badami A, Murray M, Kohmoto T, Lozonschi L, Osaki S, Lushaj EB. Hospital Readmissions After Continuous-Flow Left Ventricular Assist Device Implantation: Incidence, Causes, and Cost Analysis. Ann Thorac Surg. 2015 Sep;100(3):884-9. doi: 10.1016/j.athoracsur.2015.03.010. Epub 2015 Jun 19. PMID: 26095106.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ead Funnel by Slidesgo">
  <a:themeElements>
    <a:clrScheme name="Simple Light">
      <a:dk1>
        <a:srgbClr val="15110E"/>
      </a:dk1>
      <a:lt1>
        <a:srgbClr val="FEFFF6"/>
      </a:lt1>
      <a:dk2>
        <a:srgbClr val="C2F5CC"/>
      </a:dk2>
      <a:lt2>
        <a:srgbClr val="52B878"/>
      </a:lt2>
      <a:accent1>
        <a:srgbClr val="13693B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10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