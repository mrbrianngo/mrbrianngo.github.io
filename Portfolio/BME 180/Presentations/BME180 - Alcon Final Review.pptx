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9" r:id="rId2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010400" cy="9296400"/>
  <p:embeddedFontLst>
    <p:embeddedFont>
      <p:font typeface="Open Sans" panose="020B0606030504020204" pitchFamily="34" charset="0"/>
      <p:regular r:id="rId23"/>
      <p:bold r:id="rId24"/>
      <p:italic r:id="rId25"/>
      <p:boldItalic r:id="rId26"/>
    </p:embeddedFont>
    <p:embeddedFont>
      <p:font typeface="Open Sans ExtraBold" panose="020F0502020204030204" pitchFamily="34" charset="0"/>
      <p:bold r:id="rId27"/>
      <p:italic r:id="rId28"/>
      <p:boldItalic r:id="rId29"/>
    </p:embeddedFont>
    <p:embeddedFont>
      <p:font typeface="Open Sans Medium" pitchFamily="2" charset="0"/>
      <p:regular r:id="rId30"/>
      <p:bold r:id="rId31"/>
      <p:italic r:id="rId32"/>
      <p:boldItalic r:id="rId33"/>
    </p:embeddedFont>
    <p:embeddedFont>
      <p:font typeface="Open Sans SemiBold" panose="020F0502020204030204" pitchFamily="34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0" roundtripDataSignature="AMtx7mg7RoX2ukqhw9i8HzLt4h8JxJaw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DE4222B-5AF9-4738-ABD1-3863A9E5C772}">
  <a:tblStyle styleId="{CDE4222B-5AF9-4738-ABD1-3863A9E5C77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6"/>
  </p:normalViewPr>
  <p:slideViewPr>
    <p:cSldViewPr snapToGrid="0">
      <p:cViewPr varScale="1">
        <p:scale>
          <a:sx n="103" d="100"/>
          <a:sy n="103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4.fntdata"/><Relationship Id="rId21" Type="http://schemas.openxmlformats.org/officeDocument/2006/relationships/slide" Target="slides/slide19.xml"/><Relationship Id="rId34" Type="http://schemas.openxmlformats.org/officeDocument/2006/relationships/font" Target="fonts/font12.fntdata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7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customschemas.google.com/relationships/presentationmetadata" Target="meta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9.fntdata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3.fntdata"/><Relationship Id="rId33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7840" cy="466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75" tIns="46575" rIns="93175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938" y="0"/>
            <a:ext cx="3037840" cy="466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75" tIns="46575" rIns="93175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7550" y="1162050"/>
            <a:ext cx="5575300" cy="3136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75" tIns="46575" rIns="93175" bIns="4657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967"/>
            <a:ext cx="3037840" cy="466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75" tIns="46575" rIns="93175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5a3c0287e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5a3c0287e4_0_0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g35a3c0287e4_0_0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5a3c0287e4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5a3c0287e4_0_13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g35a3c0287e4_0_13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5b6695e2ef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5b6695e2ef_0_3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5b6695e2ef_0_3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5b6695e2e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5b6695e2ef_0_10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g35b6695e2ef_0_10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5b6695e2ef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5b6695e2ef_0_25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g35b6695e2ef_0_25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5b6695e2ef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5b6695e2ef_0_54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g35b6695e2ef_0_54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5ccf9843c3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5ccf9843c3_0_41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g35ccf9843c3_0_41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5b6695e2ef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5b6695e2ef_0_47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g35b6695e2ef_0_47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5b6695e2e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5b6695e2ef_0_61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g35b6695e2ef_0_61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5b6695e2ef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5b6695e2ef_0_68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35b6695e2ef_0_68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5ccf9843c3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5ccf9843c3_0_2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g35ccf9843c3_0_2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5ccf9843c3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5ccf9843c3_0_26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g35ccf9843c3_0_26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5ccf9843c3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5ccf9843c3_0_91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g35ccf9843c3_0_91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5ccf9843c3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5ccf9843c3_0_104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g35ccf9843c3_0_104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5ccf9843c3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5ccf9843c3_0_110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g35ccf9843c3_0_110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5ccf9843c3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5ccf9843c3_0_116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g35ccf9843c3_0_116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5ccf9843c3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200" cy="313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5ccf9843c3_0_122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200" cy="3660600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35ccf9843c3_0_122:notes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00" cy="466500"/>
          </a:xfrm>
          <a:prstGeom prst="rect">
            <a:avLst/>
          </a:prstGeom>
        </p:spPr>
        <p:txBody>
          <a:bodyPr spcFirstLastPara="1" wrap="square" lIns="93175" tIns="46575" rIns="93175" bIns="465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:notes"/>
          <p:cNvSpPr txBox="1">
            <a:spLocks noGrp="1"/>
          </p:cNvSpPr>
          <p:nvPr>
            <p:ph type="body" idx="1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spcFirstLastPara="1" wrap="square" lIns="93175" tIns="46575" rIns="93175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4"/>
          <p:cNvSpPr txBox="1">
            <a:spLocks noGrp="1"/>
          </p:cNvSpPr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sz="3600" b="1" i="0" u="none" strike="noStrike" cap="non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subTitle" idx="1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4" name="Google Shape;14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0057" y="551145"/>
            <a:ext cx="1541840" cy="42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6599581" y="0"/>
            <a:ext cx="569843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6"/>
          <p:cNvSpPr txBox="1">
            <a:spLocks noGrp="1"/>
          </p:cNvSpPr>
          <p:nvPr>
            <p:ph type="ctrTitle"/>
          </p:nvPr>
        </p:nvSpPr>
        <p:spPr>
          <a:xfrm>
            <a:off x="820057" y="2378583"/>
            <a:ext cx="5441847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sz="3600" b="1" i="0" u="none" strike="noStrike" cap="non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subTitle" idx="1"/>
          </p:nvPr>
        </p:nvSpPr>
        <p:spPr>
          <a:xfrm>
            <a:off x="820057" y="3740658"/>
            <a:ext cx="5441847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0" name="Google Shape;20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0057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59024" y="0"/>
            <a:ext cx="7275443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7"/>
          <p:cNvSpPr txBox="1">
            <a:spLocks noGrp="1"/>
          </p:cNvSpPr>
          <p:nvPr>
            <p:ph type="ctrTitle"/>
          </p:nvPr>
        </p:nvSpPr>
        <p:spPr>
          <a:xfrm>
            <a:off x="7407797" y="2378583"/>
            <a:ext cx="4537276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ExtraBold"/>
              <a:buNone/>
              <a:defRPr sz="3200" b="1" i="0" u="none" strike="noStrike" cap="non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subTitle" idx="1"/>
          </p:nvPr>
        </p:nvSpPr>
        <p:spPr>
          <a:xfrm>
            <a:off x="7407797" y="3740658"/>
            <a:ext cx="4537276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6" name="Google Shape;26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350976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Blank">
  <p:cSld name="4_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18"/>
          <p:cNvSpPr txBox="1">
            <a:spLocks noGrp="1"/>
          </p:cNvSpPr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sz="3600" b="1" i="0" u="none" strike="noStrike" cap="non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subTitle" idx="1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31" name="Google Shape;31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0057" y="6445477"/>
            <a:ext cx="643164" cy="175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Blank">
  <p:cSld name="5_Blank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9"/>
          <p:cNvSpPr txBox="1">
            <a:spLocks noGrp="1"/>
          </p:cNvSpPr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sz="3600" b="1" i="0" u="none" strike="noStrike" cap="non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ubTitle" idx="1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36" name="Google Shape;36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0057" y="6445477"/>
            <a:ext cx="643164" cy="175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38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20"/>
          <p:cNvSpPr txBox="1">
            <a:spLocks noGrp="1"/>
          </p:cNvSpPr>
          <p:nvPr>
            <p:ph type="ctrTitle"/>
          </p:nvPr>
        </p:nvSpPr>
        <p:spPr>
          <a:xfrm>
            <a:off x="820057" y="3719115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sz="3600" b="1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subTitle" idx="1"/>
          </p:nvPr>
        </p:nvSpPr>
        <p:spPr>
          <a:xfrm>
            <a:off x="820057" y="5081190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Blank">
  <p:cSld name="6_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1"/>
          <p:cNvSpPr txBox="1">
            <a:spLocks noGrp="1"/>
          </p:cNvSpPr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sz="3600" b="1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subTitle" idx="1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7" name="Google Shape;47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Blank">
  <p:cSld name="7_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2"/>
          <p:cNvSpPr txBox="1">
            <a:spLocks noGrp="1"/>
          </p:cNvSpPr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sz="3600" b="1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subTitle" idx="1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2" name="Google Shape;52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Blank">
  <p:cSld name="8_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23"/>
          <p:cNvSpPr txBox="1">
            <a:spLocks noGrp="1"/>
          </p:cNvSpPr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sz="3600" b="1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subTitle" idx="1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Blank">
  <p:cSld name="9_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24"/>
          <p:cNvSpPr txBox="1">
            <a:spLocks noGrp="1"/>
          </p:cNvSpPr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sz="3600" b="1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subTitle" idx="1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62" name="Google Shape;62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21129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08738" y="0"/>
            <a:ext cx="448326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7"/>
          <p:cNvSpPr txBox="1">
            <a:spLocks noGrp="1"/>
          </p:cNvSpPr>
          <p:nvPr>
            <p:ph type="ctrTitle"/>
          </p:nvPr>
        </p:nvSpPr>
        <p:spPr>
          <a:xfrm>
            <a:off x="820057" y="781277"/>
            <a:ext cx="4412343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  <a:defRPr sz="2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ubTitle" idx="1"/>
          </p:nvPr>
        </p:nvSpPr>
        <p:spPr>
          <a:xfrm>
            <a:off x="820057" y="2143352"/>
            <a:ext cx="4412343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 b="1" i="0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77" name="Google Shape;77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412242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7"/>
          <p:cNvSpPr txBox="1">
            <a:spLocks noGrp="1"/>
          </p:cNvSpPr>
          <p:nvPr>
            <p:ph type="body" idx="2"/>
          </p:nvPr>
        </p:nvSpPr>
        <p:spPr>
          <a:xfrm>
            <a:off x="820057" y="6021388"/>
            <a:ext cx="3913187" cy="422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8"/>
          <p:cNvSpPr txBox="1">
            <a:spLocks noGrp="1"/>
          </p:cNvSpPr>
          <p:nvPr>
            <p:ph type="body" idx="1"/>
          </p:nvPr>
        </p:nvSpPr>
        <p:spPr>
          <a:xfrm>
            <a:off x="838200" y="1494971"/>
            <a:ext cx="10515600" cy="4681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9"/>
          <p:cNvSpPr txBox="1">
            <a:spLocks noGrp="1"/>
          </p:cNvSpPr>
          <p:nvPr>
            <p:ph type="title"/>
          </p:nvPr>
        </p:nvSpPr>
        <p:spPr>
          <a:xfrm>
            <a:off x="839788" y="365126"/>
            <a:ext cx="10515600" cy="106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 b="1" i="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5" name="Google Shape;85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 b="1" i="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7" name="Google Shape;87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2"/>
          <p:cNvSpPr txBox="1">
            <a:spLocks noGrp="1"/>
          </p:cNvSpPr>
          <p:nvPr>
            <p:ph type="body" idx="1"/>
          </p:nvPr>
        </p:nvSpPr>
        <p:spPr>
          <a:xfrm>
            <a:off x="5183188" y="1608881"/>
            <a:ext cx="6172200" cy="4252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2"/>
          </p:nvPr>
        </p:nvSpPr>
        <p:spPr>
          <a:xfrm>
            <a:off x="839788" y="1607945"/>
            <a:ext cx="3932237" cy="4261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97" name="Google Shape;97;p13"/>
          <p:cNvSpPr txBox="1">
            <a:spLocks noGrp="1"/>
          </p:cNvSpPr>
          <p:nvPr>
            <p:ph type="title"/>
          </p:nvPr>
        </p:nvSpPr>
        <p:spPr>
          <a:xfrm>
            <a:off x="838200" y="5018148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820057" y="6046798"/>
            <a:ext cx="10533743" cy="469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b="1" i="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99" name="Google Shape;99;p13"/>
          <p:cNvGrpSpPr/>
          <p:nvPr/>
        </p:nvGrpSpPr>
        <p:grpSpPr>
          <a:xfrm>
            <a:off x="665580" y="1336329"/>
            <a:ext cx="1377609" cy="1377609"/>
            <a:chOff x="665580" y="1336329"/>
            <a:chExt cx="1377609" cy="1377609"/>
          </a:xfrm>
        </p:grpSpPr>
        <p:sp>
          <p:nvSpPr>
            <p:cNvPr id="100" name="Google Shape;100;p13"/>
            <p:cNvSpPr/>
            <p:nvPr/>
          </p:nvSpPr>
          <p:spPr>
            <a:xfrm>
              <a:off x="751889" y="1422638"/>
              <a:ext cx="1204989" cy="1204989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101" name="Google Shape;101;p1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65580" y="1336329"/>
              <a:ext cx="1377609" cy="137760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wo Content">
  <p:cSld name="1_Two Conten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body" idx="1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5" name="Google Shape;105;p14"/>
          <p:cNvSpPr>
            <a:spLocks noGrp="1"/>
          </p:cNvSpPr>
          <p:nvPr>
            <p:ph type="pic" idx="2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</p:sp>
      <p:sp>
        <p:nvSpPr>
          <p:cNvPr id="106" name="Google Shape;106;p14"/>
          <p:cNvSpPr/>
          <p:nvPr/>
        </p:nvSpPr>
        <p:spPr>
          <a:xfrm>
            <a:off x="838200" y="6100763"/>
            <a:ext cx="5181600" cy="1444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wo Content">
  <p:cSld name="2_Two Content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body" idx="1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15"/>
          <p:cNvSpPr>
            <a:spLocks noGrp="1"/>
          </p:cNvSpPr>
          <p:nvPr>
            <p:ph type="pic" idx="2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</p:sp>
      <p:sp>
        <p:nvSpPr>
          <p:cNvPr id="111" name="Google Shape;111;p15"/>
          <p:cNvSpPr/>
          <p:nvPr/>
        </p:nvSpPr>
        <p:spPr>
          <a:xfrm>
            <a:off x="838200" y="6040583"/>
            <a:ext cx="5181600" cy="204644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2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image" Target="../media/image12.pn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  <a:defRPr sz="2800" b="1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body" idx="1"/>
          </p:nvPr>
        </p:nvSpPr>
        <p:spPr>
          <a:xfrm>
            <a:off x="838200" y="1494971"/>
            <a:ext cx="10515600" cy="4681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pic>
        <p:nvPicPr>
          <p:cNvPr id="66" name="Google Shape;66;p5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5"/>
          <p:cNvSpPr txBox="1"/>
          <p:nvPr/>
        </p:nvSpPr>
        <p:spPr>
          <a:xfrm>
            <a:off x="4544568" y="6445477"/>
            <a:ext cx="680923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Business Use Only | </a:t>
            </a:r>
            <a:fld id="{00000000-1234-1234-1234-123412341234}" type="slidenum">
              <a:rPr lang="en-US" sz="700" b="0" i="0" u="none" strike="noStrike" cap="non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r>
              <a:rPr lang="en-US" sz="700" b="0" i="0" u="none" strike="noStrike" cap="non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jpg"/><Relationship Id="rId4" Type="http://schemas.openxmlformats.org/officeDocument/2006/relationships/image" Target="../media/image25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"/>
          <p:cNvSpPr txBox="1">
            <a:spLocks noGrp="1"/>
          </p:cNvSpPr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</a:pPr>
            <a:r>
              <a:rPr lang="en-US"/>
              <a:t>Final Review</a:t>
            </a:r>
            <a:endParaRPr/>
          </a:p>
        </p:txBody>
      </p:sp>
      <p:sp>
        <p:nvSpPr>
          <p:cNvPr id="117" name="Google Shape;117;p1"/>
          <p:cNvSpPr txBox="1">
            <a:spLocks noGrp="1"/>
          </p:cNvSpPr>
          <p:nvPr>
            <p:ph type="subTitle" idx="1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</a:pPr>
            <a:r>
              <a:rPr lang="en-US"/>
              <a:t>Automated Metal Particulate for Alcon</a:t>
            </a:r>
            <a:endParaRPr/>
          </a:p>
        </p:txBody>
      </p:sp>
      <p:sp>
        <p:nvSpPr>
          <p:cNvPr id="118" name="Google Shape;118;p1"/>
          <p:cNvSpPr txBox="1"/>
          <p:nvPr/>
        </p:nvSpPr>
        <p:spPr>
          <a:xfrm>
            <a:off x="820057" y="4551861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lang="en-US" sz="1600" b="1">
                <a:solidFill>
                  <a:schemeClr val="lt1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Mentors: Camille Lo Porciuncula, Tom Schacht, Diego Cueto, Daj Rasberry, Dr. King</a:t>
            </a:r>
            <a:endParaRPr sz="1600" b="1">
              <a:solidFill>
                <a:schemeClr val="lt1"/>
              </a:solidFill>
              <a:latin typeface="Open Sans SemiBold"/>
              <a:ea typeface="Open Sans SemiBold"/>
              <a:cs typeface="Open Sans SemiBold"/>
              <a:sym typeface="Open Sans SemiBold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lang="en-US" sz="1600" b="1">
                <a:solidFill>
                  <a:schemeClr val="lt1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Team Members: Isaac Hoyt, Matthew Luong, Yolanda Gomez, Tandol Mathew Jerthsattayanukul, Brian Ngo, Landon Stein</a:t>
            </a:r>
            <a:endParaRPr sz="1600" b="1">
              <a:solidFill>
                <a:schemeClr val="lt1"/>
              </a:solidFill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5a3c0287e4_0_0"/>
          <p:cNvSpPr txBox="1">
            <a:spLocks noGrp="1"/>
          </p:cNvSpPr>
          <p:nvPr>
            <p:ph type="title"/>
          </p:nvPr>
        </p:nvSpPr>
        <p:spPr>
          <a:xfrm>
            <a:off x="839788" y="365126"/>
            <a:ext cx="10515600" cy="1066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Overview</a:t>
            </a:r>
            <a:endParaRPr sz="3600"/>
          </a:p>
        </p:txBody>
      </p:sp>
      <p:sp>
        <p:nvSpPr>
          <p:cNvPr id="125" name="Google Shape;125;g35a3c0287e4_0_0"/>
          <p:cNvSpPr txBox="1">
            <a:spLocks noGrp="1"/>
          </p:cNvSpPr>
          <p:nvPr>
            <p:ph type="body" idx="1"/>
          </p:nvPr>
        </p:nvSpPr>
        <p:spPr>
          <a:xfrm>
            <a:off x="839788" y="919163"/>
            <a:ext cx="5157900" cy="823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Problem</a:t>
            </a:r>
            <a:endParaRPr/>
          </a:p>
        </p:txBody>
      </p:sp>
      <p:sp>
        <p:nvSpPr>
          <p:cNvPr id="126" name="Google Shape;126;g35a3c0287e4_0_0"/>
          <p:cNvSpPr txBox="1">
            <a:spLocks noGrp="1"/>
          </p:cNvSpPr>
          <p:nvPr>
            <p:ph type="body" idx="2"/>
          </p:nvPr>
        </p:nvSpPr>
        <p:spPr>
          <a:xfrm>
            <a:off x="839788" y="1743075"/>
            <a:ext cx="5157900" cy="3684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23850" algn="l" rtl="0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-US" sz="2100"/>
              <a:t>Handpieces can contain titanium particles leftover from the machining</a:t>
            </a:r>
            <a:endParaRPr sz="21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-US" sz="2100"/>
              <a:t>Manual particle counting:</a:t>
            </a:r>
            <a:endParaRPr sz="21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-US" sz="1700"/>
              <a:t>inefficient</a:t>
            </a:r>
            <a:endParaRPr sz="17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-US" sz="1700"/>
              <a:t>can bottleneck the manufacturing process</a:t>
            </a:r>
            <a:endParaRPr sz="1700"/>
          </a:p>
        </p:txBody>
      </p:sp>
      <p:sp>
        <p:nvSpPr>
          <p:cNvPr id="127" name="Google Shape;127;g35a3c0287e4_0_0"/>
          <p:cNvSpPr txBox="1">
            <a:spLocks noGrp="1"/>
          </p:cNvSpPr>
          <p:nvPr>
            <p:ph type="body" idx="3"/>
          </p:nvPr>
        </p:nvSpPr>
        <p:spPr>
          <a:xfrm>
            <a:off x="6172200" y="919163"/>
            <a:ext cx="5183100" cy="823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Objective</a:t>
            </a:r>
            <a:endParaRPr/>
          </a:p>
        </p:txBody>
      </p:sp>
      <p:sp>
        <p:nvSpPr>
          <p:cNvPr id="128" name="Google Shape;128;g35a3c0287e4_0_0"/>
          <p:cNvSpPr txBox="1">
            <a:spLocks noGrp="1"/>
          </p:cNvSpPr>
          <p:nvPr>
            <p:ph type="body" idx="4"/>
          </p:nvPr>
        </p:nvSpPr>
        <p:spPr>
          <a:xfrm>
            <a:off x="6172200" y="1743075"/>
            <a:ext cx="5183100" cy="3684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23850" algn="l" rtl="0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-US" sz="2100"/>
              <a:t>Develop an improved process for executing the metal particulate test on Alcon’s handpiece manufacturing line</a:t>
            </a:r>
            <a:endParaRPr sz="21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-US" sz="2100"/>
              <a:t>Needs to be automated, efficient, and accurate</a:t>
            </a:r>
            <a:endParaRPr sz="2100"/>
          </a:p>
        </p:txBody>
      </p:sp>
      <p:pic>
        <p:nvPicPr>
          <p:cNvPr id="129" name="Google Shape;129;g35a3c0287e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06313" y="3740800"/>
            <a:ext cx="2314876" cy="2645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g35a3c0287e4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09625" y="3713425"/>
            <a:ext cx="2018251" cy="270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5a3c0287e4_0_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Overview</a:t>
            </a:r>
            <a:endParaRPr sz="3600"/>
          </a:p>
        </p:txBody>
      </p:sp>
      <p:graphicFrame>
        <p:nvGraphicFramePr>
          <p:cNvPr id="137" name="Google Shape;137;g35a3c0287e4_0_13"/>
          <p:cNvGraphicFramePr/>
          <p:nvPr/>
        </p:nvGraphicFramePr>
        <p:xfrm>
          <a:off x="2252450" y="1544325"/>
          <a:ext cx="7687100" cy="3108810"/>
        </p:xfrm>
        <a:graphic>
          <a:graphicData uri="http://schemas.openxmlformats.org/drawingml/2006/table">
            <a:tbl>
              <a:tblPr>
                <a:noFill/>
                <a:tableStyleId>{CDE4222B-5AF9-4738-ABD1-3863A9E5C772}</a:tableStyleId>
              </a:tblPr>
              <a:tblGrid>
                <a:gridCol w="210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Autonomous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Needs to identify and analyze metal particulate autonomously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Pass/Fail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Time-Efficient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Needs to be faster than the current method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Time &lt; 20-30 minutes per quantity 10 work order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Cost-Efficient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Needs to be an affordable device for the company to reproduce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Cost &lt; $2000 (Senior Design Budget)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Identifies Particle Count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Quantifies the particulate count per given area and measures the size of each individual particle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Pass/Fail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Determines Safe for Use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Needs to determine if the handpiece is ready for production given Alcon’s testing criteria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Pass/Fail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38" name="Google Shape;138;g35a3c0287e4_0_13"/>
          <p:cNvGraphicFramePr/>
          <p:nvPr/>
        </p:nvGraphicFramePr>
        <p:xfrm>
          <a:off x="2252450" y="4653075"/>
          <a:ext cx="7687100" cy="1828710"/>
        </p:xfrm>
        <a:graphic>
          <a:graphicData uri="http://schemas.openxmlformats.org/drawingml/2006/table">
            <a:tbl>
              <a:tblPr>
                <a:noFill/>
                <a:tableStyleId>{CDE4222B-5AF9-4738-ABD1-3863A9E5C772}</a:tableStyleId>
              </a:tblPr>
              <a:tblGrid>
                <a:gridCol w="210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Records Necessary Information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Needs the documentation of each handpiece once it has passed the test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Pass/Fail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Integration of AI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Machine learning software can improve the accuracy of the script we are using to analyze particulate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Pass/Fail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Useability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How accessible and easy-to-use is our prototype to technicians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Pass/Fail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8EF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9" name="Google Shape;139;g35a3c0287e4_0_13"/>
          <p:cNvSpPr txBox="1">
            <a:spLocks noGrp="1"/>
          </p:cNvSpPr>
          <p:nvPr>
            <p:ph type="body" idx="1"/>
          </p:nvPr>
        </p:nvSpPr>
        <p:spPr>
          <a:xfrm>
            <a:off x="3517050" y="1101520"/>
            <a:ext cx="5157900" cy="45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accent1"/>
                </a:solidFill>
              </a:rPr>
              <a:t>System Design Requirements</a:t>
            </a:r>
            <a:endParaRPr b="1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5b6695e2ef_0_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Overview</a:t>
            </a:r>
            <a:endParaRPr sz="3600"/>
          </a:p>
        </p:txBody>
      </p:sp>
      <p:pic>
        <p:nvPicPr>
          <p:cNvPr id="146" name="Google Shape;146;g35b6695e2ef_0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750" y="1887525"/>
            <a:ext cx="6053823" cy="33449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g35b6695e2ef_0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56427" y="1887543"/>
            <a:ext cx="6053823" cy="33449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5b6695e2ef_0_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Hardware Design Criteria</a:t>
            </a:r>
            <a:endParaRPr sz="3600"/>
          </a:p>
        </p:txBody>
      </p:sp>
      <p:graphicFrame>
        <p:nvGraphicFramePr>
          <p:cNvPr id="154" name="Google Shape;154;g35b6695e2ef_0_10"/>
          <p:cNvGraphicFramePr/>
          <p:nvPr/>
        </p:nvGraphicFramePr>
        <p:xfrm>
          <a:off x="938000" y="1517900"/>
          <a:ext cx="7687100" cy="2286000"/>
        </p:xfrm>
        <a:graphic>
          <a:graphicData uri="http://schemas.openxmlformats.org/drawingml/2006/table">
            <a:tbl>
              <a:tblPr>
                <a:noFill/>
                <a:tableStyleId>{CDE4222B-5AF9-4738-ABD1-3863A9E5C772}</a:tableStyleId>
              </a:tblPr>
              <a:tblGrid>
                <a:gridCol w="2363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3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Precision and Accuracy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Ability to accurately pinpoint and survey the entire particulate filter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Automation Capability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Ability to reduce manual work for analyzing the particulate filter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Cost Effectiveness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Total cost of the method with 5 being the most cost effective strategy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Speed of Operation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Time it takes to analyze the particulate filter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User-Friendly Interface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How easy and accessible it is to use the method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Maintenance Requirements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How easy and efficient to maintain the system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A9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5" name="Google Shape;155;g35b6695e2ef_0_10"/>
          <p:cNvSpPr txBox="1"/>
          <p:nvPr/>
        </p:nvSpPr>
        <p:spPr>
          <a:xfrm>
            <a:off x="2552400" y="1044300"/>
            <a:ext cx="44583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Overall Mechanical Design</a:t>
            </a:r>
            <a:endParaRPr sz="2400" b="1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6" name="Google Shape;156;g35b6695e2ef_0_10"/>
          <p:cNvSpPr txBox="1"/>
          <p:nvPr/>
        </p:nvSpPr>
        <p:spPr>
          <a:xfrm>
            <a:off x="838200" y="3742900"/>
            <a:ext cx="6753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latin typeface="Open Sans Medium"/>
                <a:ea typeface="Open Sans Medium"/>
                <a:cs typeface="Open Sans Medium"/>
                <a:sym typeface="Open Sans Medium"/>
              </a:rPr>
              <a:t>Scale is a 1-5 scale with 5 being the most proficient and 1 being the least proficient</a:t>
            </a:r>
            <a:br>
              <a:rPr lang="en-US" sz="1000">
                <a:latin typeface="Open Sans Medium"/>
                <a:ea typeface="Open Sans Medium"/>
                <a:cs typeface="Open Sans Medium"/>
                <a:sym typeface="Open Sans Medium"/>
              </a:rPr>
            </a:br>
            <a:endParaRPr sz="1000"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graphicFrame>
        <p:nvGraphicFramePr>
          <p:cNvPr id="157" name="Google Shape;157;g35b6695e2ef_0_10"/>
          <p:cNvGraphicFramePr/>
          <p:nvPr/>
        </p:nvGraphicFramePr>
        <p:xfrm>
          <a:off x="938000" y="4418100"/>
          <a:ext cx="7687100" cy="1905000"/>
        </p:xfrm>
        <a:graphic>
          <a:graphicData uri="http://schemas.openxmlformats.org/drawingml/2006/table">
            <a:tbl>
              <a:tblPr>
                <a:noFill/>
                <a:tableStyleId>{CDE4222B-5AF9-4738-ABD1-3863A9E5C772}</a:tableStyleId>
              </a:tblPr>
              <a:tblGrid>
                <a:gridCol w="2363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3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Components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Description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X-Y Stage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Allows movement to cover the entire filter membrane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Stepper Motors 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Allows movement of knobs to displace stage 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Stepper Motor Modules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For precise positioning and movement control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Arduino Mega 2560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Microcontroller for controlling stage controller movement</a:t>
                      </a:r>
                      <a:endParaRPr sz="1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030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8" name="Google Shape;158;g35b6695e2ef_0_10"/>
          <p:cNvSpPr txBox="1"/>
          <p:nvPr/>
        </p:nvSpPr>
        <p:spPr>
          <a:xfrm>
            <a:off x="2552400" y="3944500"/>
            <a:ext cx="44583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Hardware Components</a:t>
            </a:r>
            <a:endParaRPr sz="2400" b="1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59" name="Google Shape;159;g35b6695e2ef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7963" y="332575"/>
            <a:ext cx="2286024" cy="17774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g35b6695e2ef_0_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77963" y="1898902"/>
            <a:ext cx="2286027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g35b6695e2ef_0_10" title="apiry7i23__57904.1548550805__61826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186088" y="3944512"/>
            <a:ext cx="2669763" cy="2669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b6695e2ef_0_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Chosen Design - Stage Controller</a:t>
            </a:r>
            <a:endParaRPr sz="3600"/>
          </a:p>
        </p:txBody>
      </p:sp>
      <p:sp>
        <p:nvSpPr>
          <p:cNvPr id="168" name="Google Shape;168;g35b6695e2ef_0_25"/>
          <p:cNvSpPr>
            <a:spLocks noGrp="1"/>
          </p:cNvSpPr>
          <p:nvPr>
            <p:ph type="pic" idx="2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graphicFrame>
        <p:nvGraphicFramePr>
          <p:cNvPr id="169" name="Google Shape;169;g35b6695e2ef_0_25"/>
          <p:cNvGraphicFramePr/>
          <p:nvPr/>
        </p:nvGraphicFramePr>
        <p:xfrm>
          <a:off x="6502175" y="1889825"/>
          <a:ext cx="4721925" cy="4287000"/>
        </p:xfrm>
        <a:graphic>
          <a:graphicData uri="http://schemas.openxmlformats.org/drawingml/2006/table">
            <a:tbl>
              <a:tblPr>
                <a:noFill/>
                <a:tableStyleId>{CDE4222B-5AF9-4738-ABD1-3863A9E5C772}</a:tableStyleId>
              </a:tblPr>
              <a:tblGrid>
                <a:gridCol w="1340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1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4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Part #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Name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Knobs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2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Motor Holder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3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Stage Top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4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4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Rails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4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5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Bracket</a:t>
                      </a:r>
                      <a:endParaRPr sz="1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5b6695e2ef_0_5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Chosen Design - Circuitry</a:t>
            </a:r>
            <a:endParaRPr sz="3600"/>
          </a:p>
        </p:txBody>
      </p:sp>
      <p:sp>
        <p:nvSpPr>
          <p:cNvPr id="176" name="Google Shape;176;g35b6695e2ef_0_54"/>
          <p:cNvSpPr txBox="1">
            <a:spLocks noGrp="1"/>
          </p:cNvSpPr>
          <p:nvPr>
            <p:ph type="body" idx="1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7" name="Google Shape;177;g35b6695e2ef_0_54" title="circuit_imag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3225" y="1153825"/>
            <a:ext cx="3960400" cy="4933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5ccf9843c3_0_4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Chosen Design - Movement</a:t>
            </a:r>
            <a:endParaRPr sz="3600"/>
          </a:p>
        </p:txBody>
      </p:sp>
      <p:sp>
        <p:nvSpPr>
          <p:cNvPr id="184" name="Google Shape;184;g35ccf9843c3_0_41"/>
          <p:cNvSpPr txBox="1"/>
          <p:nvPr/>
        </p:nvSpPr>
        <p:spPr>
          <a:xfrm>
            <a:off x="3651451" y="1391575"/>
            <a:ext cx="4889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Stage Controller Workflow</a:t>
            </a:r>
            <a:endParaRPr sz="2400" b="1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85" name="Google Shape;185;g35ccf9843c3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88" y="1974175"/>
            <a:ext cx="12095227" cy="3921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5b6695e2ef_0_4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Chosen Design - Complete Set-up</a:t>
            </a:r>
            <a:endParaRPr sz="3600"/>
          </a:p>
        </p:txBody>
      </p:sp>
      <p:sp>
        <p:nvSpPr>
          <p:cNvPr id="192" name="Google Shape;192;g35b6695e2ef_0_47"/>
          <p:cNvSpPr txBox="1">
            <a:spLocks noGrp="1"/>
          </p:cNvSpPr>
          <p:nvPr>
            <p:ph type="body" idx="1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Under a microscope: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Moves in a snake pattern capturing a section of the filter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Stops momentarily to take an image before moving again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Will continue until the entire area is captured</a:t>
            </a:r>
            <a:endParaRPr/>
          </a:p>
        </p:txBody>
      </p:sp>
      <p:sp>
        <p:nvSpPr>
          <p:cNvPr id="193" name="Google Shape;193;g35b6695e2ef_0_47"/>
          <p:cNvSpPr>
            <a:spLocks noGrp="1"/>
          </p:cNvSpPr>
          <p:nvPr>
            <p:ph type="pic" idx="2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5b6695e2ef_0_6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Chosen Design - Microscope</a:t>
            </a:r>
            <a:endParaRPr sz="3600"/>
          </a:p>
        </p:txBody>
      </p:sp>
      <p:sp>
        <p:nvSpPr>
          <p:cNvPr id="200" name="Google Shape;200;g35b6695e2ef_0_61"/>
          <p:cNvSpPr txBox="1">
            <a:spLocks noGrp="1"/>
          </p:cNvSpPr>
          <p:nvPr>
            <p:ph type="body" idx="1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5b6695e2ef_0_61"/>
          <p:cNvSpPr>
            <a:spLocks noGrp="1"/>
          </p:cNvSpPr>
          <p:nvPr>
            <p:ph type="pic" idx="2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5b6695e2ef_0_6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Software Requirements</a:t>
            </a:r>
            <a:endParaRPr sz="3600"/>
          </a:p>
        </p:txBody>
      </p:sp>
      <p:pic>
        <p:nvPicPr>
          <p:cNvPr id="208" name="Google Shape;208;g35b6695e2ef_0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0962" y="1908475"/>
            <a:ext cx="9390074" cy="416015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g35b6695e2ef_0_68"/>
          <p:cNvSpPr txBox="1"/>
          <p:nvPr/>
        </p:nvSpPr>
        <p:spPr>
          <a:xfrm>
            <a:off x="3866838" y="1402075"/>
            <a:ext cx="44583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House of Quality</a:t>
            </a:r>
            <a:endParaRPr sz="2400" b="1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5ccf9843c3_0_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Software Requirements</a:t>
            </a:r>
            <a:endParaRPr sz="3600"/>
          </a:p>
        </p:txBody>
      </p:sp>
      <p:sp>
        <p:nvSpPr>
          <p:cNvPr id="216" name="Google Shape;216;g35ccf9843c3_0_2"/>
          <p:cNvSpPr txBox="1"/>
          <p:nvPr/>
        </p:nvSpPr>
        <p:spPr>
          <a:xfrm>
            <a:off x="3263403" y="1183975"/>
            <a:ext cx="5665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Overall Software Design Criteria</a:t>
            </a:r>
            <a:endParaRPr sz="2400" b="1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aphicFrame>
        <p:nvGraphicFramePr>
          <p:cNvPr id="217" name="Google Shape;217;g35ccf9843c3_0_2"/>
          <p:cNvGraphicFramePr/>
          <p:nvPr/>
        </p:nvGraphicFramePr>
        <p:xfrm>
          <a:off x="2146200" y="1796725"/>
          <a:ext cx="7899600" cy="4206000"/>
        </p:xfrm>
        <a:graphic>
          <a:graphicData uri="http://schemas.openxmlformats.org/drawingml/2006/table">
            <a:tbl>
              <a:tblPr>
                <a:noFill/>
                <a:tableStyleId>{CDE4222B-5AF9-4738-ABD1-3863A9E5C772}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Particle detection automation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Minimise technician involvement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Particle detection accuracy 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Must accurately reject non-titanium particles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Particle size measurement automation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Minimise technician involvement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Particle size measurement accuracy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Must be equivalent to technician measurement accuracy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Integration with existing hardware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Must be plug-and-play, should not unnecessarily increase amount of hardware needed for test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Image processing speed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Should be faster than or equal to technician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Store and track particle data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ID number, centroid location, size measurements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User-friendly interface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Generates report for technician </a:t>
                      </a:r>
                      <a:endParaRPr sz="15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A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5ccf9843c3_0_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Software Requirements</a:t>
            </a:r>
            <a:endParaRPr sz="3600"/>
          </a:p>
        </p:txBody>
      </p:sp>
      <p:sp>
        <p:nvSpPr>
          <p:cNvPr id="224" name="Google Shape;224;g35ccf9843c3_0_26"/>
          <p:cNvSpPr txBox="1">
            <a:spLocks noGrp="1"/>
          </p:cNvSpPr>
          <p:nvPr>
            <p:ph type="body" idx="1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YOLO (You Only Look Once)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High speed real-time image processing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Single-stage object detection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Train on two object classes: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Identify titanium particles for further measurement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Reject non-titanium particles</a:t>
            </a:r>
            <a:endParaRPr/>
          </a:p>
        </p:txBody>
      </p:sp>
      <p:pic>
        <p:nvPicPr>
          <p:cNvPr id="225" name="Google Shape;225;g35ccf9843c3_0_26" descr="GitHub - ultralytics/yolov5: YOLOv5 🚀 in PyTorch &gt; ONNX &gt; CoreML &gt; TFLit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1784" y="2009176"/>
            <a:ext cx="5056342" cy="3364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5ccf9843c3_0_9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Chosen Design - Image Analysis</a:t>
            </a:r>
            <a:endParaRPr sz="3600"/>
          </a:p>
        </p:txBody>
      </p:sp>
      <p:sp>
        <p:nvSpPr>
          <p:cNvPr id="232" name="Google Shape;232;g35ccf9843c3_0_91"/>
          <p:cNvSpPr txBox="1"/>
          <p:nvPr/>
        </p:nvSpPr>
        <p:spPr>
          <a:xfrm>
            <a:off x="3651451" y="1391575"/>
            <a:ext cx="4889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Image Analysis Flow Chart</a:t>
            </a:r>
            <a:endParaRPr sz="2400" b="1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33" name="Google Shape;233;g35ccf9843c3_0_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8825" y="1929475"/>
            <a:ext cx="10454351" cy="4283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5ccf9843c3_0_10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Validation</a:t>
            </a:r>
            <a:endParaRPr sz="3600"/>
          </a:p>
        </p:txBody>
      </p:sp>
      <p:sp>
        <p:nvSpPr>
          <p:cNvPr id="240" name="Google Shape;240;g35ccf9843c3_0_104"/>
          <p:cNvSpPr txBox="1">
            <a:spLocks noGrp="1"/>
          </p:cNvSpPr>
          <p:nvPr>
            <p:ph type="body" idx="1"/>
          </p:nvPr>
        </p:nvSpPr>
        <p:spPr>
          <a:xfrm>
            <a:off x="838200" y="1494971"/>
            <a:ext cx="10515600" cy="4682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5ccf9843c3_0_1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Verification Tests</a:t>
            </a:r>
            <a:endParaRPr sz="3600"/>
          </a:p>
        </p:txBody>
      </p:sp>
      <p:sp>
        <p:nvSpPr>
          <p:cNvPr id="247" name="Google Shape;247;g35ccf9843c3_0_110"/>
          <p:cNvSpPr txBox="1">
            <a:spLocks noGrp="1"/>
          </p:cNvSpPr>
          <p:nvPr>
            <p:ph type="body" idx="1"/>
          </p:nvPr>
        </p:nvSpPr>
        <p:spPr>
          <a:xfrm>
            <a:off x="838200" y="1494971"/>
            <a:ext cx="10515600" cy="4682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5ccf9843c3_0_1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Test Procedures</a:t>
            </a:r>
            <a:endParaRPr sz="3600"/>
          </a:p>
        </p:txBody>
      </p:sp>
      <p:sp>
        <p:nvSpPr>
          <p:cNvPr id="254" name="Google Shape;254;g35ccf9843c3_0_116"/>
          <p:cNvSpPr txBox="1">
            <a:spLocks noGrp="1"/>
          </p:cNvSpPr>
          <p:nvPr>
            <p:ph type="body" idx="1"/>
          </p:nvPr>
        </p:nvSpPr>
        <p:spPr>
          <a:xfrm>
            <a:off x="838200" y="1494971"/>
            <a:ext cx="10515600" cy="4682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5ccf9843c3_0_1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4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Future Goals</a:t>
            </a:r>
            <a:endParaRPr sz="3600"/>
          </a:p>
        </p:txBody>
      </p:sp>
      <p:sp>
        <p:nvSpPr>
          <p:cNvPr id="261" name="Google Shape;261;g35ccf9843c3_0_122"/>
          <p:cNvSpPr txBox="1">
            <a:spLocks noGrp="1"/>
          </p:cNvSpPr>
          <p:nvPr>
            <p:ph type="body" idx="1"/>
          </p:nvPr>
        </p:nvSpPr>
        <p:spPr>
          <a:xfrm>
            <a:off x="838200" y="1494971"/>
            <a:ext cx="10515600" cy="4682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"/>
          <p:cNvSpPr txBox="1">
            <a:spLocks noGrp="1"/>
          </p:cNvSpPr>
          <p:nvPr>
            <p:ph type="title"/>
          </p:nvPr>
        </p:nvSpPr>
        <p:spPr>
          <a:xfrm>
            <a:off x="838200" y="4851814"/>
            <a:ext cx="10515600" cy="9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Open Sans ExtraBold"/>
              <a:buNone/>
            </a:pPr>
            <a:r>
              <a:rPr lang="en-US" sz="6000"/>
              <a:t>Thank You!</a:t>
            </a:r>
            <a:br>
              <a:rPr lang="en-US" sz="3200"/>
            </a:br>
            <a:r>
              <a:rPr lang="en-US" sz="3200"/>
              <a:t> </a:t>
            </a:r>
            <a:endParaRPr/>
          </a:p>
        </p:txBody>
      </p:sp>
      <p:pic>
        <p:nvPicPr>
          <p:cNvPr id="267" name="Google Shape;267;p2" title="alcountblu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63400" y="1065087"/>
            <a:ext cx="5665199" cy="3786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Alcon Color Palette">
      <a:dk1>
        <a:srgbClr val="000000"/>
      </a:dk1>
      <a:lt1>
        <a:srgbClr val="FFFFFF"/>
      </a:lt1>
      <a:dk2>
        <a:srgbClr val="003493"/>
      </a:dk2>
      <a:lt2>
        <a:srgbClr val="F5EEE3"/>
      </a:lt2>
      <a:accent1>
        <a:srgbClr val="00AEEF"/>
      </a:accent1>
      <a:accent2>
        <a:srgbClr val="DEC9A5"/>
      </a:accent2>
      <a:accent3>
        <a:srgbClr val="F36E20"/>
      </a:accent3>
      <a:accent4>
        <a:srgbClr val="00A990"/>
      </a:accent4>
      <a:accent5>
        <a:srgbClr val="512773"/>
      </a:accent5>
      <a:accent6>
        <a:srgbClr val="9B1A2F"/>
      </a:accent6>
      <a:hlink>
        <a:srgbClr val="00AEEF"/>
      </a:hlink>
      <a:folHlink>
        <a:srgbClr val="00748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Alcon Corporate PPT Theme">
      <a:dk1>
        <a:srgbClr val="000000"/>
      </a:dk1>
      <a:lt1>
        <a:srgbClr val="FFFFFF"/>
      </a:lt1>
      <a:dk2>
        <a:srgbClr val="003493"/>
      </a:dk2>
      <a:lt2>
        <a:srgbClr val="F5EEE3"/>
      </a:lt2>
      <a:accent1>
        <a:srgbClr val="00AEEF"/>
      </a:accent1>
      <a:accent2>
        <a:srgbClr val="DEC9A5"/>
      </a:accent2>
      <a:accent3>
        <a:srgbClr val="F36E20"/>
      </a:accent3>
      <a:accent4>
        <a:srgbClr val="03AF4B"/>
      </a:accent4>
      <a:accent5>
        <a:srgbClr val="512773"/>
      </a:accent5>
      <a:accent6>
        <a:srgbClr val="9B1A2F"/>
      </a:accent6>
      <a:hlink>
        <a:srgbClr val="00AEEF"/>
      </a:hlink>
      <a:folHlink>
        <a:srgbClr val="00748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614</Words>
  <Application>Microsoft Macintosh PowerPoint</Application>
  <PresentationFormat>Widescreen</PresentationFormat>
  <Paragraphs>143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Calibri</vt:lpstr>
      <vt:lpstr>Open Sans</vt:lpstr>
      <vt:lpstr>Open Sans Medium</vt:lpstr>
      <vt:lpstr>Open Sans SemiBold</vt:lpstr>
      <vt:lpstr>Open Sans ExtraBold</vt:lpstr>
      <vt:lpstr>Arial</vt:lpstr>
      <vt:lpstr>Custom Design</vt:lpstr>
      <vt:lpstr>Office Theme</vt:lpstr>
      <vt:lpstr>Final Review</vt:lpstr>
      <vt:lpstr>Overview</vt:lpstr>
      <vt:lpstr>Overview</vt:lpstr>
      <vt:lpstr>Overview</vt:lpstr>
      <vt:lpstr>Hardware Design Criteria</vt:lpstr>
      <vt:lpstr>Chosen Design - Stage Controller</vt:lpstr>
      <vt:lpstr>Chosen Design - Circuitry</vt:lpstr>
      <vt:lpstr>Chosen Design - Movement</vt:lpstr>
      <vt:lpstr>Chosen Design - Complete Set-up</vt:lpstr>
      <vt:lpstr>Chosen Design - Microscope</vt:lpstr>
      <vt:lpstr>Software Requirements</vt:lpstr>
      <vt:lpstr>Software Requirements</vt:lpstr>
      <vt:lpstr>Software Requirements</vt:lpstr>
      <vt:lpstr>Chosen Design - Image Analysis</vt:lpstr>
      <vt:lpstr>Validation</vt:lpstr>
      <vt:lpstr>Verification Tests</vt:lpstr>
      <vt:lpstr>Test Procedures</vt:lpstr>
      <vt:lpstr>Future Goals</vt:lpstr>
      <vt:lpstr>Thank You!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Porciuncula, Camille Lo(EXT)</dc:creator>
  <cp:lastModifiedBy>Isaac Hoyt</cp:lastModifiedBy>
  <cp:revision>1</cp:revision>
  <dcterms:created xsi:type="dcterms:W3CDTF">2024-01-09T18:17:46Z</dcterms:created>
  <dcterms:modified xsi:type="dcterms:W3CDTF">2025-05-28T20:32:07Z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4e47c19-e68f-4046-bf94-918d2dcc81ee_Enabled">
    <vt:lpwstr>true</vt:lpwstr>
  </property>
  <property fmtid="{D5CDD505-2E9C-101B-9397-08002B2CF9AE}" pid="3" name="MSIP_Label_a4e47c19-e68f-4046-bf94-918d2dcc81ee_SetDate">
    <vt:lpwstr>2023-07-17T19:58:28Z</vt:lpwstr>
  </property>
  <property fmtid="{D5CDD505-2E9C-101B-9397-08002B2CF9AE}" pid="4" name="MSIP_Label_a4e47c19-e68f-4046-bf94-918d2dcc81ee_Method">
    <vt:lpwstr>Standard</vt:lpwstr>
  </property>
  <property fmtid="{D5CDD505-2E9C-101B-9397-08002B2CF9AE}" pid="5" name="MSIP_Label_a4e47c19-e68f-4046-bf94-918d2dcc81ee_Name">
    <vt:lpwstr>Business Use Only</vt:lpwstr>
  </property>
  <property fmtid="{D5CDD505-2E9C-101B-9397-08002B2CF9AE}" pid="6" name="MSIP_Label_a4e47c19-e68f-4046-bf94-918d2dcc81ee_SiteId">
    <vt:lpwstr>34cd94b5-d86c-447f-8d9b-81b4ff94d329</vt:lpwstr>
  </property>
  <property fmtid="{D5CDD505-2E9C-101B-9397-08002B2CF9AE}" pid="7" name="MSIP_Label_a4e47c19-e68f-4046-bf94-918d2dcc81ee_ActionId">
    <vt:lpwstr>9925a2a2-6d3b-41af-83a1-058c5de39bc4</vt:lpwstr>
  </property>
  <property fmtid="{D5CDD505-2E9C-101B-9397-08002B2CF9AE}" pid="8" name="MSIP_Label_a4e47c19-e68f-4046-bf94-918d2dcc81ee_ContentBits">
    <vt:lpwstr>0</vt:lpwstr>
  </property>
</Properties>
</file>