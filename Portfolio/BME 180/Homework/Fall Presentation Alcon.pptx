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Yolanda Aolani Gomez"/>
  <p:cmAuthor clrIdx="1" id="1" initials="" lastIdx="1" name="Isaac Robert Hoyt"/>
  <p:cmAuthor clrIdx="2" id="2" initials="" lastIdx="1" name="Brian Ngo"/>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4-11-25T05:52:45.390">
    <p:pos x="196" y="678"/>
    <p:text>1. Would be good to have schematics of the handpiece, flowchart that describes the manufacturing process
2. Explain what the handpiece is and what it does, the testing process, and why we evaluate particles
3. How the evaluation is done right now and how we want to improve it</p:text>
  </p:cm>
  <p:cm authorId="0" idx="2" dt="2024-11-25T05:52:13.905">
    <p:pos x="196" y="778"/>
    <p:text>One person introduces activesentry surgical handpieces, one person introduces the existing particle evaluation system?</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1" dt="2024-11-24T20:52:24.453">
    <p:pos x="196" y="725"/>
    <p:text>I think that instead of directly scanning the handpiece we would most likely be analyzing a liquid sample that contains the particles, or the filter that traps the particles</p:text>
  </p:cm>
  <p:cm authorId="2" idx="1" dt="2024-11-24T16:49:47.458">
    <p:pos x="196" y="825"/>
    <p:text>Scalability and Efficiency: The manual inspection process is not scalable to meet the growing demand for Alcon’s Active Sentry handpieces, leading to bottlenecks in production. The proposed automated method is designed to address this limitation by being time-efficient and scalable.
Consistency and Accuracy: Manual inspection is subject to variability and potential human error, whereas the automated system ensures consistent results. The incorporation of advanced imaging and analysis tools eliminates subjective inconsistencies, ensuring higher precision in detecting and categorizing particulates.
Cost-Effectiveness: By reducing reliance on labor-intensive manual processes, the automated system minimizes operational costs while maintaining or enhancing quality control standards.</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3199761b4ba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3199761b4ba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164c444542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164c444542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164c444542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164c444542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18aeef9281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18aeef9281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189315bc4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189315bc4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164c44454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164c44454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10993 – Identification and quantification of</a:t>
            </a:r>
            <a:endParaRPr/>
          </a:p>
          <a:p>
            <a:pPr indent="0" lvl="0" marL="0" rtl="0" algn="l">
              <a:spcBef>
                <a:spcPts val="0"/>
              </a:spcBef>
              <a:spcAft>
                <a:spcPts val="0"/>
              </a:spcAft>
              <a:buNone/>
            </a:pPr>
            <a:r>
              <a:rPr lang="en"/>
              <a:t>degradation products from metals and alloys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788 – particulate matter in injections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62304 – software life cycles processes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16232 - Cleanliness of components and systems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13485 – </a:t>
            </a:r>
            <a:r>
              <a:rPr lang="en"/>
              <a:t>quality</a:t>
            </a:r>
            <a:r>
              <a:rPr lang="en"/>
              <a:t> management systems for regulatory purposes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ISO 12707 - non-destructive magnetic particle testing</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18fa8c785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18fa8c785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18aeef9281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18aeef9281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164c44454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164c44454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164c444542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164c444542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18aeef928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18aeef928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comments" Target="../comments/comment1.xml"/><Relationship Id="rId4" Type="http://schemas.openxmlformats.org/officeDocument/2006/relationships/hyperlink" Target="https://pmc.ncbi.nlm.nih.gov/articles/PMC2377378/" TargetMode="External"/><Relationship Id="rId5" Type="http://schemas.openxmlformats.org/officeDocument/2006/relationships/hyperlink" Target="https://www.casemine.com/judgement/us/5914b030add7b049347516ab/amp" TargetMode="External"/><Relationship Id="rId6" Type="http://schemas.openxmlformats.org/officeDocument/2006/relationships/hyperlink" Target="https://pmc.ncbi.nlm.nih.gov/articles/PMC5742953/"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comments" Target="../comments/commen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s://www.nelsonlabs.com/four-important-things-to-know-about-particulate-testing-and-medical-devices/" TargetMode="External"/><Relationship Id="rId4" Type="http://schemas.openxmlformats.org/officeDocument/2006/relationships/hyperlink" Target="https://medinstitute.com/services/medical-device-testing/particulate-matter-testing/" TargetMode="External"/><Relationship Id="rId11" Type="http://schemas.openxmlformats.org/officeDocument/2006/relationships/hyperlink" Target="https://www.beckman.com/resources/industry-standards/usp-787/light-obscuration-optical-method-for-particle-detection" TargetMode="External"/><Relationship Id="rId10" Type="http://schemas.openxmlformats.org/officeDocument/2006/relationships/hyperlink" Target="https://cdn.standards.iteh.ai/samples/70267/4fbcc91b58d7452f8141468f8166246d/ISO-16232-2018.pdf" TargetMode="External"/><Relationship Id="rId9" Type="http://schemas.openxmlformats.org/officeDocument/2006/relationships/hyperlink" Target="https://po-files.ks3-cn-beijing.ksyun.com/5f445d6af346fb3c83c3de37_6a3c46d361fc.pdf" TargetMode="External"/><Relationship Id="rId5" Type="http://schemas.openxmlformats.org/officeDocument/2006/relationships/hyperlink" Target="https://www.uspnf.com/sites/default/files/usp_pdf/EN/USPNF/revisionGeneralChapter788.pdf" TargetMode="External"/><Relationship Id="rId6" Type="http://schemas.openxmlformats.org/officeDocument/2006/relationships/hyperlink" Target="https://sentrysci.com/surface-particle-counter" TargetMode="External"/><Relationship Id="rId7" Type="http://schemas.openxmlformats.org/officeDocument/2006/relationships/hyperlink" Target="https://cdn.standards.iteh.ai/samples/68937/d2812ae466d04cabaaa1958e2acdcf8b/ISO-10993-15-2019.pdf" TargetMode="External"/><Relationship Id="rId8" Type="http://schemas.openxmlformats.org/officeDocument/2006/relationships/hyperlink" Target="https://www.uspnf.com/sites/default/files/usp_pdf/EN/USPNF/revisionGeneralChapter788.pdf"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156700"/>
            <a:ext cx="8520600" cy="19275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t/>
            </a:r>
            <a:endParaRPr sz="4080"/>
          </a:p>
          <a:p>
            <a:pPr indent="0" lvl="0" marL="0" rtl="0" algn="ctr">
              <a:spcBef>
                <a:spcPts val="0"/>
              </a:spcBef>
              <a:spcAft>
                <a:spcPts val="0"/>
              </a:spcAft>
              <a:buSzPts val="990"/>
              <a:buNone/>
            </a:pPr>
            <a:r>
              <a:t/>
            </a:r>
            <a:endParaRPr sz="4080"/>
          </a:p>
          <a:p>
            <a:pPr indent="0" lvl="0" marL="0" rtl="0" algn="ctr">
              <a:spcBef>
                <a:spcPts val="0"/>
              </a:spcBef>
              <a:spcAft>
                <a:spcPts val="0"/>
              </a:spcAft>
              <a:buSzPts val="990"/>
              <a:buNone/>
            </a:pPr>
            <a:r>
              <a:t/>
            </a:r>
            <a:endParaRPr sz="4080"/>
          </a:p>
          <a:p>
            <a:pPr indent="457200" lvl="0" marL="0" rtl="0" algn="ctr">
              <a:spcBef>
                <a:spcPts val="0"/>
              </a:spcBef>
              <a:spcAft>
                <a:spcPts val="0"/>
              </a:spcAft>
              <a:buSzPts val="990"/>
              <a:buNone/>
            </a:pPr>
            <a:r>
              <a:rPr lang="en" sz="4080"/>
              <a:t>Alcon: Automated Particulate Counting for Handpiece Production</a:t>
            </a:r>
            <a:endParaRPr sz="4080"/>
          </a:p>
        </p:txBody>
      </p:sp>
      <p:sp>
        <p:nvSpPr>
          <p:cNvPr id="55" name="Google Shape;55;p13"/>
          <p:cNvSpPr txBox="1"/>
          <p:nvPr>
            <p:ph idx="1" type="subTitle"/>
          </p:nvPr>
        </p:nvSpPr>
        <p:spPr>
          <a:xfrm>
            <a:off x="-464000" y="-892825"/>
            <a:ext cx="8520600" cy="792600"/>
          </a:xfrm>
          <a:prstGeom prst="rect">
            <a:avLst/>
          </a:prstGeom>
        </p:spPr>
        <p:txBody>
          <a:bodyPr anchorCtr="0" anchor="t" bIns="91425" lIns="91425" spcFirstLastPara="1" rIns="91425" wrap="square" tIns="91425">
            <a:normAutofit fontScale="32500" lnSpcReduction="10000"/>
          </a:bodyPr>
          <a:lstStyle/>
          <a:p>
            <a:pPr indent="0" lvl="0" marL="0" rtl="0" algn="l">
              <a:lnSpc>
                <a:spcPct val="115000"/>
              </a:lnSpc>
              <a:spcBef>
                <a:spcPts val="0"/>
              </a:spcBef>
              <a:spcAft>
                <a:spcPts val="0"/>
              </a:spcAft>
              <a:buClr>
                <a:schemeClr val="dk1"/>
              </a:buClr>
              <a:buSzPct val="39285"/>
              <a:buFont typeface="Arial"/>
              <a:buNone/>
            </a:pPr>
            <a:r>
              <a:rPr lang="en"/>
              <a:t>Title Slide (5 pts)</a:t>
            </a:r>
            <a:endParaRPr/>
          </a:p>
          <a:p>
            <a:pPr indent="0" lvl="0" marL="0" rtl="0" algn="l">
              <a:lnSpc>
                <a:spcPct val="115000"/>
              </a:lnSpc>
              <a:spcBef>
                <a:spcPts val="0"/>
              </a:spcBef>
              <a:spcAft>
                <a:spcPts val="0"/>
              </a:spcAft>
              <a:buClr>
                <a:schemeClr val="dk1"/>
              </a:buClr>
              <a:buSzPct val="39285"/>
              <a:buFont typeface="Arial"/>
              <a:buNone/>
            </a:pPr>
            <a:r>
              <a:rPr lang="en"/>
              <a:t>• Must include title of the project, names of the students, name and affiliation of the mentor.</a:t>
            </a:r>
            <a:endParaRPr/>
          </a:p>
          <a:p>
            <a:pPr indent="0" lvl="0" marL="0" rtl="0" algn="l">
              <a:lnSpc>
                <a:spcPct val="115000"/>
              </a:lnSpc>
              <a:spcBef>
                <a:spcPts val="0"/>
              </a:spcBef>
              <a:spcAft>
                <a:spcPts val="0"/>
              </a:spcAft>
              <a:buClr>
                <a:schemeClr val="dk1"/>
              </a:buClr>
              <a:buSzPct val="39285"/>
              <a:buFont typeface="Arial"/>
              <a:buNone/>
            </a:pPr>
            <a:r>
              <a:rPr lang="en"/>
              <a:t>Optional but nice to have – logo or slogan or company name of your team.</a:t>
            </a:r>
            <a:endParaRPr/>
          </a:p>
          <a:p>
            <a:pPr indent="0" lvl="0" marL="0" rtl="0" algn="ctr">
              <a:spcBef>
                <a:spcPts val="0"/>
              </a:spcBef>
              <a:spcAft>
                <a:spcPts val="0"/>
              </a:spcAft>
              <a:buNone/>
            </a:pPr>
            <a:r>
              <a:t/>
            </a:r>
            <a:endParaRPr/>
          </a:p>
        </p:txBody>
      </p:sp>
      <p:pic>
        <p:nvPicPr>
          <p:cNvPr id="56" name="Google Shape;56;p13"/>
          <p:cNvPicPr preferRelativeResize="0"/>
          <p:nvPr/>
        </p:nvPicPr>
        <p:blipFill rotWithShape="1">
          <a:blip r:embed="rId3">
            <a:alphaModFix/>
          </a:blip>
          <a:srcRect b="0" l="21666" r="20891" t="0"/>
          <a:stretch/>
        </p:blipFill>
        <p:spPr>
          <a:xfrm>
            <a:off x="7059800" y="3033651"/>
            <a:ext cx="2112998" cy="2069101"/>
          </a:xfrm>
          <a:prstGeom prst="rect">
            <a:avLst/>
          </a:prstGeom>
          <a:noFill/>
          <a:ln>
            <a:noFill/>
          </a:ln>
        </p:spPr>
      </p:pic>
      <p:sp>
        <p:nvSpPr>
          <p:cNvPr id="57" name="Google Shape;57;p13"/>
          <p:cNvSpPr txBox="1"/>
          <p:nvPr/>
        </p:nvSpPr>
        <p:spPr>
          <a:xfrm>
            <a:off x="1590450" y="1770800"/>
            <a:ext cx="5963100" cy="2817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600">
                <a:solidFill>
                  <a:schemeClr val="dk2"/>
                </a:solidFill>
              </a:rPr>
              <a:t>Team:</a:t>
            </a:r>
            <a:endParaRPr sz="1600">
              <a:solidFill>
                <a:schemeClr val="dk2"/>
              </a:solidFill>
            </a:endParaRPr>
          </a:p>
          <a:p>
            <a:pPr indent="0" lvl="0" marL="0" rtl="0" algn="ctr">
              <a:spcBef>
                <a:spcPts val="0"/>
              </a:spcBef>
              <a:spcAft>
                <a:spcPts val="0"/>
              </a:spcAft>
              <a:buNone/>
            </a:pPr>
            <a:r>
              <a:rPr lang="en" sz="1600">
                <a:solidFill>
                  <a:schemeClr val="dk2"/>
                </a:solidFill>
              </a:rPr>
              <a:t>Isaac</a:t>
            </a:r>
            <a:r>
              <a:rPr lang="en" sz="1600">
                <a:solidFill>
                  <a:schemeClr val="dk2"/>
                </a:solidFill>
              </a:rPr>
              <a:t> Hoyt, Brian Ngo, Matthew Luong, Yolanda Gomez, Tandol Jerthsattayanukul, Landon Stein.</a:t>
            </a:r>
            <a:endParaRPr sz="1600">
              <a:solidFill>
                <a:schemeClr val="dk2"/>
              </a:solidFill>
            </a:endParaRPr>
          </a:p>
          <a:p>
            <a:pPr indent="0" lvl="0" marL="0" rtl="0" algn="ctr">
              <a:spcBef>
                <a:spcPts val="0"/>
              </a:spcBef>
              <a:spcAft>
                <a:spcPts val="0"/>
              </a:spcAft>
              <a:buNone/>
            </a:pPr>
            <a:r>
              <a:rPr lang="en" sz="1600">
                <a:solidFill>
                  <a:schemeClr val="dk2"/>
                </a:solidFill>
              </a:rPr>
              <a:t>Mentors:</a:t>
            </a:r>
            <a:endParaRPr sz="1600">
              <a:solidFill>
                <a:schemeClr val="dk2"/>
              </a:solidFill>
            </a:endParaRPr>
          </a:p>
          <a:p>
            <a:pPr indent="0" lvl="0" marL="0" rtl="0" algn="ctr">
              <a:spcBef>
                <a:spcPts val="0"/>
              </a:spcBef>
              <a:spcAft>
                <a:spcPts val="0"/>
              </a:spcAft>
              <a:buNone/>
            </a:pPr>
            <a:r>
              <a:rPr lang="en" sz="1600">
                <a:solidFill>
                  <a:schemeClr val="dk2"/>
                </a:solidFill>
              </a:rPr>
              <a:t>Tom Schacht (Sr. Manager Manufacturing Engineering), </a:t>
            </a:r>
            <a:endParaRPr sz="1600">
              <a:solidFill>
                <a:schemeClr val="dk2"/>
              </a:solidFill>
            </a:endParaRPr>
          </a:p>
          <a:p>
            <a:pPr indent="0" lvl="0" marL="0" rtl="0" algn="ctr">
              <a:spcBef>
                <a:spcPts val="0"/>
              </a:spcBef>
              <a:spcAft>
                <a:spcPts val="0"/>
              </a:spcAft>
              <a:buNone/>
            </a:pPr>
            <a:r>
              <a:rPr lang="en" sz="1600">
                <a:solidFill>
                  <a:schemeClr val="dk2"/>
                </a:solidFill>
              </a:rPr>
              <a:t>Diego Cueto (Head of Manufacturing)</a:t>
            </a:r>
            <a:endParaRPr sz="1600">
              <a:solidFill>
                <a:schemeClr val="dk2"/>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Alcon Handpiece</a:t>
            </a:r>
            <a:endParaRPr/>
          </a:p>
        </p:txBody>
      </p:sp>
      <p:sp>
        <p:nvSpPr>
          <p:cNvPr id="63" name="Google Shape;63;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fda</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69" name="Google Shape;69;p15"/>
          <p:cNvSpPr txBox="1"/>
          <p:nvPr>
            <p:ph idx="1" type="body"/>
          </p:nvPr>
        </p:nvSpPr>
        <p:spPr>
          <a:xfrm>
            <a:off x="311700" y="1077738"/>
            <a:ext cx="8520600" cy="3416400"/>
          </a:xfrm>
          <a:prstGeom prst="rect">
            <a:avLst/>
          </a:prstGeom>
        </p:spPr>
        <p:txBody>
          <a:bodyPr anchorCtr="0" anchor="t" bIns="91425" lIns="91425" spcFirstLastPara="1" rIns="91425" wrap="square" tIns="91425">
            <a:normAutofit fontScale="77500" lnSpcReduction="20000"/>
          </a:bodyPr>
          <a:lstStyle/>
          <a:p>
            <a:pPr indent="0" lvl="0" marL="0" rtl="0" algn="l">
              <a:spcBef>
                <a:spcPts val="0"/>
              </a:spcBef>
              <a:spcAft>
                <a:spcPts val="0"/>
              </a:spcAft>
              <a:buClr>
                <a:schemeClr val="dk1"/>
              </a:buClr>
              <a:buSzPct val="100000"/>
              <a:buFont typeface="Arial"/>
              <a:buNone/>
            </a:pPr>
            <a:r>
              <a:rPr lang="en" sz="1100">
                <a:solidFill>
                  <a:schemeClr val="dk1"/>
                </a:solidFill>
              </a:rPr>
              <a:t>Introduction</a:t>
            </a:r>
            <a:r>
              <a:rPr lang="en" sz="1100">
                <a:solidFill>
                  <a:schemeClr val="dk1"/>
                </a:solidFill>
              </a:rPr>
              <a:t> and motivation (15 pts) </a:t>
            </a:r>
            <a:endParaRPr sz="1100">
              <a:solidFill>
                <a:schemeClr val="dk1"/>
              </a:solidFill>
              <a:highlight>
                <a:schemeClr val="accent6"/>
              </a:highlight>
            </a:endParaRPr>
          </a:p>
          <a:p>
            <a:pPr indent="0" lvl="0" marL="0" rtl="0" algn="l">
              <a:spcBef>
                <a:spcPts val="0"/>
              </a:spcBef>
              <a:spcAft>
                <a:spcPts val="0"/>
              </a:spcAft>
              <a:buClr>
                <a:schemeClr val="dk1"/>
              </a:buClr>
              <a:buSzPct val="100000"/>
              <a:buFont typeface="Arial"/>
              <a:buNone/>
            </a:pPr>
            <a:r>
              <a:rPr lang="en" sz="1100">
                <a:solidFill>
                  <a:schemeClr val="dk1"/>
                </a:solidFill>
              </a:rPr>
              <a:t>• W</a:t>
            </a:r>
            <a:r>
              <a:rPr lang="en" sz="1100">
                <a:solidFill>
                  <a:schemeClr val="dk1"/>
                </a:solidFill>
              </a:rPr>
              <a:t>hat is the </a:t>
            </a:r>
            <a:r>
              <a:rPr lang="en" sz="1100">
                <a:solidFill>
                  <a:schemeClr val="dk1"/>
                </a:solidFill>
              </a:rPr>
              <a:t>background </a:t>
            </a:r>
            <a:r>
              <a:rPr lang="en" sz="1100">
                <a:solidFill>
                  <a:schemeClr val="dk1"/>
                </a:solidFill>
              </a:rPr>
              <a:t>and the problem you are addressing? Why does the problem need to be</a:t>
            </a:r>
            <a:endParaRPr sz="1100">
              <a:solidFill>
                <a:schemeClr val="dk1"/>
              </a:solidFill>
            </a:endParaRPr>
          </a:p>
          <a:p>
            <a:pPr indent="0" lvl="0" marL="0" rtl="0" algn="l">
              <a:spcBef>
                <a:spcPts val="0"/>
              </a:spcBef>
              <a:spcAft>
                <a:spcPts val="0"/>
              </a:spcAft>
              <a:buNone/>
            </a:pPr>
            <a:r>
              <a:rPr lang="en" sz="1100">
                <a:solidFill>
                  <a:schemeClr val="dk1"/>
                </a:solidFill>
              </a:rPr>
              <a:t>Addressed?</a:t>
            </a:r>
            <a:endParaRPr sz="1100">
              <a:solidFill>
                <a:schemeClr val="dk1"/>
              </a:solidFill>
            </a:endParaRPr>
          </a:p>
          <a:p>
            <a:pPr indent="-282733" lvl="0" marL="457200" rtl="0" algn="l">
              <a:spcBef>
                <a:spcPts val="0"/>
              </a:spcBef>
              <a:spcAft>
                <a:spcPts val="0"/>
              </a:spcAft>
              <a:buClr>
                <a:schemeClr val="dk1"/>
              </a:buClr>
              <a:buSzPct val="100000"/>
              <a:buChar char="➔"/>
            </a:pPr>
            <a:r>
              <a:rPr lang="en" sz="1100">
                <a:solidFill>
                  <a:schemeClr val="dk1"/>
                </a:solidFill>
              </a:rPr>
              <a:t>Describe the problem, in-depth (pictures, stories, testimonials are great)</a:t>
            </a:r>
            <a:endParaRPr sz="1100">
              <a:solidFill>
                <a:schemeClr val="dk1"/>
              </a:solidFill>
            </a:endParaRPr>
          </a:p>
          <a:p>
            <a:pPr indent="-282733" lvl="1" marL="914400" rtl="0" algn="l">
              <a:spcBef>
                <a:spcPts val="0"/>
              </a:spcBef>
              <a:spcAft>
                <a:spcPts val="0"/>
              </a:spcAft>
              <a:buClr>
                <a:schemeClr val="dk1"/>
              </a:buClr>
              <a:buSzPct val="100000"/>
              <a:buChar char="◆"/>
            </a:pPr>
            <a:r>
              <a:rPr lang="en" sz="1100">
                <a:solidFill>
                  <a:schemeClr val="dk1"/>
                </a:solidFill>
              </a:rPr>
              <a:t>During manufacturing and surgery, particles can infiltrate the handpiece, leading to contamination. These particles may compromise the sterility of the device, potentially increasing the risk of post-operative complications such as infections or inflammation like endophthalmitis. [1] endo foul midas</a:t>
            </a:r>
            <a:endParaRPr sz="1100">
              <a:solidFill>
                <a:schemeClr val="dk1"/>
              </a:solidFill>
            </a:endParaRPr>
          </a:p>
          <a:p>
            <a:pPr indent="-282733" lvl="1" marL="914400" rtl="0" algn="l">
              <a:spcBef>
                <a:spcPts val="0"/>
              </a:spcBef>
              <a:spcAft>
                <a:spcPts val="0"/>
              </a:spcAft>
              <a:buClr>
                <a:schemeClr val="dk1"/>
              </a:buClr>
              <a:buSzPct val="100000"/>
              <a:buChar char="◆"/>
            </a:pPr>
            <a:r>
              <a:rPr lang="en" sz="1100">
                <a:solidFill>
                  <a:schemeClr val="dk1"/>
                </a:solidFill>
              </a:rPr>
              <a:t>A court case was centered around the fact that a patient contracted a form of fungal endophthalmitis post cataract surgery. In the testimony, experts testified that While the lens the surgeon inserted was identified as a potential source of the fungus, the surgical instruments were highlighted as a significant contributor, alongside other factors such as operating personnel and the operating room environment. [2]</a:t>
            </a:r>
            <a:endParaRPr sz="1100">
              <a:solidFill>
                <a:schemeClr val="dk1"/>
              </a:solidFill>
            </a:endParaRPr>
          </a:p>
          <a:p>
            <a:pPr indent="-282733" lvl="1" marL="914400" rtl="0" algn="l">
              <a:spcBef>
                <a:spcPts val="0"/>
              </a:spcBef>
              <a:spcAft>
                <a:spcPts val="0"/>
              </a:spcAft>
              <a:buClr>
                <a:schemeClr val="dk1"/>
              </a:buClr>
              <a:buSzPct val="100000"/>
              <a:buChar char="◆"/>
            </a:pPr>
            <a:r>
              <a:rPr lang="en" sz="1100">
                <a:solidFill>
                  <a:schemeClr val="dk1"/>
                </a:solidFill>
              </a:rPr>
              <a:t>Going more to the manufacturing side, The current particulate counting process is tedious and time consuming, which delays production and increases costs. </a:t>
            </a:r>
            <a:endParaRPr sz="1100">
              <a:solidFill>
                <a:schemeClr val="dk1"/>
              </a:solidFill>
            </a:endParaRPr>
          </a:p>
          <a:p>
            <a:pPr indent="-282733" lvl="0" marL="457200" rtl="0" algn="l">
              <a:spcBef>
                <a:spcPts val="0"/>
              </a:spcBef>
              <a:spcAft>
                <a:spcPts val="0"/>
              </a:spcAft>
              <a:buClr>
                <a:schemeClr val="dk1"/>
              </a:buClr>
              <a:buSzPct val="100000"/>
              <a:buChar char="➔"/>
            </a:pPr>
            <a:r>
              <a:rPr lang="en" sz="1100">
                <a:solidFill>
                  <a:schemeClr val="dk1"/>
                </a:solidFill>
              </a:rPr>
              <a:t>Background literature search1 and summary</a:t>
            </a:r>
            <a:endParaRPr sz="1100">
              <a:solidFill>
                <a:schemeClr val="dk1"/>
              </a:solidFill>
            </a:endParaRPr>
          </a:p>
          <a:p>
            <a:pPr indent="-282733" lvl="1" marL="914400" rtl="0" algn="l">
              <a:spcBef>
                <a:spcPts val="0"/>
              </a:spcBef>
              <a:spcAft>
                <a:spcPts val="0"/>
              </a:spcAft>
              <a:buClr>
                <a:schemeClr val="dk1"/>
              </a:buClr>
              <a:buSzPct val="100000"/>
              <a:buChar char="◆"/>
            </a:pPr>
            <a:r>
              <a:rPr lang="en" sz="1100">
                <a:solidFill>
                  <a:schemeClr val="dk1"/>
                </a:solidFill>
              </a:rPr>
              <a:t>Post-operative complications due to contamination occur in 0.04% to 0.2% of cataract surgeries but carry devastating consequences, including blindness.[3]</a:t>
            </a:r>
            <a:endParaRPr sz="1100">
              <a:solidFill>
                <a:schemeClr val="dk1"/>
              </a:solidFill>
            </a:endParaRPr>
          </a:p>
          <a:p>
            <a:pPr indent="-282733" lvl="1" marL="914400" rtl="0" algn="l">
              <a:spcBef>
                <a:spcPts val="0"/>
              </a:spcBef>
              <a:spcAft>
                <a:spcPts val="0"/>
              </a:spcAft>
              <a:buClr>
                <a:schemeClr val="dk1"/>
              </a:buClr>
              <a:buSzPct val="100000"/>
              <a:buChar char="◆"/>
            </a:pPr>
            <a:r>
              <a:rPr lang="en" sz="1100">
                <a:solidFill>
                  <a:schemeClr val="dk1"/>
                </a:solidFill>
              </a:rPr>
              <a:t>Studies emphasize the role of particles in infection risk, highlighting that medical devices must meet stringent cleanliness standards</a:t>
            </a:r>
            <a:endParaRPr sz="1100">
              <a:solidFill>
                <a:schemeClr val="dk1"/>
              </a:solidFill>
            </a:endParaRPr>
          </a:p>
          <a:p>
            <a:pPr indent="-282733" lvl="1" marL="914400" rtl="0" algn="l">
              <a:spcBef>
                <a:spcPts val="0"/>
              </a:spcBef>
              <a:spcAft>
                <a:spcPts val="0"/>
              </a:spcAft>
              <a:buClr>
                <a:schemeClr val="dk1"/>
              </a:buClr>
              <a:buSzPct val="100000"/>
              <a:buChar char="◆"/>
            </a:pPr>
            <a:r>
              <a:rPr lang="en" sz="1100">
                <a:solidFill>
                  <a:schemeClr val="dk1"/>
                </a:solidFill>
              </a:rPr>
              <a:t>Particle counting systems are crucial in manufacturing, but existing methods often rely on manual or semi-automated processes, which can be prone to human error and inefficiency</a:t>
            </a:r>
            <a:endParaRPr sz="1100">
              <a:solidFill>
                <a:schemeClr val="dk1"/>
              </a:solidFill>
            </a:endParaRPr>
          </a:p>
          <a:p>
            <a:pPr indent="-282733" lvl="0" marL="457200" rtl="0" algn="l">
              <a:spcBef>
                <a:spcPts val="0"/>
              </a:spcBef>
              <a:spcAft>
                <a:spcPts val="0"/>
              </a:spcAft>
              <a:buClr>
                <a:schemeClr val="dk1"/>
              </a:buClr>
              <a:buSzPct val="100000"/>
              <a:buChar char="➔"/>
            </a:pPr>
            <a:r>
              <a:rPr lang="en" sz="1100">
                <a:solidFill>
                  <a:schemeClr val="dk1"/>
                </a:solidFill>
              </a:rPr>
              <a:t>Convince the listeners why this is a problem: who does it affect, why is it a problem, how many people suffer/die, how bad is it, what is the financial/societal burden?</a:t>
            </a:r>
            <a:endParaRPr sz="1100">
              <a:solidFill>
                <a:schemeClr val="dk1"/>
              </a:solidFill>
            </a:endParaRPr>
          </a:p>
          <a:p>
            <a:pPr indent="-282733" lvl="1" marL="914400" rtl="0" algn="l">
              <a:spcBef>
                <a:spcPts val="0"/>
              </a:spcBef>
              <a:spcAft>
                <a:spcPts val="0"/>
              </a:spcAft>
              <a:buClr>
                <a:schemeClr val="dk1"/>
              </a:buClr>
              <a:buSzPct val="100000"/>
              <a:buChar char="◆"/>
            </a:pPr>
            <a:r>
              <a:rPr lang="en" sz="1100">
                <a:solidFill>
                  <a:schemeClr val="dk1"/>
                </a:solidFill>
              </a:rPr>
              <a:t>Patients undergoing eye surgery are most at risk. The current particle counting system slows production, creates bottlenecks, and increases costs. Any delay in delivering sterile handpieces could impact the availability of these tools in operating rooms.</a:t>
            </a:r>
            <a:endParaRPr sz="1100">
              <a:solidFill>
                <a:schemeClr val="dk1"/>
              </a:solidFill>
            </a:endParaRPr>
          </a:p>
          <a:p>
            <a:pPr indent="-282733" lvl="1" marL="914400" rtl="0" algn="l">
              <a:spcBef>
                <a:spcPts val="0"/>
              </a:spcBef>
              <a:spcAft>
                <a:spcPts val="0"/>
              </a:spcAft>
              <a:buClr>
                <a:schemeClr val="dk1"/>
              </a:buClr>
              <a:buSzPct val="100000"/>
              <a:buChar char="◆"/>
            </a:pPr>
            <a:r>
              <a:rPr lang="en" sz="1100">
                <a:solidFill>
                  <a:schemeClr val="dk1"/>
                </a:solidFill>
              </a:rPr>
              <a:t>Over 28 million cataract surgeries occur annually worldwide. If even 1% of these are affected by suboptimal devices, it means 280,000 people are at risk.</a:t>
            </a:r>
            <a:endParaRPr sz="1100">
              <a:solidFill>
                <a:schemeClr val="dk1"/>
              </a:solidFill>
            </a:endParaRPr>
          </a:p>
          <a:p>
            <a:pPr indent="-282733" lvl="0" marL="457200" rtl="0" algn="l">
              <a:spcBef>
                <a:spcPts val="0"/>
              </a:spcBef>
              <a:spcAft>
                <a:spcPts val="0"/>
              </a:spcAft>
              <a:buClr>
                <a:schemeClr val="dk1"/>
              </a:buClr>
              <a:buSzPct val="100000"/>
              <a:buChar char="➔"/>
            </a:pPr>
            <a:r>
              <a:rPr lang="en" sz="1100">
                <a:solidFill>
                  <a:schemeClr val="dk1"/>
                </a:solidFill>
              </a:rPr>
              <a:t>Where is the gap in care? Have references on your slide when you quote things</a:t>
            </a:r>
            <a:endParaRPr sz="1100">
              <a:solidFill>
                <a:schemeClr val="dk1"/>
              </a:solidFill>
            </a:endParaRPr>
          </a:p>
          <a:p>
            <a:pPr indent="-282733" lvl="1" marL="914400" rtl="0" algn="l">
              <a:spcBef>
                <a:spcPts val="0"/>
              </a:spcBef>
              <a:spcAft>
                <a:spcPts val="0"/>
              </a:spcAft>
              <a:buClr>
                <a:schemeClr val="dk1"/>
              </a:buClr>
              <a:buSzPct val="100000"/>
              <a:buChar char="◆"/>
            </a:pPr>
            <a:r>
              <a:rPr lang="en" sz="1100">
                <a:solidFill>
                  <a:schemeClr val="dk1"/>
                </a:solidFill>
              </a:rPr>
              <a:t>The gap lies in the lack of efficient, modernized particulate counting systems for medical device manufacturing</a:t>
            </a:r>
            <a:endParaRPr sz="1100">
              <a:solidFill>
                <a:schemeClr val="dk1"/>
              </a:solidFill>
            </a:endParaRPr>
          </a:p>
          <a:p>
            <a:pPr indent="-282733" lvl="0" marL="457200" rtl="0" algn="l">
              <a:spcBef>
                <a:spcPts val="0"/>
              </a:spcBef>
              <a:spcAft>
                <a:spcPts val="0"/>
              </a:spcAft>
              <a:buClr>
                <a:schemeClr val="dk1"/>
              </a:buClr>
              <a:buSzPct val="100000"/>
              <a:buChar char="➔"/>
            </a:pPr>
            <a:r>
              <a:rPr lang="en" sz="1100">
                <a:solidFill>
                  <a:schemeClr val="dk1"/>
                </a:solidFill>
              </a:rPr>
              <a:t>Who are the stakeholders: patients, doctors, first responders, caretakers?</a:t>
            </a:r>
            <a:endParaRPr sz="1100">
              <a:solidFill>
                <a:schemeClr val="dk1"/>
              </a:solidFill>
            </a:endParaRPr>
          </a:p>
        </p:txBody>
      </p:sp>
      <p:sp>
        <p:nvSpPr>
          <p:cNvPr id="70" name="Google Shape;70;p15"/>
          <p:cNvSpPr txBox="1"/>
          <p:nvPr/>
        </p:nvSpPr>
        <p:spPr>
          <a:xfrm>
            <a:off x="311700" y="4383000"/>
            <a:ext cx="7039500" cy="670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chemeClr val="dk2"/>
                </a:solidFill>
              </a:rPr>
              <a:t>Sources: </a:t>
            </a:r>
            <a:endParaRPr sz="900">
              <a:solidFill>
                <a:schemeClr val="dk2"/>
              </a:solidFill>
            </a:endParaRPr>
          </a:p>
          <a:p>
            <a:pPr indent="-285750" lvl="0" marL="457200" rtl="0" algn="l">
              <a:spcBef>
                <a:spcPts val="0"/>
              </a:spcBef>
              <a:spcAft>
                <a:spcPts val="0"/>
              </a:spcAft>
              <a:buClr>
                <a:schemeClr val="dk2"/>
              </a:buClr>
              <a:buSzPts val="900"/>
              <a:buAutoNum type="arabicPeriod"/>
            </a:pPr>
            <a:r>
              <a:rPr lang="en" sz="900" u="sng">
                <a:solidFill>
                  <a:schemeClr val="hlink"/>
                </a:solidFill>
                <a:hlinkClick r:id="rId4"/>
              </a:rPr>
              <a:t>https://pmc.ncbi.nlm.nih.gov/articles/PMC2377378/</a:t>
            </a:r>
            <a:endParaRPr sz="900">
              <a:solidFill>
                <a:schemeClr val="dk2"/>
              </a:solidFill>
            </a:endParaRPr>
          </a:p>
          <a:p>
            <a:pPr indent="-285750" lvl="0" marL="457200" rtl="0" algn="l">
              <a:spcBef>
                <a:spcPts val="0"/>
              </a:spcBef>
              <a:spcAft>
                <a:spcPts val="0"/>
              </a:spcAft>
              <a:buClr>
                <a:schemeClr val="dk2"/>
              </a:buClr>
              <a:buSzPts val="900"/>
              <a:buAutoNum type="arabicPeriod"/>
            </a:pPr>
            <a:r>
              <a:rPr lang="en" sz="900" u="sng">
                <a:solidFill>
                  <a:schemeClr val="hlink"/>
                </a:solidFill>
                <a:hlinkClick r:id="rId5"/>
              </a:rPr>
              <a:t>https://www.casemine.com/judgement/us/5914b030add7b049347516ab/amp</a:t>
            </a:r>
            <a:r>
              <a:rPr lang="en" sz="900">
                <a:solidFill>
                  <a:schemeClr val="dk2"/>
                </a:solidFill>
              </a:rPr>
              <a:t> </a:t>
            </a:r>
            <a:endParaRPr sz="900">
              <a:solidFill>
                <a:schemeClr val="dk2"/>
              </a:solidFill>
            </a:endParaRPr>
          </a:p>
          <a:p>
            <a:pPr indent="-285750" lvl="0" marL="457200" rtl="0" algn="l">
              <a:spcBef>
                <a:spcPts val="0"/>
              </a:spcBef>
              <a:spcAft>
                <a:spcPts val="0"/>
              </a:spcAft>
              <a:buClr>
                <a:schemeClr val="dk2"/>
              </a:buClr>
              <a:buSzPts val="900"/>
              <a:buAutoNum type="arabicPeriod"/>
            </a:pPr>
            <a:r>
              <a:rPr lang="en" sz="900" u="sng">
                <a:solidFill>
                  <a:schemeClr val="hlink"/>
                </a:solidFill>
                <a:hlinkClick r:id="rId6"/>
              </a:rPr>
              <a:t>https://pmc.ncbi.nlm.nih.gov/articles/PMC5742953/</a:t>
            </a:r>
            <a:endParaRPr sz="900">
              <a:solidFill>
                <a:schemeClr val="dk2"/>
              </a:solidFill>
            </a:endParaRPr>
          </a:p>
          <a:p>
            <a:pPr indent="-285750" lvl="0" marL="457200" rtl="0" algn="l">
              <a:spcBef>
                <a:spcPts val="0"/>
              </a:spcBef>
              <a:spcAft>
                <a:spcPts val="0"/>
              </a:spcAft>
              <a:buClr>
                <a:schemeClr val="dk2"/>
              </a:buClr>
              <a:buSzPts val="900"/>
              <a:buAutoNum type="arabicPeriod"/>
            </a:pPr>
            <a:r>
              <a:t/>
            </a:r>
            <a:endParaRPr sz="9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Approach </a:t>
            </a:r>
            <a:endParaRPr/>
          </a:p>
        </p:txBody>
      </p:sp>
      <p:sp>
        <p:nvSpPr>
          <p:cNvPr id="76" name="Google Shape;7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0000" lnSpcReduction="20000"/>
          </a:bodyPr>
          <a:lstStyle/>
          <a:p>
            <a:pPr indent="0" lvl="0" marL="0" rtl="0" algn="l">
              <a:spcBef>
                <a:spcPts val="0"/>
              </a:spcBef>
              <a:spcAft>
                <a:spcPts val="0"/>
              </a:spcAft>
              <a:buClr>
                <a:schemeClr val="dk1"/>
              </a:buClr>
              <a:buSzPct val="100000"/>
              <a:buFont typeface="Arial"/>
              <a:buNone/>
            </a:pPr>
            <a:r>
              <a:rPr lang="en" sz="1100">
                <a:solidFill>
                  <a:schemeClr val="dk1"/>
                </a:solidFill>
              </a:rPr>
              <a:t>Approach (15 pts) </a:t>
            </a:r>
            <a:r>
              <a:rPr lang="en" sz="1100">
                <a:solidFill>
                  <a:schemeClr val="dk1"/>
                </a:solidFill>
                <a:highlight>
                  <a:schemeClr val="accent6"/>
                </a:highlight>
              </a:rPr>
              <a:t>One person outlines the approach, one person introduces ISO standards? Leads into design slide? Maybe one person talks about imaging technologies instead? (split into two slides?)</a:t>
            </a:r>
            <a:endParaRPr sz="1100">
              <a:solidFill>
                <a:schemeClr val="dk1"/>
              </a:solidFill>
              <a:highlight>
                <a:schemeClr val="accent6"/>
              </a:highlight>
            </a:endParaRPr>
          </a:p>
          <a:p>
            <a:pPr indent="-277495" lvl="0" marL="457200" rtl="0" algn="l">
              <a:spcBef>
                <a:spcPts val="0"/>
              </a:spcBef>
              <a:spcAft>
                <a:spcPts val="0"/>
              </a:spcAft>
              <a:buClr>
                <a:schemeClr val="dk1"/>
              </a:buClr>
              <a:buSzPct val="100000"/>
              <a:buChar char="-"/>
            </a:pPr>
            <a:r>
              <a:rPr lang="en" sz="1100">
                <a:solidFill>
                  <a:schemeClr val="dk1"/>
                </a:solidFill>
                <a:highlight>
                  <a:schemeClr val="lt1"/>
                </a:highlight>
              </a:rPr>
              <a:t>ISO 14644 – specifies the classification of air cleanliness in terms of concentration of </a:t>
            </a:r>
            <a:r>
              <a:rPr lang="en" sz="1100">
                <a:solidFill>
                  <a:schemeClr val="dk1"/>
                </a:solidFill>
                <a:highlight>
                  <a:schemeClr val="lt1"/>
                </a:highlight>
              </a:rPr>
              <a:t>airborne</a:t>
            </a:r>
            <a:r>
              <a:rPr lang="en" sz="1100">
                <a:solidFill>
                  <a:schemeClr val="dk1"/>
                </a:solidFill>
                <a:highlight>
                  <a:schemeClr val="lt1"/>
                </a:highlight>
              </a:rPr>
              <a:t> particles in medical device</a:t>
            </a:r>
            <a:endParaRPr sz="1100">
              <a:solidFill>
                <a:schemeClr val="dk1"/>
              </a:solidFill>
              <a:highlight>
                <a:schemeClr val="lt1"/>
              </a:highlight>
            </a:endParaRPr>
          </a:p>
          <a:p>
            <a:pPr indent="-277495" lvl="0" marL="457200" rtl="0" algn="l">
              <a:spcBef>
                <a:spcPts val="0"/>
              </a:spcBef>
              <a:spcAft>
                <a:spcPts val="0"/>
              </a:spcAft>
              <a:buClr>
                <a:schemeClr val="dk1"/>
              </a:buClr>
              <a:buSzPct val="100000"/>
              <a:buChar char="-"/>
            </a:pPr>
            <a:r>
              <a:rPr lang="en" sz="1100">
                <a:solidFill>
                  <a:schemeClr val="dk1"/>
                </a:solidFill>
                <a:highlight>
                  <a:schemeClr val="lt1"/>
                </a:highlight>
              </a:rPr>
              <a:t>USP 788 standard for particulate matter in injectables - we will use this one</a:t>
            </a:r>
            <a:endParaRPr sz="1100">
              <a:solidFill>
                <a:schemeClr val="dk1"/>
              </a:solidFill>
              <a:highlight>
                <a:schemeClr val="lt1"/>
              </a:highlight>
            </a:endParaRPr>
          </a:p>
          <a:p>
            <a:pPr indent="0" lvl="0" marL="0" rtl="0" algn="l">
              <a:spcBef>
                <a:spcPts val="0"/>
              </a:spcBef>
              <a:spcAft>
                <a:spcPts val="0"/>
              </a:spcAft>
              <a:buClr>
                <a:schemeClr val="dk1"/>
              </a:buClr>
              <a:buSzPct val="100000"/>
              <a:buFont typeface="Arial"/>
              <a:buNone/>
            </a:pPr>
            <a:r>
              <a:t/>
            </a:r>
            <a:endParaRPr sz="1100">
              <a:solidFill>
                <a:schemeClr val="dk1"/>
              </a:solidFill>
              <a:highlight>
                <a:schemeClr val="accent6"/>
              </a:highlight>
            </a:endParaRPr>
          </a:p>
          <a:p>
            <a:pPr indent="0" lvl="0" marL="0" rtl="0" algn="l">
              <a:spcBef>
                <a:spcPts val="0"/>
              </a:spcBef>
              <a:spcAft>
                <a:spcPts val="0"/>
              </a:spcAft>
              <a:buClr>
                <a:schemeClr val="dk1"/>
              </a:buClr>
              <a:buSzPct val="100000"/>
              <a:buFont typeface="Arial"/>
              <a:buNone/>
            </a:pPr>
            <a:r>
              <a:rPr lang="en" sz="1100">
                <a:solidFill>
                  <a:schemeClr val="dk1"/>
                </a:solidFill>
              </a:rPr>
              <a:t>• </a:t>
            </a:r>
            <a:r>
              <a:rPr lang="en" sz="1100">
                <a:solidFill>
                  <a:schemeClr val="dk1"/>
                </a:solidFill>
                <a:highlight>
                  <a:schemeClr val="lt1"/>
                </a:highlight>
              </a:rPr>
              <a:t>How do you plan to address the problem? What’s the proposed design? How does it work? </a:t>
            </a:r>
            <a:r>
              <a:rPr lang="en" sz="1100">
                <a:solidFill>
                  <a:schemeClr val="dk1"/>
                </a:solidFill>
                <a:highlight>
                  <a:schemeClr val="lt1"/>
                </a:highlight>
              </a:rPr>
              <a:t>Why</a:t>
            </a:r>
            <a:endParaRPr sz="1100">
              <a:solidFill>
                <a:schemeClr val="dk1"/>
              </a:solidFill>
              <a:highlight>
                <a:schemeClr val="lt1"/>
              </a:highlight>
            </a:endParaRPr>
          </a:p>
          <a:p>
            <a:pPr indent="0" lvl="0" marL="0" rtl="0" algn="l">
              <a:spcBef>
                <a:spcPts val="0"/>
              </a:spcBef>
              <a:spcAft>
                <a:spcPts val="0"/>
              </a:spcAft>
              <a:buClr>
                <a:schemeClr val="dk1"/>
              </a:buClr>
              <a:buSzPct val="100000"/>
              <a:buFont typeface="Arial"/>
              <a:buNone/>
            </a:pPr>
            <a:r>
              <a:rPr lang="en" sz="1100">
                <a:solidFill>
                  <a:schemeClr val="dk1"/>
                </a:solidFill>
                <a:highlight>
                  <a:schemeClr val="lt1"/>
                </a:highlight>
              </a:rPr>
              <a:t>is it novel and how is it different than what’s being done now?</a:t>
            </a:r>
            <a:endParaRPr sz="1100">
              <a:solidFill>
                <a:schemeClr val="dk1"/>
              </a:solidFill>
              <a:highlight>
                <a:schemeClr val="lt1"/>
              </a:highlight>
            </a:endParaRPr>
          </a:p>
          <a:p>
            <a:pPr indent="-277495" lvl="0" marL="457200" rtl="0" algn="l">
              <a:spcBef>
                <a:spcPts val="0"/>
              </a:spcBef>
              <a:spcAft>
                <a:spcPts val="0"/>
              </a:spcAft>
              <a:buClr>
                <a:schemeClr val="dk1"/>
              </a:buClr>
              <a:buSzPct val="100000"/>
              <a:buChar char="-"/>
            </a:pPr>
            <a:r>
              <a:rPr lang="en" sz="1100">
                <a:solidFill>
                  <a:schemeClr val="dk1"/>
                </a:solidFill>
                <a:highlight>
                  <a:schemeClr val="lt1"/>
                </a:highlight>
              </a:rPr>
              <a:t>Problem stems from that fact that analyzing the particulates in the handpieces is a tedious and time consuming process. Specialized technicians take around 20-30 minutes evaluating each handpiece before it is ready to be sent out to surgeons, which is not scalable to meet the growing demand and will lead to bottlenecks in production. </a:t>
            </a:r>
            <a:endParaRPr sz="1100">
              <a:solidFill>
                <a:schemeClr val="dk1"/>
              </a:solidFill>
              <a:highlight>
                <a:schemeClr val="lt1"/>
              </a:highlight>
            </a:endParaRPr>
          </a:p>
          <a:p>
            <a:pPr indent="-277495" lvl="0" marL="457200" rtl="0" algn="l">
              <a:spcBef>
                <a:spcPts val="0"/>
              </a:spcBef>
              <a:spcAft>
                <a:spcPts val="0"/>
              </a:spcAft>
              <a:buClr>
                <a:schemeClr val="dk1"/>
              </a:buClr>
              <a:buSzPct val="100000"/>
              <a:buChar char="-"/>
            </a:pPr>
            <a:r>
              <a:rPr lang="en" sz="1100">
                <a:solidFill>
                  <a:schemeClr val="dk1"/>
                </a:solidFill>
                <a:highlight>
                  <a:schemeClr val="lt1"/>
                </a:highlight>
              </a:rPr>
              <a:t>We aim to improve the inspection process by automating the inspection process using imaging software and uploading the data into a MATLAB script that would analyze the size, shape, and type of particulate in the handpiece. If the particle count is within below certain threshold, then the software will deem the handpiece fit for use.</a:t>
            </a:r>
            <a:endParaRPr sz="1100">
              <a:solidFill>
                <a:schemeClr val="dk1"/>
              </a:solidFill>
              <a:highlight>
                <a:schemeClr val="lt1"/>
              </a:highlight>
            </a:endParaRPr>
          </a:p>
          <a:p>
            <a:pPr indent="-277495" lvl="0" marL="457200" rtl="0" algn="l">
              <a:spcBef>
                <a:spcPts val="0"/>
              </a:spcBef>
              <a:spcAft>
                <a:spcPts val="0"/>
              </a:spcAft>
              <a:buClr>
                <a:schemeClr val="dk1"/>
              </a:buClr>
              <a:buSzPct val="100000"/>
              <a:buChar char="-"/>
            </a:pPr>
            <a:r>
              <a:rPr lang="en" sz="1100">
                <a:solidFill>
                  <a:schemeClr val="dk1"/>
                </a:solidFill>
                <a:highlight>
                  <a:schemeClr val="lt1"/>
                </a:highlight>
              </a:rPr>
              <a:t>The novelty comes from the fact that technicians are evaluating the particles manually, but we want to build software that evaluates it automatically. Manual inspection is a labor-intensive process and an automated system will minimize the operational costs while maintaining the quality control standards. </a:t>
            </a:r>
            <a:endParaRPr sz="1100">
              <a:solidFill>
                <a:schemeClr val="dk1"/>
              </a:solidFill>
              <a:highlight>
                <a:schemeClr val="lt1"/>
              </a:highlight>
            </a:endParaRPr>
          </a:p>
          <a:p>
            <a:pPr indent="0" lvl="0" marL="0" rtl="0" algn="l">
              <a:spcBef>
                <a:spcPts val="0"/>
              </a:spcBef>
              <a:spcAft>
                <a:spcPts val="0"/>
              </a:spcAft>
              <a:buClr>
                <a:schemeClr val="dk1"/>
              </a:buClr>
              <a:buSzPct val="100000"/>
              <a:buFont typeface="Arial"/>
              <a:buNone/>
            </a:pPr>
            <a:r>
              <a:rPr lang="en" sz="1100">
                <a:solidFill>
                  <a:schemeClr val="dk1"/>
                </a:solidFill>
              </a:rPr>
              <a:t>• Particles and debris </a:t>
            </a:r>
            <a:r>
              <a:rPr lang="en" sz="1100">
                <a:solidFill>
                  <a:schemeClr val="dk1"/>
                </a:solidFill>
              </a:rPr>
              <a:t>leftover</a:t>
            </a:r>
            <a:r>
              <a:rPr lang="en" sz="1100">
                <a:solidFill>
                  <a:schemeClr val="dk1"/>
                </a:solidFill>
              </a:rPr>
              <a:t> after manufacturing process</a:t>
            </a:r>
            <a:endParaRPr sz="1100">
              <a:solidFill>
                <a:schemeClr val="dk1"/>
              </a:solidFill>
            </a:endParaRPr>
          </a:p>
          <a:p>
            <a:pPr indent="0" lvl="0" marL="0" rtl="0" algn="l">
              <a:spcBef>
                <a:spcPts val="0"/>
              </a:spcBef>
              <a:spcAft>
                <a:spcPts val="0"/>
              </a:spcAft>
              <a:buNone/>
            </a:pPr>
            <a:r>
              <a:rPr lang="en" sz="1100">
                <a:solidFill>
                  <a:schemeClr val="dk1"/>
                </a:solidFill>
              </a:rPr>
              <a:t>• Similar to barcode device at market? Handle with built-in image processing system and real- time video of </a:t>
            </a:r>
            <a:r>
              <a:rPr lang="en" sz="1100">
                <a:solidFill>
                  <a:schemeClr val="dk1"/>
                </a:solidFill>
              </a:rPr>
              <a:t>microscopic</a:t>
            </a:r>
            <a:r>
              <a:rPr lang="en" sz="1100">
                <a:solidFill>
                  <a:schemeClr val="dk1"/>
                </a:solidFill>
              </a:rPr>
              <a:t> observations</a:t>
            </a:r>
            <a:endParaRPr sz="1100">
              <a:solidFill>
                <a:schemeClr val="dk1"/>
              </a:solidFill>
            </a:endParaRPr>
          </a:p>
          <a:p>
            <a:pPr indent="-277495" lvl="0" marL="457200" rtl="0" algn="l">
              <a:spcBef>
                <a:spcPts val="0"/>
              </a:spcBef>
              <a:spcAft>
                <a:spcPts val="0"/>
              </a:spcAft>
              <a:buClr>
                <a:schemeClr val="accent1"/>
              </a:buClr>
              <a:buSzPct val="100000"/>
              <a:buChar char="-"/>
            </a:pPr>
            <a:r>
              <a:rPr lang="en" sz="1100">
                <a:solidFill>
                  <a:schemeClr val="accent1"/>
                </a:solidFill>
              </a:rPr>
              <a:t>I </a:t>
            </a:r>
            <a:r>
              <a:rPr lang="en" sz="1100">
                <a:solidFill>
                  <a:schemeClr val="accent1"/>
                </a:solidFill>
              </a:rPr>
              <a:t>don't</a:t>
            </a:r>
            <a:r>
              <a:rPr lang="en" sz="1100">
                <a:solidFill>
                  <a:schemeClr val="accent1"/>
                </a:solidFill>
              </a:rPr>
              <a:t> </a:t>
            </a:r>
            <a:r>
              <a:rPr lang="en" sz="1100">
                <a:solidFill>
                  <a:schemeClr val="accent1"/>
                </a:solidFill>
              </a:rPr>
              <a:t>think</a:t>
            </a:r>
            <a:r>
              <a:rPr lang="en" sz="1100">
                <a:solidFill>
                  <a:schemeClr val="accent1"/>
                </a:solidFill>
              </a:rPr>
              <a:t> that it needs to be handheld, </a:t>
            </a:r>
            <a:r>
              <a:rPr lang="en" sz="1100">
                <a:solidFill>
                  <a:schemeClr val="accent1"/>
                </a:solidFill>
              </a:rPr>
              <a:t>might</a:t>
            </a:r>
            <a:r>
              <a:rPr lang="en" sz="1100">
                <a:solidFill>
                  <a:schemeClr val="accent1"/>
                </a:solidFill>
              </a:rPr>
              <a:t> be better to just have a system that pulls the data from whatever microscope we end up using and processing it on a computer</a:t>
            </a:r>
            <a:endParaRPr sz="1100">
              <a:solidFill>
                <a:schemeClr val="accent1"/>
              </a:solidFill>
            </a:endParaRPr>
          </a:p>
          <a:p>
            <a:pPr indent="-277495" lvl="0" marL="457200" rtl="0" algn="l">
              <a:spcBef>
                <a:spcPts val="0"/>
              </a:spcBef>
              <a:spcAft>
                <a:spcPts val="0"/>
              </a:spcAft>
              <a:buClr>
                <a:schemeClr val="accent1"/>
              </a:buClr>
              <a:buSzPct val="100000"/>
              <a:buChar char="-"/>
            </a:pPr>
            <a:r>
              <a:rPr lang="en" sz="1100">
                <a:solidFill>
                  <a:schemeClr val="accent1"/>
                </a:solidFill>
              </a:rPr>
              <a:t>We might need a physical device for preparing the sample</a:t>
            </a:r>
            <a:endParaRPr sz="1100">
              <a:solidFill>
                <a:schemeClr val="accent1"/>
              </a:solidFill>
            </a:endParaRPr>
          </a:p>
          <a:p>
            <a:pPr indent="-277494" lvl="1" marL="914400" rtl="0" algn="l">
              <a:spcBef>
                <a:spcPts val="0"/>
              </a:spcBef>
              <a:spcAft>
                <a:spcPts val="0"/>
              </a:spcAft>
              <a:buClr>
                <a:schemeClr val="accent1"/>
              </a:buClr>
              <a:buSzPct val="100000"/>
              <a:buChar char="-"/>
            </a:pPr>
            <a:r>
              <a:rPr lang="en" sz="1100">
                <a:solidFill>
                  <a:schemeClr val="accent1"/>
                </a:solidFill>
              </a:rPr>
              <a:t>There are two main options: we can either rinse particles out of the filter and into a liquid sample for “light obscuration” testing </a:t>
            </a:r>
            <a:endParaRPr sz="1100">
              <a:solidFill>
                <a:schemeClr val="accent1"/>
              </a:solidFill>
            </a:endParaRPr>
          </a:p>
          <a:p>
            <a:pPr indent="-277494" lvl="2" marL="1371600" rtl="0" algn="l">
              <a:spcBef>
                <a:spcPts val="0"/>
              </a:spcBef>
              <a:spcAft>
                <a:spcPts val="0"/>
              </a:spcAft>
              <a:buClr>
                <a:schemeClr val="accent1"/>
              </a:buClr>
              <a:buSzPct val="100000"/>
              <a:buChar char="-"/>
            </a:pPr>
            <a:r>
              <a:rPr lang="en" sz="1100">
                <a:solidFill>
                  <a:schemeClr val="accent1"/>
                </a:solidFill>
              </a:rPr>
              <a:t>Or continually carried out </a:t>
            </a:r>
            <a:r>
              <a:rPr lang="en" sz="1100">
                <a:solidFill>
                  <a:schemeClr val="accent1"/>
                </a:solidFill>
              </a:rPr>
              <a:t>during</a:t>
            </a:r>
            <a:r>
              <a:rPr lang="en" sz="1100">
                <a:solidFill>
                  <a:schemeClr val="accent1"/>
                </a:solidFill>
              </a:rPr>
              <a:t> simulated use procedure</a:t>
            </a:r>
            <a:endParaRPr sz="1100">
              <a:solidFill>
                <a:schemeClr val="accent1"/>
              </a:solidFill>
            </a:endParaRPr>
          </a:p>
          <a:p>
            <a:pPr indent="-277494" lvl="2" marL="1371600" rtl="0" algn="l">
              <a:spcBef>
                <a:spcPts val="0"/>
              </a:spcBef>
              <a:spcAft>
                <a:spcPts val="0"/>
              </a:spcAft>
              <a:buClr>
                <a:schemeClr val="accent1"/>
              </a:buClr>
              <a:buSzPct val="100000"/>
              <a:buChar char="-"/>
            </a:pPr>
            <a:r>
              <a:rPr lang="en" sz="1100">
                <a:solidFill>
                  <a:schemeClr val="accent1"/>
                </a:solidFill>
              </a:rPr>
              <a:t>We should definitely do this one, maybe use method 2 to confirm</a:t>
            </a:r>
            <a:endParaRPr sz="1100">
              <a:solidFill>
                <a:schemeClr val="accent1"/>
              </a:solidFill>
            </a:endParaRPr>
          </a:p>
          <a:p>
            <a:pPr indent="-277494" lvl="3" marL="1828800" rtl="0" algn="l">
              <a:spcBef>
                <a:spcPts val="0"/>
              </a:spcBef>
              <a:spcAft>
                <a:spcPts val="0"/>
              </a:spcAft>
              <a:buClr>
                <a:schemeClr val="accent1"/>
              </a:buClr>
              <a:buSzPct val="100000"/>
              <a:buChar char="-"/>
            </a:pPr>
            <a:r>
              <a:rPr lang="en" sz="1100">
                <a:solidFill>
                  <a:schemeClr val="accent1"/>
                </a:solidFill>
              </a:rPr>
              <a:t>Method 2 is better for shape classification</a:t>
            </a:r>
            <a:endParaRPr sz="1100">
              <a:solidFill>
                <a:schemeClr val="accent1"/>
              </a:solidFill>
            </a:endParaRPr>
          </a:p>
          <a:p>
            <a:pPr indent="-277494" lvl="1" marL="914400" rtl="0" algn="l">
              <a:spcBef>
                <a:spcPts val="0"/>
              </a:spcBef>
              <a:spcAft>
                <a:spcPts val="0"/>
              </a:spcAft>
              <a:buClr>
                <a:schemeClr val="accent1"/>
              </a:buClr>
              <a:buSzPct val="100000"/>
              <a:buChar char="-"/>
            </a:pPr>
            <a:r>
              <a:rPr lang="en" sz="1100">
                <a:solidFill>
                  <a:schemeClr val="accent1"/>
                </a:solidFill>
              </a:rPr>
              <a:t>Or we can use microscopes to look at the particles while </a:t>
            </a:r>
            <a:r>
              <a:rPr lang="en" sz="1100">
                <a:solidFill>
                  <a:schemeClr val="accent1"/>
                </a:solidFill>
              </a:rPr>
              <a:t>they're</a:t>
            </a:r>
            <a:r>
              <a:rPr lang="en" sz="1100">
                <a:solidFill>
                  <a:schemeClr val="accent1"/>
                </a:solidFill>
              </a:rPr>
              <a:t> on the filter</a:t>
            </a:r>
            <a:endParaRPr sz="1100">
              <a:solidFill>
                <a:schemeClr val="accent1"/>
              </a:solidFill>
            </a:endParaRPr>
          </a:p>
          <a:p>
            <a:pPr indent="-277494" lvl="2" marL="1371600" rtl="0" algn="l">
              <a:spcBef>
                <a:spcPts val="0"/>
              </a:spcBef>
              <a:spcAft>
                <a:spcPts val="0"/>
              </a:spcAft>
              <a:buClr>
                <a:schemeClr val="accent1"/>
              </a:buClr>
              <a:buSzPct val="100000"/>
              <a:buChar char="-"/>
            </a:pPr>
            <a:r>
              <a:rPr lang="en" sz="1100">
                <a:solidFill>
                  <a:schemeClr val="accent1"/>
                </a:solidFill>
              </a:rPr>
              <a:t>Paired with </a:t>
            </a:r>
            <a:endParaRPr sz="1100">
              <a:solidFill>
                <a:schemeClr val="accent1"/>
              </a:solidFill>
            </a:endParaRPr>
          </a:p>
          <a:p>
            <a:pPr indent="0" lvl="0" marL="0" rtl="0" algn="l">
              <a:spcBef>
                <a:spcPts val="0"/>
              </a:spcBef>
              <a:spcAft>
                <a:spcPts val="0"/>
              </a:spcAft>
              <a:buNone/>
            </a:pPr>
            <a:r>
              <a:rPr lang="en" sz="1100">
                <a:solidFill>
                  <a:schemeClr val="dk1"/>
                </a:solidFill>
              </a:rPr>
              <a:t>• </a:t>
            </a:r>
            <a:r>
              <a:rPr lang="en" sz="1100">
                <a:solidFill>
                  <a:schemeClr val="dk1"/>
                </a:solidFill>
              </a:rPr>
              <a:t>Scanning a sentry handpiece to detect particles and debris.</a:t>
            </a:r>
            <a:r>
              <a:rPr lang="en" sz="1100">
                <a:solidFill>
                  <a:schemeClr val="dk1"/>
                </a:solidFill>
              </a:rPr>
              <a:t> If the the size is within the </a:t>
            </a:r>
            <a:r>
              <a:rPr lang="en" sz="1100">
                <a:solidFill>
                  <a:schemeClr val="dk1"/>
                </a:solidFill>
              </a:rPr>
              <a:t>threshold</a:t>
            </a:r>
            <a:r>
              <a:rPr lang="en" sz="1100">
                <a:solidFill>
                  <a:schemeClr val="dk1"/>
                </a:solidFill>
              </a:rPr>
              <a:t> that would prevent Sentry handpiece to reach its maximum functionality, box the particle and display the total count on the monitor </a:t>
            </a:r>
            <a:endParaRPr sz="1100">
              <a:solidFill>
                <a:schemeClr val="dk1"/>
              </a:solidFill>
            </a:endParaRPr>
          </a:p>
          <a:p>
            <a:pPr indent="0" lvl="0" marL="0" rtl="0" algn="l">
              <a:spcBef>
                <a:spcPts val="0"/>
              </a:spcBef>
              <a:spcAft>
                <a:spcPts val="0"/>
              </a:spcAft>
              <a:buClr>
                <a:schemeClr val="dk1"/>
              </a:buClr>
              <a:buSzPct val="100000"/>
              <a:buFont typeface="Arial"/>
              <a:buNone/>
            </a:pPr>
            <a:r>
              <a:rPr lang="en" sz="1100">
                <a:solidFill>
                  <a:schemeClr val="dk1"/>
                </a:solidFill>
              </a:rPr>
              <a:t>• Manual inspection is not process is not scalable and efficient to meet the growing demand for Alcon’s Active Sentry handpieces leading to stagnation in production line</a:t>
            </a:r>
            <a:endParaRPr sz="1100">
              <a:solidFill>
                <a:schemeClr val="dk1"/>
              </a:solidFill>
            </a:endParaRPr>
          </a:p>
          <a:p>
            <a:pPr indent="0" lvl="0" marL="457200" rtl="0" algn="l">
              <a:spcBef>
                <a:spcPts val="0"/>
              </a:spcBef>
              <a:spcAft>
                <a:spcPts val="0"/>
              </a:spcAft>
              <a:buNone/>
            </a:pPr>
            <a:r>
              <a:t/>
            </a:r>
            <a:endParaRPr sz="1100">
              <a:solidFill>
                <a:schemeClr val="dk1"/>
              </a:solidFill>
            </a:endParaRPr>
          </a:p>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Current Method: Dry visual  filter analysis </a:t>
            </a:r>
            <a:endParaRPr/>
          </a:p>
        </p:txBody>
      </p:sp>
      <p:sp>
        <p:nvSpPr>
          <p:cNvPr id="82" name="Google Shape;82;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Technicians manually </a:t>
            </a:r>
            <a:r>
              <a:rPr lang="en"/>
              <a:t>observe</a:t>
            </a:r>
            <a:r>
              <a:rPr lang="en"/>
              <a:t> for </a:t>
            </a:r>
            <a:r>
              <a:rPr lang="en"/>
              <a:t>particles in the filter</a:t>
            </a:r>
            <a:endParaRPr/>
          </a:p>
          <a:p>
            <a:pPr indent="-342900" lvl="0" marL="457200" rtl="0" algn="l">
              <a:spcBef>
                <a:spcPts val="0"/>
              </a:spcBef>
              <a:spcAft>
                <a:spcPts val="0"/>
              </a:spcAft>
              <a:buSzPts val="1800"/>
              <a:buChar char="-"/>
            </a:pPr>
            <a:r>
              <a:rPr lang="en"/>
              <a:t>Count for particles manually</a:t>
            </a:r>
            <a:endParaRPr/>
          </a:p>
          <a:p>
            <a:pPr indent="-342900" lvl="0" marL="457200" rtl="0" algn="l">
              <a:spcBef>
                <a:spcPts val="0"/>
              </a:spcBef>
              <a:spcAft>
                <a:spcPts val="0"/>
              </a:spcAft>
              <a:buSzPts val="1800"/>
              <a:buChar char="-"/>
            </a:pPr>
            <a:r>
              <a:t/>
            </a:r>
            <a:endParaRPr/>
          </a:p>
          <a:p>
            <a:pPr indent="-342900" lvl="0" marL="457200" rtl="0" algn="l">
              <a:spcBef>
                <a:spcPts val="0"/>
              </a:spcBef>
              <a:spcAft>
                <a:spcPts val="0"/>
              </a:spcAft>
              <a:buSzPts val="1800"/>
              <a:buChar char="-"/>
            </a:pPr>
            <a:r>
              <a:rPr lang="en"/>
              <a:t>Microscope equipped with high-resolution cameras to capture detailed images of filter surface</a:t>
            </a:r>
            <a:endParaRPr/>
          </a:p>
          <a:p>
            <a:pPr indent="-342900" lvl="0" marL="457200" rtl="0" algn="l">
              <a:spcBef>
                <a:spcPts val="0"/>
              </a:spcBef>
              <a:spcAft>
                <a:spcPts val="0"/>
              </a:spcAft>
              <a:buSzPts val="1800"/>
              <a:buChar char="-"/>
            </a:pPr>
            <a:r>
              <a:rPr lang="en"/>
              <a:t> Automated systems utilize image analysis software to detect, count, categorize the particles based on the size and shape </a:t>
            </a:r>
            <a:endParaRPr/>
          </a:p>
        </p:txBody>
      </p:sp>
      <p:sp>
        <p:nvSpPr>
          <p:cNvPr id="83" name="Google Shape;83;p17"/>
          <p:cNvSpPr txBox="1"/>
          <p:nvPr>
            <p:ph type="title"/>
          </p:nvPr>
        </p:nvSpPr>
        <p:spPr>
          <a:xfrm>
            <a:off x="160550" y="17278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Improved Method: Automated Visual inspection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FDA class? Why? What does it do</a:t>
            </a:r>
            <a:endParaRPr/>
          </a:p>
        </p:txBody>
      </p:sp>
      <p:sp>
        <p:nvSpPr>
          <p:cNvPr id="89" name="Google Shape;89;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t/>
            </a:r>
            <a:endParaRPr sz="1100">
              <a:solidFill>
                <a:schemeClr val="dk1"/>
              </a:solidFill>
            </a:endParaRPr>
          </a:p>
          <a:p>
            <a:pPr indent="-311150" lvl="0" marL="457200" rtl="0" algn="l">
              <a:spcBef>
                <a:spcPts val="0"/>
              </a:spcBef>
              <a:spcAft>
                <a:spcPts val="0"/>
              </a:spcAft>
              <a:buClr>
                <a:schemeClr val="dk1"/>
              </a:buClr>
              <a:buSzPts val="1300"/>
              <a:buChar char="-"/>
            </a:pPr>
            <a:r>
              <a:rPr lang="en" sz="1300">
                <a:solidFill>
                  <a:schemeClr val="dk1"/>
                </a:solidFill>
              </a:rPr>
              <a:t>Class II (activesentry is class II, our device doesn't have a classification but it’s involved in the manufacturing of the activesentry handpiece)</a:t>
            </a:r>
            <a:endParaRPr sz="1300">
              <a:solidFill>
                <a:schemeClr val="dk1"/>
              </a:solidFill>
            </a:endParaRPr>
          </a:p>
          <a:p>
            <a:pPr indent="0" lvl="0" marL="457200" rtl="0" algn="l">
              <a:spcBef>
                <a:spcPts val="0"/>
              </a:spcBef>
              <a:spcAft>
                <a:spcPts val="0"/>
              </a:spcAft>
              <a:buNone/>
            </a:pPr>
            <a:r>
              <a:rPr lang="en" sz="1100">
                <a:solidFill>
                  <a:schemeClr val="dk1"/>
                </a:solidFill>
              </a:rPr>
              <a:t>	 </a:t>
            </a:r>
            <a:r>
              <a:rPr lang="en" sz="1300">
                <a:solidFill>
                  <a:schemeClr val="dk1"/>
                </a:solidFill>
              </a:rPr>
              <a:t>intermediate risk in the case that particulate counting device malfunctions, leading to complications in medical procedure during eye surgery.</a:t>
            </a:r>
            <a:endParaRPr sz="1300">
              <a:solidFill>
                <a:schemeClr val="dk1"/>
              </a:solidFill>
            </a:endParaRPr>
          </a:p>
          <a:p>
            <a:pPr indent="-298450" lvl="0" marL="457200" rtl="0" algn="l">
              <a:spcBef>
                <a:spcPts val="0"/>
              </a:spcBef>
              <a:spcAft>
                <a:spcPts val="0"/>
              </a:spcAft>
              <a:buClr>
                <a:schemeClr val="dk1"/>
              </a:buClr>
              <a:buSzPts val="1100"/>
              <a:buChar char="-"/>
            </a:pPr>
            <a:r>
              <a:rPr lang="en" sz="1300">
                <a:solidFill>
                  <a:schemeClr val="dk1"/>
                </a:solidFill>
              </a:rPr>
              <a:t>Different imaging technologies</a:t>
            </a:r>
            <a:r>
              <a:rPr lang="en" sz="1100">
                <a:solidFill>
                  <a:schemeClr val="dk1"/>
                </a:solidFill>
              </a:rPr>
              <a:t>:</a:t>
            </a:r>
            <a:endParaRPr sz="1100">
              <a:solidFill>
                <a:schemeClr val="dk1"/>
              </a:solidFill>
            </a:endParaRPr>
          </a:p>
          <a:p>
            <a:pPr indent="457200" lvl="0" marL="457200" rtl="0" algn="l">
              <a:spcBef>
                <a:spcPts val="0"/>
              </a:spcBef>
              <a:spcAft>
                <a:spcPts val="0"/>
              </a:spcAft>
              <a:buNone/>
            </a:pPr>
            <a:r>
              <a:rPr lang="en" sz="1100">
                <a:solidFill>
                  <a:schemeClr val="dk1"/>
                </a:solidFill>
              </a:rPr>
              <a:t> </a:t>
            </a:r>
            <a:r>
              <a:rPr lang="en" sz="1300">
                <a:solidFill>
                  <a:schemeClr val="dk1"/>
                </a:solidFill>
              </a:rPr>
              <a:t>particle detection using photons, particle detection using laser and light scattering, Fourier transform infrared microscopy (FTIR)</a:t>
            </a:r>
            <a:endParaRPr sz="13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explain device:</a:t>
            </a:r>
            <a:endParaRPr sz="1100">
              <a:solidFill>
                <a:schemeClr val="dk1"/>
              </a:solidFill>
            </a:endParaRPr>
          </a:p>
          <a:p>
            <a:pPr indent="-298450" lvl="1" marL="914400" rtl="0" algn="l">
              <a:spcBef>
                <a:spcPts val="0"/>
              </a:spcBef>
              <a:spcAft>
                <a:spcPts val="0"/>
              </a:spcAft>
              <a:buClr>
                <a:schemeClr val="dk1"/>
              </a:buClr>
              <a:buSzPts val="1100"/>
              <a:buChar char="-"/>
            </a:pPr>
            <a:r>
              <a:rPr lang="en" sz="1100">
                <a:solidFill>
                  <a:schemeClr val="dk1"/>
                </a:solidFill>
              </a:rPr>
              <a:t>Imaging technology</a:t>
            </a:r>
            <a:endParaRPr sz="1100">
              <a:solidFill>
                <a:schemeClr val="dk1"/>
              </a:solidFill>
            </a:endParaRPr>
          </a:p>
          <a:p>
            <a:pPr indent="-298450" lvl="1" marL="914400" rtl="0" algn="l">
              <a:spcBef>
                <a:spcPts val="0"/>
              </a:spcBef>
              <a:spcAft>
                <a:spcPts val="0"/>
              </a:spcAft>
              <a:buClr>
                <a:schemeClr val="dk1"/>
              </a:buClr>
              <a:buSzPts val="1100"/>
              <a:buChar char="-"/>
            </a:pPr>
            <a:r>
              <a:rPr lang="en" sz="1100">
                <a:solidFill>
                  <a:schemeClr val="dk1"/>
                </a:solidFill>
              </a:rPr>
              <a:t>Upload to script </a:t>
            </a:r>
            <a:endParaRPr sz="1100">
              <a:solidFill>
                <a:schemeClr val="dk1"/>
              </a:solidFill>
            </a:endParaRPr>
          </a:p>
          <a:p>
            <a:pPr indent="-298450" lvl="1" marL="914400" rtl="0" algn="l">
              <a:spcBef>
                <a:spcPts val="0"/>
              </a:spcBef>
              <a:spcAft>
                <a:spcPts val="0"/>
              </a:spcAft>
              <a:buClr>
                <a:schemeClr val="dk1"/>
              </a:buClr>
              <a:buSzPts val="1100"/>
              <a:buChar char="-"/>
            </a:pPr>
            <a:r>
              <a:rPr lang="en" sz="1100">
                <a:solidFill>
                  <a:schemeClr val="dk1"/>
                </a:solidFill>
              </a:rPr>
              <a:t>Output result (real-time video stream with bounding boxes around detected particles, particle count displayed)</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95" name="Google Shape;95;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Clr>
                <a:schemeClr val="dk1"/>
              </a:buClr>
              <a:buSzPct val="100000"/>
              <a:buFont typeface="Arial"/>
              <a:buNone/>
            </a:pPr>
            <a:r>
              <a:rPr lang="en" sz="1100">
                <a:solidFill>
                  <a:schemeClr val="dk1"/>
                </a:solidFill>
              </a:rPr>
              <a:t>Design (30 pts)  </a:t>
            </a:r>
            <a:r>
              <a:rPr lang="en" sz="1100">
                <a:solidFill>
                  <a:schemeClr val="dk1"/>
                </a:solidFill>
                <a:highlight>
                  <a:schemeClr val="accent6"/>
                </a:highlight>
              </a:rPr>
              <a:t>One person describes design criteria, one person describes the flowchart (split into two slides?)</a:t>
            </a:r>
            <a:endParaRPr sz="1100">
              <a:solidFill>
                <a:schemeClr val="dk1"/>
              </a:solidFill>
              <a:highlight>
                <a:schemeClr val="accent6"/>
              </a:highlight>
            </a:endParaRPr>
          </a:p>
          <a:p>
            <a:pPr indent="0" lvl="0" marL="0" rtl="0" algn="l">
              <a:spcBef>
                <a:spcPts val="0"/>
              </a:spcBef>
              <a:spcAft>
                <a:spcPts val="0"/>
              </a:spcAft>
              <a:buClr>
                <a:schemeClr val="dk1"/>
              </a:buClr>
              <a:buSzPct val="100000"/>
              <a:buFont typeface="Arial"/>
              <a:buNone/>
            </a:pPr>
            <a:r>
              <a:rPr lang="en" sz="1100">
                <a:solidFill>
                  <a:schemeClr val="dk1"/>
                </a:solidFill>
              </a:rPr>
              <a:t>• What are the design criteria (i.e., weight, portability, cost, accuracy, etc.) and acceptance criteria</a:t>
            </a:r>
            <a:endParaRPr sz="1100">
              <a:solidFill>
                <a:schemeClr val="dk1"/>
              </a:solidFill>
            </a:endParaRPr>
          </a:p>
          <a:p>
            <a:pPr indent="0" lvl="0" marL="0" rtl="0" algn="l">
              <a:spcBef>
                <a:spcPts val="0"/>
              </a:spcBef>
              <a:spcAft>
                <a:spcPts val="0"/>
              </a:spcAft>
              <a:buClr>
                <a:schemeClr val="dk1"/>
              </a:buClr>
              <a:buSzPct val="100000"/>
              <a:buFont typeface="Arial"/>
              <a:buNone/>
            </a:pPr>
            <a:r>
              <a:rPr lang="en" sz="1100">
                <a:solidFill>
                  <a:schemeClr val="dk1"/>
                </a:solidFill>
              </a:rPr>
              <a:t>(how close does your design need to be to your design criteria to “pass”)?</a:t>
            </a:r>
            <a:endParaRPr sz="1100">
              <a:solidFill>
                <a:schemeClr val="dk1"/>
              </a:solidFill>
            </a:endParaRPr>
          </a:p>
          <a:p>
            <a:pPr indent="0" lvl="0" marL="0" rtl="0" algn="l">
              <a:spcBef>
                <a:spcPts val="0"/>
              </a:spcBef>
              <a:spcAft>
                <a:spcPts val="0"/>
              </a:spcAft>
              <a:buClr>
                <a:schemeClr val="dk1"/>
              </a:buClr>
              <a:buSzPct val="100000"/>
              <a:buFont typeface="Arial"/>
              <a:buNone/>
            </a:pPr>
            <a:r>
              <a:rPr lang="en" sz="1100">
                <a:solidFill>
                  <a:schemeClr val="dk1"/>
                </a:solidFill>
              </a:rPr>
              <a:t>• Include a solid model (CAD model) of your preliminary design(s) with dimensions. If a CAD model</a:t>
            </a:r>
            <a:endParaRPr sz="1100">
              <a:solidFill>
                <a:schemeClr val="dk1"/>
              </a:solidFill>
            </a:endParaRPr>
          </a:p>
          <a:p>
            <a:pPr indent="0" lvl="0" marL="0" rtl="0" algn="l">
              <a:spcBef>
                <a:spcPts val="0"/>
              </a:spcBef>
              <a:spcAft>
                <a:spcPts val="0"/>
              </a:spcAft>
              <a:buClr>
                <a:schemeClr val="dk1"/>
              </a:buClr>
              <a:buSzPct val="100000"/>
              <a:buFont typeface="Arial"/>
              <a:buNone/>
            </a:pPr>
            <a:r>
              <a:rPr lang="en" sz="1100">
                <a:solidFill>
                  <a:schemeClr val="dk1"/>
                </a:solidFill>
              </a:rPr>
              <a:t>is not appropriate if there are no hardware components, show a model or flowchart of your</a:t>
            </a:r>
            <a:endParaRPr sz="1100">
              <a:solidFill>
                <a:schemeClr val="dk1"/>
              </a:solidFill>
            </a:endParaRPr>
          </a:p>
          <a:p>
            <a:pPr indent="0" lvl="0" marL="0" rtl="0" algn="l">
              <a:spcBef>
                <a:spcPts val="0"/>
              </a:spcBef>
              <a:spcAft>
                <a:spcPts val="0"/>
              </a:spcAft>
              <a:buClr>
                <a:schemeClr val="dk1"/>
              </a:buClr>
              <a:buSzPct val="100000"/>
              <a:buFont typeface="Arial"/>
              <a:buNone/>
            </a:pPr>
            <a:r>
              <a:rPr lang="en" sz="1100">
                <a:solidFill>
                  <a:schemeClr val="dk1"/>
                </a:solidFill>
              </a:rPr>
              <a:t>Design.</a:t>
            </a:r>
            <a:endParaRPr sz="1100">
              <a:solidFill>
                <a:schemeClr val="dk1"/>
              </a:solidFill>
            </a:endParaRPr>
          </a:p>
          <a:p>
            <a:pPr indent="-287972" lvl="0" marL="457200" rtl="0" algn="l">
              <a:spcBef>
                <a:spcPts val="0"/>
              </a:spcBef>
              <a:spcAft>
                <a:spcPts val="0"/>
              </a:spcAft>
              <a:buClr>
                <a:schemeClr val="dk1"/>
              </a:buClr>
              <a:buSzPct val="100000"/>
              <a:buChar char="-"/>
            </a:pPr>
            <a:r>
              <a:rPr lang="en" sz="1100">
                <a:solidFill>
                  <a:schemeClr val="dk1"/>
                </a:solidFill>
              </a:rPr>
              <a:t>Design Criteria, based on engineering mentor input and predicate device specifications</a:t>
            </a:r>
            <a:endParaRPr sz="1100">
              <a:solidFill>
                <a:schemeClr val="dk1"/>
              </a:solidFill>
            </a:endParaRPr>
          </a:p>
          <a:p>
            <a:pPr indent="-287972" lvl="1" marL="914400" rtl="0" algn="l">
              <a:spcBef>
                <a:spcPts val="0"/>
              </a:spcBef>
              <a:spcAft>
                <a:spcPts val="0"/>
              </a:spcAft>
              <a:buClr>
                <a:schemeClr val="dk1"/>
              </a:buClr>
              <a:buSzPct val="100000"/>
              <a:buChar char="-"/>
            </a:pPr>
            <a:r>
              <a:rPr lang="en" sz="1100">
                <a:solidFill>
                  <a:schemeClr val="dk1"/>
                </a:solidFill>
              </a:rPr>
              <a:t>Manufacturing quality testing device – quickly evaluates particulate count with accurate and precise measurements. Will integrate imaging technologies within device to perform counting process</a:t>
            </a:r>
            <a:endParaRPr sz="1100">
              <a:solidFill>
                <a:schemeClr val="dk1"/>
              </a:solidFill>
            </a:endParaRPr>
          </a:p>
          <a:p>
            <a:pPr indent="-287972" lvl="1" marL="914400" rtl="0" algn="l">
              <a:spcBef>
                <a:spcPts val="0"/>
              </a:spcBef>
              <a:spcAft>
                <a:spcPts val="0"/>
              </a:spcAft>
              <a:buClr>
                <a:schemeClr val="dk1"/>
              </a:buClr>
              <a:buSzPct val="100000"/>
              <a:buChar char="-"/>
            </a:pPr>
            <a:r>
              <a:rPr lang="en" sz="1100">
                <a:solidFill>
                  <a:schemeClr val="dk1"/>
                </a:solidFill>
              </a:rPr>
              <a:t>Accurate (very accurate) – must be more accurate than current standard</a:t>
            </a:r>
            <a:endParaRPr sz="1100">
              <a:solidFill>
                <a:schemeClr val="dk1"/>
              </a:solidFill>
            </a:endParaRPr>
          </a:p>
          <a:p>
            <a:pPr indent="-287972" lvl="1" marL="914400" rtl="0" algn="l">
              <a:spcBef>
                <a:spcPts val="0"/>
              </a:spcBef>
              <a:spcAft>
                <a:spcPts val="0"/>
              </a:spcAft>
              <a:buClr>
                <a:schemeClr val="dk1"/>
              </a:buClr>
              <a:buSzPct val="100000"/>
              <a:buChar char="-"/>
            </a:pPr>
            <a:r>
              <a:rPr lang="en" sz="1100">
                <a:solidFill>
                  <a:schemeClr val="dk1"/>
                </a:solidFill>
              </a:rPr>
              <a:t>Automatic – Decreases time needed to determine particulate count</a:t>
            </a:r>
            <a:endParaRPr sz="1100">
              <a:solidFill>
                <a:schemeClr val="dk1"/>
              </a:solidFill>
            </a:endParaRPr>
          </a:p>
          <a:p>
            <a:pPr indent="-287972" lvl="1" marL="914400" rtl="0" algn="l">
              <a:spcBef>
                <a:spcPts val="0"/>
              </a:spcBef>
              <a:spcAft>
                <a:spcPts val="0"/>
              </a:spcAft>
              <a:buClr>
                <a:schemeClr val="dk1"/>
              </a:buClr>
              <a:buSzPct val="100000"/>
              <a:buChar char="-"/>
            </a:pPr>
            <a:r>
              <a:rPr lang="en" sz="1100">
                <a:solidFill>
                  <a:schemeClr val="dk1"/>
                </a:solidFill>
              </a:rPr>
              <a:t>Cheaper – </a:t>
            </a:r>
            <a:r>
              <a:rPr lang="en" sz="1100">
                <a:solidFill>
                  <a:schemeClr val="dk1"/>
                </a:solidFill>
              </a:rPr>
              <a:t>Determine</a:t>
            </a:r>
            <a:r>
              <a:rPr lang="en" sz="1100">
                <a:solidFill>
                  <a:schemeClr val="dk1"/>
                </a:solidFill>
              </a:rPr>
              <a:t> cost of device and relax spending where possible</a:t>
            </a:r>
            <a:endParaRPr sz="1100">
              <a:solidFill>
                <a:schemeClr val="dk1"/>
              </a:solidFill>
            </a:endParaRPr>
          </a:p>
          <a:p>
            <a:pPr indent="-287972" lvl="1" marL="914400" rtl="0" algn="l">
              <a:spcBef>
                <a:spcPts val="0"/>
              </a:spcBef>
              <a:spcAft>
                <a:spcPts val="0"/>
              </a:spcAft>
              <a:buClr>
                <a:schemeClr val="dk1"/>
              </a:buClr>
              <a:buSzPct val="100000"/>
              <a:buChar char="-"/>
            </a:pPr>
            <a:r>
              <a:rPr lang="en" sz="1100">
                <a:solidFill>
                  <a:schemeClr val="dk1"/>
                </a:solidFill>
              </a:rPr>
              <a:t>Possible Standards –  ISO 10993-15, USP 788, IEC 62304, ISO 16232</a:t>
            </a:r>
            <a:endParaRPr sz="1100">
              <a:solidFill>
                <a:schemeClr val="dk1"/>
              </a:solidFill>
            </a:endParaRPr>
          </a:p>
          <a:p>
            <a:pPr indent="-287972" lvl="1" marL="914400" rtl="0" algn="l">
              <a:spcBef>
                <a:spcPts val="0"/>
              </a:spcBef>
              <a:spcAft>
                <a:spcPts val="0"/>
              </a:spcAft>
              <a:buClr>
                <a:schemeClr val="dk1"/>
              </a:buClr>
              <a:buSzPct val="100000"/>
              <a:buChar char="-"/>
            </a:pPr>
            <a:r>
              <a:rPr lang="en" sz="1100">
                <a:solidFill>
                  <a:schemeClr val="dk1"/>
                </a:solidFill>
              </a:rPr>
              <a:t>Form-Factor – should not be larger than current counting device</a:t>
            </a:r>
            <a:endParaRPr sz="1100">
              <a:solidFill>
                <a:schemeClr val="dk1"/>
              </a:solidFill>
            </a:endParaRPr>
          </a:p>
          <a:p>
            <a:pPr indent="-287972" lvl="1" marL="914400" rtl="0" algn="l">
              <a:spcBef>
                <a:spcPts val="0"/>
              </a:spcBef>
              <a:spcAft>
                <a:spcPts val="0"/>
              </a:spcAft>
              <a:buClr>
                <a:schemeClr val="dk1"/>
              </a:buClr>
              <a:buSzPct val="100000"/>
              <a:buChar char="-"/>
            </a:pPr>
            <a:r>
              <a:rPr lang="en" sz="1100">
                <a:solidFill>
                  <a:schemeClr val="dk1"/>
                </a:solidFill>
              </a:rPr>
              <a:t>Acceptance Criteria – Device passes once it is either, more accurate with equivalent time or faster with equivalent accuracy and precision. Both outcomes should not exceed current predicate device cost. </a:t>
            </a:r>
            <a:endParaRPr sz="1100">
              <a:solidFill>
                <a:schemeClr val="dk1"/>
              </a:solidFill>
            </a:endParaRPr>
          </a:p>
          <a:p>
            <a:pPr indent="-287972" lvl="1" marL="914400" rtl="0" algn="l">
              <a:spcBef>
                <a:spcPts val="0"/>
              </a:spcBef>
              <a:spcAft>
                <a:spcPts val="0"/>
              </a:spcAft>
              <a:buClr>
                <a:schemeClr val="dk1"/>
              </a:buClr>
              <a:buSzPct val="100000"/>
              <a:buChar char="-"/>
            </a:pPr>
            <a:r>
              <a:rPr lang="en" sz="1100">
                <a:solidFill>
                  <a:schemeClr val="dk1"/>
                </a:solidFill>
                <a:highlight>
                  <a:srgbClr val="FF9900"/>
                </a:highlight>
              </a:rPr>
              <a:t>Count and size particles</a:t>
            </a:r>
            <a:endParaRPr sz="1100">
              <a:solidFill>
                <a:schemeClr val="dk1"/>
              </a:solidFill>
              <a:highlight>
                <a:srgbClr val="FF9900"/>
              </a:highlight>
            </a:endParaRPr>
          </a:p>
          <a:p>
            <a:pPr indent="-287972" lvl="2" marL="1371600" rtl="0" algn="l">
              <a:spcBef>
                <a:spcPts val="0"/>
              </a:spcBef>
              <a:spcAft>
                <a:spcPts val="0"/>
              </a:spcAft>
              <a:buClr>
                <a:schemeClr val="dk1"/>
              </a:buClr>
              <a:buSzPct val="100000"/>
              <a:buChar char="-"/>
            </a:pPr>
            <a:r>
              <a:rPr lang="en" sz="1100">
                <a:solidFill>
                  <a:schemeClr val="dk1"/>
                </a:solidFill>
                <a:highlight>
                  <a:srgbClr val="FF9900"/>
                </a:highlight>
              </a:rPr>
              <a:t>Validation: spiking and </a:t>
            </a:r>
            <a:r>
              <a:rPr lang="en" sz="1100">
                <a:solidFill>
                  <a:schemeClr val="dk1"/>
                </a:solidFill>
                <a:highlight>
                  <a:srgbClr val="FF9900"/>
                </a:highlight>
              </a:rPr>
              <a:t>recovery</a:t>
            </a:r>
            <a:r>
              <a:rPr lang="en" sz="1100">
                <a:solidFill>
                  <a:schemeClr val="dk1"/>
                </a:solidFill>
                <a:highlight>
                  <a:srgbClr val="FF9900"/>
                </a:highlight>
              </a:rPr>
              <a:t>, benchmark against a known predicate</a:t>
            </a:r>
            <a:endParaRPr sz="1100">
              <a:solidFill>
                <a:schemeClr val="dk1"/>
              </a:solidFill>
              <a:highlight>
                <a:srgbClr val="FF9900"/>
              </a:highlight>
            </a:endParaRPr>
          </a:p>
          <a:p>
            <a:pPr indent="-287972" lvl="0" marL="457200" rtl="0" algn="l">
              <a:spcBef>
                <a:spcPts val="0"/>
              </a:spcBef>
              <a:spcAft>
                <a:spcPts val="0"/>
              </a:spcAft>
              <a:buClr>
                <a:schemeClr val="dk1"/>
              </a:buClr>
              <a:buSzPct val="100000"/>
              <a:buChar char="-"/>
            </a:pPr>
            <a:r>
              <a:rPr lang="en" sz="1100">
                <a:solidFill>
                  <a:schemeClr val="dk1"/>
                </a:solidFill>
              </a:rPr>
              <a:t>flowchart/diagram of device:</a:t>
            </a:r>
            <a:endParaRPr sz="1100">
              <a:solidFill>
                <a:schemeClr val="dk1"/>
              </a:solidFill>
            </a:endParaRPr>
          </a:p>
          <a:p>
            <a:pPr indent="-287972" lvl="1" marL="914400" rtl="0" algn="l">
              <a:spcBef>
                <a:spcPts val="0"/>
              </a:spcBef>
              <a:spcAft>
                <a:spcPts val="0"/>
              </a:spcAft>
              <a:buClr>
                <a:schemeClr val="dk1"/>
              </a:buClr>
              <a:buSzPct val="100000"/>
              <a:buChar char="-"/>
            </a:pPr>
            <a:r>
              <a:rPr lang="en" sz="1100">
                <a:solidFill>
                  <a:schemeClr val="dk1"/>
                </a:solidFill>
              </a:rPr>
              <a:t>Imaging technology</a:t>
            </a:r>
            <a:endParaRPr sz="1100">
              <a:solidFill>
                <a:schemeClr val="dk1"/>
              </a:solidFill>
            </a:endParaRPr>
          </a:p>
          <a:p>
            <a:pPr indent="-287972" lvl="1" marL="914400" rtl="0" algn="l">
              <a:spcBef>
                <a:spcPts val="0"/>
              </a:spcBef>
              <a:spcAft>
                <a:spcPts val="0"/>
              </a:spcAft>
              <a:buClr>
                <a:schemeClr val="dk1"/>
              </a:buClr>
              <a:buSzPct val="100000"/>
              <a:buChar char="-"/>
            </a:pPr>
            <a:r>
              <a:rPr lang="en" sz="1100">
                <a:solidFill>
                  <a:schemeClr val="dk1"/>
                </a:solidFill>
              </a:rPr>
              <a:t>Upload to script</a:t>
            </a:r>
            <a:endParaRPr sz="1100">
              <a:solidFill>
                <a:schemeClr val="dk1"/>
              </a:solidFill>
            </a:endParaRPr>
          </a:p>
          <a:p>
            <a:pPr indent="-287972" lvl="1" marL="914400" rtl="0" algn="l">
              <a:spcBef>
                <a:spcPts val="0"/>
              </a:spcBef>
              <a:spcAft>
                <a:spcPts val="0"/>
              </a:spcAft>
              <a:buClr>
                <a:schemeClr val="dk1"/>
              </a:buClr>
              <a:buSzPct val="100000"/>
              <a:buChar char="-"/>
            </a:pPr>
            <a:r>
              <a:rPr lang="en" sz="1100">
                <a:solidFill>
                  <a:schemeClr val="dk1"/>
                </a:solidFill>
              </a:rPr>
              <a:t>Output result</a:t>
            </a:r>
            <a:endParaRPr sz="1100">
              <a:solidFill>
                <a:schemeClr val="dk1"/>
              </a:solidFill>
            </a:endParaRPr>
          </a:p>
        </p:txBody>
      </p:sp>
      <p:sp>
        <p:nvSpPr>
          <p:cNvPr id="96" name="Google Shape;96;p19"/>
          <p:cNvSpPr txBox="1"/>
          <p:nvPr/>
        </p:nvSpPr>
        <p:spPr>
          <a:xfrm>
            <a:off x="6262650" y="245425"/>
            <a:ext cx="2899500" cy="610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pic>
        <p:nvPicPr>
          <p:cNvPr descr="A red and grey chart with white text&#10;&#10;Description automatically generated" id="97" name="Google Shape;97;p19"/>
          <p:cNvPicPr preferRelativeResize="0"/>
          <p:nvPr/>
        </p:nvPicPr>
        <p:blipFill rotWithShape="1">
          <a:blip r:embed="rId3">
            <a:alphaModFix/>
          </a:blip>
          <a:srcRect b="0" l="0" r="0" t="0"/>
          <a:stretch/>
        </p:blipFill>
        <p:spPr>
          <a:xfrm>
            <a:off x="6580775" y="245425"/>
            <a:ext cx="1545226" cy="16031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Flowchart</a:t>
            </a:r>
            <a:endParaRPr/>
          </a:p>
        </p:txBody>
      </p:sp>
      <p:sp>
        <p:nvSpPr>
          <p:cNvPr id="103" name="Google Shape;103;p20"/>
          <p:cNvSpPr/>
          <p:nvPr/>
        </p:nvSpPr>
        <p:spPr>
          <a:xfrm>
            <a:off x="4650304" y="2661475"/>
            <a:ext cx="1773600" cy="11337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MATLAB Script</a:t>
            </a:r>
            <a:endParaRPr/>
          </a:p>
        </p:txBody>
      </p:sp>
      <p:sp>
        <p:nvSpPr>
          <p:cNvPr id="104" name="Google Shape;104;p20"/>
          <p:cNvSpPr/>
          <p:nvPr/>
        </p:nvSpPr>
        <p:spPr>
          <a:xfrm>
            <a:off x="2720106" y="2661475"/>
            <a:ext cx="1773600" cy="11337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White-light interferometry</a:t>
            </a:r>
            <a:endParaRPr/>
          </a:p>
        </p:txBody>
      </p:sp>
      <p:sp>
        <p:nvSpPr>
          <p:cNvPr id="105" name="Google Shape;105;p20"/>
          <p:cNvSpPr/>
          <p:nvPr/>
        </p:nvSpPr>
        <p:spPr>
          <a:xfrm>
            <a:off x="6580510" y="2661475"/>
            <a:ext cx="1773600" cy="11337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Output Result</a:t>
            </a:r>
            <a:endParaRPr/>
          </a:p>
        </p:txBody>
      </p:sp>
      <p:sp>
        <p:nvSpPr>
          <p:cNvPr id="106" name="Google Shape;106;p20"/>
          <p:cNvSpPr/>
          <p:nvPr/>
        </p:nvSpPr>
        <p:spPr>
          <a:xfrm>
            <a:off x="789900" y="2661475"/>
            <a:ext cx="1773600" cy="11337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Design Criteria</a:t>
            </a:r>
            <a:endParaRPr/>
          </a:p>
        </p:txBody>
      </p:sp>
      <p:sp>
        <p:nvSpPr>
          <p:cNvPr id="107" name="Google Shape;107;p20"/>
          <p:cNvSpPr txBox="1"/>
          <p:nvPr/>
        </p:nvSpPr>
        <p:spPr>
          <a:xfrm>
            <a:off x="-175075" y="1467200"/>
            <a:ext cx="4343100" cy="475200"/>
          </a:xfrm>
          <a:prstGeom prst="rect">
            <a:avLst/>
          </a:prstGeom>
          <a:noFill/>
          <a:ln>
            <a:noFill/>
          </a:ln>
        </p:spPr>
        <p:txBody>
          <a:bodyPr anchorCtr="0" anchor="t" bIns="91425" lIns="91425" spcFirstLastPara="1" rIns="91425" wrap="square" tIns="91425">
            <a:noAutofit/>
          </a:bodyPr>
          <a:lstStyle/>
          <a:p>
            <a:pPr indent="-292100" lvl="0" marL="457200" rtl="0" algn="l">
              <a:spcBef>
                <a:spcPts val="0"/>
              </a:spcBef>
              <a:spcAft>
                <a:spcPts val="0"/>
              </a:spcAft>
              <a:buClr>
                <a:schemeClr val="dk2"/>
              </a:buClr>
              <a:buSzPts val="1000"/>
              <a:buChar char="-"/>
            </a:pPr>
            <a:r>
              <a:rPr lang="en" sz="1000">
                <a:solidFill>
                  <a:schemeClr val="dk2"/>
                </a:solidFill>
              </a:rPr>
              <a:t>Need to collect particles in liquid sample</a:t>
            </a:r>
            <a:endParaRPr sz="1000">
              <a:solidFill>
                <a:schemeClr val="dk2"/>
              </a:solidFill>
            </a:endParaRPr>
          </a:p>
          <a:p>
            <a:pPr indent="-292100" lvl="0" marL="457200" rtl="0" algn="l">
              <a:spcBef>
                <a:spcPts val="0"/>
              </a:spcBef>
              <a:spcAft>
                <a:spcPts val="0"/>
              </a:spcAft>
              <a:buClr>
                <a:schemeClr val="dk2"/>
              </a:buClr>
              <a:buSzPts val="1000"/>
              <a:buChar char="-"/>
            </a:pPr>
            <a:r>
              <a:rPr lang="en" sz="1000">
                <a:solidFill>
                  <a:schemeClr val="dk2"/>
                </a:solidFill>
              </a:rPr>
              <a:t>Put into microscope thingy</a:t>
            </a:r>
            <a:endParaRPr sz="1000">
              <a:solidFill>
                <a:schemeClr val="dk2"/>
              </a:solidFill>
            </a:endParaRPr>
          </a:p>
          <a:p>
            <a:pPr indent="-292100" lvl="0" marL="457200" rtl="0" algn="l">
              <a:spcBef>
                <a:spcPts val="0"/>
              </a:spcBef>
              <a:spcAft>
                <a:spcPts val="0"/>
              </a:spcAft>
              <a:buClr>
                <a:schemeClr val="dk2"/>
              </a:buClr>
              <a:buSzPts val="1000"/>
              <a:buChar char="-"/>
            </a:pPr>
            <a:r>
              <a:rPr lang="en" sz="1000">
                <a:solidFill>
                  <a:schemeClr val="dk2"/>
                </a:solidFill>
              </a:rPr>
              <a:t>software</a:t>
            </a:r>
            <a:endParaRPr sz="1000">
              <a:solidFill>
                <a:schemeClr val="dk2"/>
              </a:solidFill>
            </a:endParaRPr>
          </a:p>
          <a:p>
            <a:pPr indent="-292100" lvl="0" marL="457200" rtl="0" algn="l">
              <a:spcBef>
                <a:spcPts val="0"/>
              </a:spcBef>
              <a:spcAft>
                <a:spcPts val="0"/>
              </a:spcAft>
              <a:buClr>
                <a:schemeClr val="dk2"/>
              </a:buClr>
              <a:buSzPts val="1000"/>
              <a:buChar char="-"/>
            </a:pPr>
            <a:r>
              <a:rPr lang="en" sz="1000">
                <a:solidFill>
                  <a:schemeClr val="dk2"/>
                </a:solidFill>
              </a:rPr>
              <a:t>Get result</a:t>
            </a:r>
            <a:endParaRPr sz="1000">
              <a:solidFill>
                <a:schemeClr val="dk2"/>
              </a:solidFill>
            </a:endParaRPr>
          </a:p>
          <a:p>
            <a:pPr indent="-292100" lvl="0" marL="457200" rtl="0" algn="l">
              <a:spcBef>
                <a:spcPts val="0"/>
              </a:spcBef>
              <a:spcAft>
                <a:spcPts val="0"/>
              </a:spcAft>
              <a:buClr>
                <a:schemeClr val="dk2"/>
              </a:buClr>
              <a:buSzPts val="1000"/>
              <a:buChar char="-"/>
            </a:pPr>
            <a:r>
              <a:rPr lang="en" sz="1000">
                <a:solidFill>
                  <a:schemeClr val="dk2"/>
                </a:solidFill>
              </a:rPr>
              <a:t>Diagram showing testing, particles collect in filter, </a:t>
            </a:r>
            <a:r>
              <a:rPr lang="en" sz="1000">
                <a:solidFill>
                  <a:schemeClr val="dk2"/>
                </a:solidFill>
              </a:rPr>
              <a:t>liquid</a:t>
            </a:r>
            <a:r>
              <a:rPr lang="en" sz="1000">
                <a:solidFill>
                  <a:schemeClr val="dk2"/>
                </a:solidFill>
              </a:rPr>
              <a:t> sample, </a:t>
            </a:r>
            <a:endParaRPr sz="1000">
              <a:solidFill>
                <a:schemeClr val="dk2"/>
              </a:solidFill>
            </a:endParaRPr>
          </a:p>
        </p:txBody>
      </p:sp>
      <p:sp>
        <p:nvSpPr>
          <p:cNvPr id="108" name="Google Shape;108;p20"/>
          <p:cNvSpPr txBox="1"/>
          <p:nvPr/>
        </p:nvSpPr>
        <p:spPr>
          <a:xfrm>
            <a:off x="3859700" y="825300"/>
            <a:ext cx="4793400" cy="1317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2"/>
                </a:solidFill>
              </a:rPr>
              <a:t>Sample preparation - sample imaging - sample analysis</a:t>
            </a:r>
            <a:endParaRPr sz="12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1"/>
          <p:cNvSpPr txBox="1"/>
          <p:nvPr>
            <p:ph type="title"/>
          </p:nvPr>
        </p:nvSpPr>
        <p:spPr>
          <a:xfrm>
            <a:off x="190125" y="1083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114" name="Google Shape;114;p21"/>
          <p:cNvSpPr/>
          <p:nvPr/>
        </p:nvSpPr>
        <p:spPr>
          <a:xfrm>
            <a:off x="190125" y="681050"/>
            <a:ext cx="2110698" cy="444366"/>
          </a:xfrm>
          <a:prstGeom prst="flowChartTermina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START: Assembled Handpiece</a:t>
            </a:r>
            <a:endParaRPr/>
          </a:p>
        </p:txBody>
      </p:sp>
      <p:sp>
        <p:nvSpPr>
          <p:cNvPr id="115" name="Google Shape;115;p21"/>
          <p:cNvSpPr/>
          <p:nvPr/>
        </p:nvSpPr>
        <p:spPr>
          <a:xfrm>
            <a:off x="190125" y="1535175"/>
            <a:ext cx="1460475" cy="444375"/>
          </a:xfrm>
          <a:prstGeom prst="flowChartProcess">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Product Testing Station</a:t>
            </a:r>
            <a:endParaRPr/>
          </a:p>
        </p:txBody>
      </p:sp>
      <p:sp>
        <p:nvSpPr>
          <p:cNvPr id="116" name="Google Shape;116;p21"/>
          <p:cNvSpPr/>
          <p:nvPr/>
        </p:nvSpPr>
        <p:spPr>
          <a:xfrm>
            <a:off x="190100" y="2389325"/>
            <a:ext cx="1635550" cy="520050"/>
          </a:xfrm>
          <a:prstGeom prst="flowChartProcess">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High-Pressure Liquid Pumping</a:t>
            </a:r>
            <a:endParaRPr/>
          </a:p>
        </p:txBody>
      </p:sp>
      <p:sp>
        <p:nvSpPr>
          <p:cNvPr id="117" name="Google Shape;117;p21"/>
          <p:cNvSpPr/>
          <p:nvPr/>
        </p:nvSpPr>
        <p:spPr>
          <a:xfrm>
            <a:off x="190125" y="3243450"/>
            <a:ext cx="1602175" cy="249450"/>
          </a:xfrm>
          <a:prstGeom prst="flowChartProcess">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Liquid Collection</a:t>
            </a:r>
            <a:endParaRPr/>
          </a:p>
        </p:txBody>
      </p:sp>
      <p:sp>
        <p:nvSpPr>
          <p:cNvPr id="118" name="Google Shape;118;p21"/>
          <p:cNvSpPr/>
          <p:nvPr/>
        </p:nvSpPr>
        <p:spPr>
          <a:xfrm>
            <a:off x="3107075" y="681075"/>
            <a:ext cx="1299900" cy="249450"/>
          </a:xfrm>
          <a:prstGeom prst="flowChartProcess">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Filter Liquid</a:t>
            </a:r>
            <a:endParaRPr/>
          </a:p>
        </p:txBody>
      </p:sp>
      <p:sp>
        <p:nvSpPr>
          <p:cNvPr id="119" name="Google Shape;119;p21"/>
          <p:cNvSpPr/>
          <p:nvPr/>
        </p:nvSpPr>
        <p:spPr>
          <a:xfrm>
            <a:off x="3107075" y="1535200"/>
            <a:ext cx="1369525" cy="249450"/>
          </a:xfrm>
          <a:prstGeom prst="flowChartProcess">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Dry Filter</a:t>
            </a:r>
            <a:endParaRPr/>
          </a:p>
        </p:txBody>
      </p:sp>
      <p:sp>
        <p:nvSpPr>
          <p:cNvPr id="120" name="Google Shape;120;p21"/>
          <p:cNvSpPr/>
          <p:nvPr/>
        </p:nvSpPr>
        <p:spPr>
          <a:xfrm>
            <a:off x="3068950" y="2389325"/>
            <a:ext cx="2334850" cy="638775"/>
          </a:xfrm>
          <a:prstGeom prst="flowChartInputOutpu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Automated Image/Data Collection</a:t>
            </a:r>
            <a:endParaRPr/>
          </a:p>
        </p:txBody>
      </p:sp>
      <p:sp>
        <p:nvSpPr>
          <p:cNvPr id="121" name="Google Shape;121;p21"/>
          <p:cNvSpPr/>
          <p:nvPr/>
        </p:nvSpPr>
        <p:spPr>
          <a:xfrm>
            <a:off x="3050950" y="3243450"/>
            <a:ext cx="2334850" cy="638775"/>
          </a:xfrm>
          <a:prstGeom prst="flowChartProcess">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Upload to Matlab</a:t>
            </a:r>
            <a:endParaRPr/>
          </a:p>
        </p:txBody>
      </p:sp>
      <p:sp>
        <p:nvSpPr>
          <p:cNvPr id="122" name="Google Shape;122;p21"/>
          <p:cNvSpPr/>
          <p:nvPr/>
        </p:nvSpPr>
        <p:spPr>
          <a:xfrm>
            <a:off x="5742025" y="1758350"/>
            <a:ext cx="3329250" cy="1206350"/>
          </a:xfrm>
          <a:prstGeom prst="flowChartDecision">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Is particle count </a:t>
            </a:r>
            <a:endParaRPr/>
          </a:p>
          <a:p>
            <a:pPr indent="0" lvl="0" marL="0" rtl="0" algn="l">
              <a:spcBef>
                <a:spcPts val="0"/>
              </a:spcBef>
              <a:spcAft>
                <a:spcPts val="0"/>
              </a:spcAft>
              <a:buNone/>
            </a:pPr>
            <a:r>
              <a:rPr lang="en"/>
              <a:t>≤12/mL of ≥10µm,</a:t>
            </a:r>
            <a:endParaRPr/>
          </a:p>
          <a:p>
            <a:pPr indent="0" lvl="0" marL="0" rtl="0" algn="l">
              <a:spcBef>
                <a:spcPts val="0"/>
              </a:spcBef>
              <a:spcAft>
                <a:spcPts val="0"/>
              </a:spcAft>
              <a:buNone/>
            </a:pPr>
            <a:r>
              <a:rPr lang="en"/>
              <a:t> ≤2/mL of ≥25µm?</a:t>
            </a:r>
            <a:endParaRPr/>
          </a:p>
        </p:txBody>
      </p:sp>
      <p:sp>
        <p:nvSpPr>
          <p:cNvPr id="123" name="Google Shape;123;p21"/>
          <p:cNvSpPr/>
          <p:nvPr/>
        </p:nvSpPr>
        <p:spPr>
          <a:xfrm>
            <a:off x="5911775" y="3361763"/>
            <a:ext cx="1225098" cy="402138"/>
          </a:xfrm>
          <a:prstGeom prst="flowChartTermina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Pass</a:t>
            </a:r>
            <a:endParaRPr/>
          </a:p>
        </p:txBody>
      </p:sp>
      <p:sp>
        <p:nvSpPr>
          <p:cNvPr id="124" name="Google Shape;124;p21"/>
          <p:cNvSpPr/>
          <p:nvPr/>
        </p:nvSpPr>
        <p:spPr>
          <a:xfrm>
            <a:off x="7724600" y="3413425"/>
            <a:ext cx="1299900" cy="402150"/>
          </a:xfrm>
          <a:prstGeom prst="flowChartProcess">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Fail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130" name="Google Shape;130;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100">
                <a:solidFill>
                  <a:schemeClr val="dk1"/>
                </a:solidFill>
              </a:rPr>
              <a:t>Team (10 pts)  </a:t>
            </a:r>
            <a:r>
              <a:rPr lang="en" sz="1100">
                <a:solidFill>
                  <a:schemeClr val="dk1"/>
                </a:solidFill>
                <a:highlight>
                  <a:schemeClr val="accent6"/>
                </a:highlight>
              </a:rPr>
              <a:t>One person for this slide, maybe each person can introduce their own role (split into two slides?)</a:t>
            </a:r>
            <a:endParaRPr sz="1100">
              <a:solidFill>
                <a:schemeClr val="dk1"/>
              </a:solidFill>
              <a:highlight>
                <a:schemeClr val="accent6"/>
              </a:highlight>
            </a:endParaRPr>
          </a:p>
          <a:p>
            <a:pPr indent="0" lvl="0" marL="0" rtl="0" algn="l">
              <a:spcBef>
                <a:spcPts val="0"/>
              </a:spcBef>
              <a:spcAft>
                <a:spcPts val="0"/>
              </a:spcAft>
              <a:buClr>
                <a:schemeClr val="dk1"/>
              </a:buClr>
              <a:buSzPts val="1100"/>
              <a:buFont typeface="Arial"/>
              <a:buNone/>
            </a:pPr>
            <a:r>
              <a:rPr lang="en" sz="1100">
                <a:solidFill>
                  <a:schemeClr val="dk1"/>
                </a:solidFill>
              </a:rPr>
              <a:t>• Who is doing what?</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Isaac team leader</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Yolanda, Matthew hardware</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Brian business + writing</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Tandol Specific software, hardware components to design</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Areas to research</a:t>
            </a:r>
            <a:endParaRPr sz="1100">
              <a:solidFill>
                <a:schemeClr val="dk1"/>
              </a:solidFill>
            </a:endParaRPr>
          </a:p>
          <a:p>
            <a:pPr indent="0" lvl="0" marL="0" rtl="0" algn="l">
              <a:spcBef>
                <a:spcPts val="0"/>
              </a:spcBef>
              <a:spcAft>
                <a:spcPts val="0"/>
              </a:spcAft>
              <a:buClr>
                <a:schemeClr val="dk1"/>
              </a:buClr>
              <a:buSzPts val="1100"/>
              <a:buFont typeface="Arial"/>
              <a:buNone/>
            </a:pPr>
            <a:r>
              <a:rPr lang="en" sz="1100">
                <a:solidFill>
                  <a:schemeClr val="dk1"/>
                </a:solidFill>
              </a:rPr>
              <a:t>Future Goals (5 pts)</a:t>
            </a:r>
            <a:endParaRPr sz="1100">
              <a:solidFill>
                <a:schemeClr val="dk1"/>
              </a:solidFill>
            </a:endParaRPr>
          </a:p>
          <a:p>
            <a:pPr indent="0" lvl="0" marL="0" rtl="0" algn="l">
              <a:spcBef>
                <a:spcPts val="0"/>
              </a:spcBef>
              <a:spcAft>
                <a:spcPts val="0"/>
              </a:spcAft>
              <a:buClr>
                <a:schemeClr val="dk1"/>
              </a:buClr>
              <a:buSzPts val="1100"/>
              <a:buFont typeface="Arial"/>
              <a:buNone/>
            </a:pPr>
            <a:r>
              <a:rPr lang="en" sz="1100">
                <a:solidFill>
                  <a:schemeClr val="dk1"/>
                </a:solidFill>
              </a:rPr>
              <a:t>• Briefly describe the goals for Winter and Spring Quarters?</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Acquire imaging technology, create process to extract data, start </a:t>
            </a:r>
            <a:r>
              <a:rPr lang="en" sz="1100">
                <a:solidFill>
                  <a:schemeClr val="dk1"/>
                </a:solidFill>
              </a:rPr>
              <a:t>writing</a:t>
            </a:r>
            <a:r>
              <a:rPr lang="en" sz="1100">
                <a:solidFill>
                  <a:schemeClr val="dk1"/>
                </a:solidFill>
              </a:rPr>
              <a:t> script to analyze data</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Outline the areas that we need to research</a:t>
            </a:r>
            <a:endParaRPr sz="1100">
              <a:solidFill>
                <a:schemeClr val="dk1"/>
              </a:solidFill>
            </a:endParaRPr>
          </a:p>
          <a:p>
            <a:pPr indent="-298450" lvl="1" marL="914400" rtl="0" algn="l">
              <a:spcBef>
                <a:spcPts val="0"/>
              </a:spcBef>
              <a:spcAft>
                <a:spcPts val="0"/>
              </a:spcAft>
              <a:buClr>
                <a:schemeClr val="dk1"/>
              </a:buClr>
              <a:buSzPts val="1100"/>
              <a:buChar char="-"/>
            </a:pPr>
            <a:r>
              <a:rPr lang="en" sz="1100">
                <a:solidFill>
                  <a:schemeClr val="dk1"/>
                </a:solidFill>
              </a:rPr>
              <a:t>Imaging technology</a:t>
            </a:r>
            <a:endParaRPr sz="1100">
              <a:solidFill>
                <a:schemeClr val="dk1"/>
              </a:solidFill>
            </a:endParaRPr>
          </a:p>
          <a:p>
            <a:pPr indent="-298450" lvl="1" marL="914400" rtl="0" algn="l">
              <a:spcBef>
                <a:spcPts val="0"/>
              </a:spcBef>
              <a:spcAft>
                <a:spcPts val="0"/>
              </a:spcAft>
              <a:buClr>
                <a:schemeClr val="dk1"/>
              </a:buClr>
              <a:buSzPts val="1100"/>
              <a:buChar char="-"/>
            </a:pPr>
            <a:r>
              <a:rPr lang="en" sz="1100">
                <a:solidFill>
                  <a:schemeClr val="dk1"/>
                </a:solidFill>
              </a:rPr>
              <a:t>Machine learning for particle evaluation</a:t>
            </a:r>
            <a:endParaRPr sz="1100">
              <a:solidFill>
                <a:schemeClr val="dk1"/>
              </a:solidFill>
            </a:endParaRPr>
          </a:p>
          <a:p>
            <a:pPr indent="0" lvl="0" marL="0" rtl="0" algn="l">
              <a:spcBef>
                <a:spcPts val="0"/>
              </a:spcBef>
              <a:spcAft>
                <a:spcPts val="0"/>
              </a:spcAft>
              <a:buClr>
                <a:schemeClr val="dk1"/>
              </a:buClr>
              <a:buSzPts val="1100"/>
              <a:buFont typeface="Arial"/>
              <a:buNone/>
            </a:pPr>
            <a:r>
              <a:rPr lang="en" sz="1100">
                <a:solidFill>
                  <a:schemeClr val="dk1"/>
                </a:solidFill>
              </a:rPr>
              <a:t>• Provide an updated Gantt Chart with milestones.</a:t>
            </a:r>
            <a:endParaRPr sz="1100">
              <a:solidFill>
                <a:schemeClr val="dk1"/>
              </a:solidFill>
            </a:endParaRPr>
          </a:p>
          <a:p>
            <a:pPr indent="0" lvl="0" marL="0" rtl="0" algn="l">
              <a:spcBef>
                <a:spcPts val="0"/>
              </a:spcBef>
              <a:spcAft>
                <a:spcPts val="0"/>
              </a:spcAft>
              <a:buClr>
                <a:schemeClr val="dk1"/>
              </a:buClr>
              <a:buSzPts val="1100"/>
              <a:buFont typeface="Arial"/>
              <a:buNone/>
            </a:pPr>
            <a:r>
              <a:t/>
            </a:r>
            <a:endParaRPr sz="1100">
              <a:solidFill>
                <a:schemeClr val="dk1"/>
              </a:solidFill>
            </a:endParaRPr>
          </a:p>
          <a:p>
            <a:pPr indent="0" lvl="0" marL="0" rtl="0" algn="l">
              <a:spcBef>
                <a:spcPts val="0"/>
              </a:spcBef>
              <a:spcAft>
                <a:spcPts val="120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136" name="Google Shape;13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100">
                <a:solidFill>
                  <a:schemeClr val="dk1"/>
                </a:solidFill>
              </a:rPr>
              <a:t>Overall Aesthetic of slides (20 pts)</a:t>
            </a:r>
            <a:endParaRPr sz="1100">
              <a:solidFill>
                <a:schemeClr val="dk1"/>
              </a:solidFill>
            </a:endParaRPr>
          </a:p>
          <a:p>
            <a:pPr indent="0" lvl="0" marL="0" rtl="0" algn="l">
              <a:spcBef>
                <a:spcPts val="0"/>
              </a:spcBef>
              <a:spcAft>
                <a:spcPts val="0"/>
              </a:spcAft>
              <a:buClr>
                <a:schemeClr val="dk1"/>
              </a:buClr>
              <a:buSzPts val="1100"/>
              <a:buFont typeface="Arial"/>
              <a:buNone/>
            </a:pPr>
            <a:r>
              <a:rPr lang="en" sz="1100">
                <a:solidFill>
                  <a:schemeClr val="dk1"/>
                </a:solidFill>
              </a:rPr>
              <a:t>• Good balance between text and figures, text size is large enough to read clearly, high‐quality</a:t>
            </a:r>
            <a:endParaRPr sz="1100">
              <a:solidFill>
                <a:schemeClr val="dk1"/>
              </a:solidFill>
            </a:endParaRPr>
          </a:p>
          <a:p>
            <a:pPr indent="0" lvl="0" marL="0" rtl="0" algn="l">
              <a:spcBef>
                <a:spcPts val="0"/>
              </a:spcBef>
              <a:spcAft>
                <a:spcPts val="0"/>
              </a:spcAft>
              <a:buClr>
                <a:schemeClr val="dk1"/>
              </a:buClr>
              <a:buSzPts val="1100"/>
              <a:buFont typeface="Arial"/>
              <a:buNone/>
            </a:pPr>
            <a:r>
              <a:rPr lang="en" sz="1100">
                <a:solidFill>
                  <a:schemeClr val="dk1"/>
                </a:solidFill>
              </a:rPr>
              <a:t>drawings, photos, and graphics, appealing design and text fonts</a:t>
            </a:r>
            <a:endParaRPr sz="1100">
              <a:solidFill>
                <a:schemeClr val="dk1"/>
              </a:solidFill>
            </a:endParaRPr>
          </a:p>
          <a:p>
            <a:pPr indent="0" lvl="0" marL="0" rtl="0" algn="l">
              <a:spcBef>
                <a:spcPts val="0"/>
              </a:spcBef>
              <a:spcAft>
                <a:spcPts val="0"/>
              </a:spcAft>
              <a:buClr>
                <a:schemeClr val="dk1"/>
              </a:buClr>
              <a:buSzPts val="1100"/>
              <a:buFont typeface="Arial"/>
              <a:buNone/>
            </a:pPr>
            <a:r>
              <a:t/>
            </a:r>
            <a:endParaRPr sz="1100">
              <a:solidFill>
                <a:schemeClr val="dk1"/>
              </a:solidFill>
            </a:endParaRPr>
          </a:p>
          <a:p>
            <a:pPr indent="0" lvl="0" marL="0" rtl="0" algn="l">
              <a:spcBef>
                <a:spcPts val="0"/>
              </a:spcBef>
              <a:spcAft>
                <a:spcPts val="0"/>
              </a:spcAft>
              <a:buClr>
                <a:schemeClr val="dk1"/>
              </a:buClr>
              <a:buSzPts val="1100"/>
              <a:buFont typeface="Arial"/>
              <a:buNone/>
            </a:pPr>
            <a:r>
              <a:rPr lang="en" sz="1100">
                <a:solidFill>
                  <a:schemeClr val="dk1"/>
                </a:solidFill>
              </a:rPr>
              <a:t>Stuff we need to do:</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Create flowchart (biorender?)</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Gantt chart - use from HW 5?</a:t>
            </a:r>
            <a:endParaRPr sz="1100">
              <a:solidFill>
                <a:schemeClr val="dk1"/>
              </a:solidFill>
            </a:endParaRPr>
          </a:p>
          <a:p>
            <a:pPr indent="-298450" lvl="0" marL="457200" rtl="0" algn="l">
              <a:spcBef>
                <a:spcPts val="0"/>
              </a:spcBef>
              <a:spcAft>
                <a:spcPts val="0"/>
              </a:spcAft>
              <a:buClr>
                <a:schemeClr val="dk1"/>
              </a:buClr>
              <a:buSzPts val="1100"/>
              <a:buChar char="-"/>
            </a:pPr>
            <a:r>
              <a:t/>
            </a:r>
            <a:endParaRPr sz="1100">
              <a:solidFill>
                <a:schemeClr val="dk1"/>
              </a:solidFill>
            </a:endParaRPr>
          </a:p>
          <a:p>
            <a:pPr indent="0" lvl="0" marL="0" rtl="0" algn="l">
              <a:spcBef>
                <a:spcPts val="0"/>
              </a:spcBef>
              <a:spcAft>
                <a:spcPts val="0"/>
              </a:spcAft>
              <a:buClr>
                <a:schemeClr val="dk1"/>
              </a:buClr>
              <a:buSzPts val="1100"/>
              <a:buFont typeface="Arial"/>
              <a:buNone/>
            </a:pPr>
            <a:r>
              <a:t/>
            </a:r>
            <a:endParaRPr sz="1100">
              <a:solidFill>
                <a:schemeClr val="dk1"/>
              </a:solidFill>
            </a:endParaRPr>
          </a:p>
          <a:p>
            <a:pPr indent="0" lvl="0" marL="0" rtl="0" algn="l">
              <a:spcBef>
                <a:spcPts val="0"/>
              </a:spcBef>
              <a:spcAft>
                <a:spcPts val="120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Sources and stuff</a:t>
            </a:r>
            <a:endParaRPr/>
          </a:p>
          <a:p>
            <a:pPr indent="0" lvl="0" marL="0" rtl="0" algn="l">
              <a:spcBef>
                <a:spcPts val="0"/>
              </a:spcBef>
              <a:spcAft>
                <a:spcPts val="0"/>
              </a:spcAft>
              <a:buNone/>
            </a:pPr>
            <a:r>
              <a:t/>
            </a:r>
            <a:endParaRPr/>
          </a:p>
        </p:txBody>
      </p:sp>
      <p:sp>
        <p:nvSpPr>
          <p:cNvPr id="142" name="Google Shape;14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100" u="sng">
                <a:solidFill>
                  <a:schemeClr val="hlink"/>
                </a:solidFill>
                <a:hlinkClick r:id="rId3"/>
              </a:rPr>
              <a:t>https://www.nelsonlabs.com/four-important-things-to-know-about-particulate-testing-and-medical-devices/</a:t>
            </a:r>
            <a:endParaRPr/>
          </a:p>
          <a:p>
            <a:pPr indent="0" lvl="0" marL="0" rtl="0" algn="l">
              <a:spcBef>
                <a:spcPts val="1200"/>
              </a:spcBef>
              <a:spcAft>
                <a:spcPts val="0"/>
              </a:spcAft>
              <a:buNone/>
            </a:pPr>
            <a:r>
              <a:rPr lang="en" sz="1100" u="sng">
                <a:solidFill>
                  <a:schemeClr val="hlink"/>
                </a:solidFill>
                <a:hlinkClick r:id="rId4"/>
              </a:rPr>
              <a:t>https://medinstitute.com/services/medical-device-testing/particulate-matter-testing/</a:t>
            </a:r>
            <a:endParaRPr/>
          </a:p>
          <a:p>
            <a:pPr indent="0" lvl="0" marL="0" rtl="0" algn="l">
              <a:spcBef>
                <a:spcPts val="1200"/>
              </a:spcBef>
              <a:spcAft>
                <a:spcPts val="0"/>
              </a:spcAft>
              <a:buNone/>
            </a:pPr>
            <a:r>
              <a:rPr lang="en" sz="1100" u="sng">
                <a:solidFill>
                  <a:schemeClr val="hlink"/>
                </a:solidFill>
                <a:hlinkClick r:id="rId5"/>
              </a:rPr>
              <a:t>https://www.uspnf.com/sites/default/files/usp_pdf/EN/USPNF/revisionGeneralChapter788.pdf</a:t>
            </a:r>
            <a:endParaRPr/>
          </a:p>
          <a:p>
            <a:pPr indent="0" lvl="0" marL="0" rtl="0" algn="l">
              <a:spcBef>
                <a:spcPts val="1200"/>
              </a:spcBef>
              <a:spcAft>
                <a:spcPts val="0"/>
              </a:spcAft>
              <a:buNone/>
            </a:pPr>
            <a:r>
              <a:rPr lang="en" sz="1100" u="sng">
                <a:solidFill>
                  <a:schemeClr val="hlink"/>
                </a:solidFill>
                <a:hlinkClick r:id="rId6"/>
              </a:rPr>
              <a:t>https://sentrysci.com/surface-particle-counter</a:t>
            </a:r>
            <a:endParaRPr sz="1100"/>
          </a:p>
          <a:p>
            <a:pPr indent="0" lvl="0" marL="0" rtl="0" algn="l">
              <a:spcBef>
                <a:spcPts val="1200"/>
              </a:spcBef>
              <a:spcAft>
                <a:spcPts val="0"/>
              </a:spcAft>
              <a:buNone/>
            </a:pPr>
            <a:r>
              <a:rPr lang="en" sz="1100" u="sng">
                <a:solidFill>
                  <a:schemeClr val="hlink"/>
                </a:solidFill>
                <a:hlinkClick r:id="rId7"/>
              </a:rPr>
              <a:t>https://cdn.standards.iteh.ai/samples/68937/d2812ae466d04cabaaa1958e2acdcf8b/ISO-10993-15-2019.pdf</a:t>
            </a:r>
            <a:endParaRPr sz="1100"/>
          </a:p>
          <a:p>
            <a:pPr indent="0" lvl="0" marL="0" rtl="0" algn="l">
              <a:spcBef>
                <a:spcPts val="1200"/>
              </a:spcBef>
              <a:spcAft>
                <a:spcPts val="0"/>
              </a:spcAft>
              <a:buNone/>
            </a:pPr>
            <a:r>
              <a:rPr lang="en" sz="1100" u="sng">
                <a:solidFill>
                  <a:schemeClr val="hlink"/>
                </a:solidFill>
                <a:hlinkClick r:id="rId8"/>
              </a:rPr>
              <a:t>https://www.uspnf.com/sites/default/files/usp_pdf/EN/USPNF/revisionGeneralChapter788.pdf</a:t>
            </a:r>
            <a:endParaRPr/>
          </a:p>
          <a:p>
            <a:pPr indent="0" lvl="0" marL="0" rtl="0" algn="l">
              <a:spcBef>
                <a:spcPts val="1200"/>
              </a:spcBef>
              <a:spcAft>
                <a:spcPts val="0"/>
              </a:spcAft>
              <a:buNone/>
            </a:pPr>
            <a:r>
              <a:rPr lang="en" sz="1100" u="sng">
                <a:solidFill>
                  <a:schemeClr val="hlink"/>
                </a:solidFill>
                <a:hlinkClick r:id="rId9"/>
              </a:rPr>
              <a:t>https://po-files.ks3-cn-beijing.ksyun.com/5f445d6af346fb3c83c3de37_6a3c46d361fc.pdf</a:t>
            </a:r>
            <a:endParaRPr sz="1100"/>
          </a:p>
          <a:p>
            <a:pPr indent="0" lvl="0" marL="0" rtl="0" algn="l">
              <a:spcBef>
                <a:spcPts val="1200"/>
              </a:spcBef>
              <a:spcAft>
                <a:spcPts val="0"/>
              </a:spcAft>
              <a:buNone/>
            </a:pPr>
            <a:r>
              <a:rPr lang="en" sz="1100" u="sng">
                <a:solidFill>
                  <a:schemeClr val="hlink"/>
                </a:solidFill>
                <a:hlinkClick r:id="rId10"/>
              </a:rPr>
              <a:t>https://cdn.standards.iteh.ai/samples/70267/4fbcc91b58d7452f8141468f8166246d/ISO-16232-2018.pdf</a:t>
            </a:r>
            <a:endParaRPr sz="1100"/>
          </a:p>
          <a:p>
            <a:pPr indent="0" lvl="0" marL="0" rtl="0" algn="l">
              <a:spcBef>
                <a:spcPts val="1200"/>
              </a:spcBef>
              <a:spcAft>
                <a:spcPts val="0"/>
              </a:spcAft>
              <a:buNone/>
            </a:pPr>
            <a:r>
              <a:rPr lang="en" sz="1100" u="sng">
                <a:solidFill>
                  <a:schemeClr val="hlink"/>
                </a:solidFill>
                <a:hlinkClick r:id="rId11"/>
              </a:rPr>
              <a:t>https://www.beckman.com/resources/industry-standards/usp-787/light-obscuration-optical-method-for-particle-detection</a:t>
            </a:r>
            <a:endParaRPr sz="1100"/>
          </a:p>
          <a:p>
            <a:pPr indent="0" lvl="0" marL="0" rtl="0" algn="l">
              <a:spcBef>
                <a:spcPts val="1200"/>
              </a:spcBef>
              <a:spcAft>
                <a:spcPts val="0"/>
              </a:spcAft>
              <a:buNone/>
            </a:pPr>
            <a:r>
              <a:t/>
            </a:r>
            <a:endParaRPr sz="1100"/>
          </a:p>
          <a:p>
            <a:pPr indent="0" lvl="0" marL="0" rtl="0" algn="l">
              <a:spcBef>
                <a:spcPts val="1200"/>
              </a:spcBef>
              <a:spcAft>
                <a:spcPts val="1200"/>
              </a:spcAft>
              <a:buNone/>
            </a:pPr>
            <a:r>
              <a:t/>
            </a:r>
            <a:endParaRPr sz="11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FCE5CD"/>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