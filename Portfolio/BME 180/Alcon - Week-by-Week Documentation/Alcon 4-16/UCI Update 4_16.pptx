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9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</p:sldIdLst>
  <p:sldSz cy="6858000" cx="12192000"/>
  <p:notesSz cx="6985000" cy="9283700"/>
  <p:embeddedFontLst>
    <p:embeddedFont>
      <p:font typeface="Open Sans SemiBold"/>
      <p:regular r:id="rId11"/>
      <p:bold r:id="rId12"/>
      <p:italic r:id="rId13"/>
      <p:boldItalic r:id="rId14"/>
    </p:embeddedFont>
    <p:embeddedFont>
      <p:font typeface="Open Sans ExtraBold"/>
      <p:bold r:id="rId15"/>
      <p:boldItalic r:id="rId16"/>
    </p:embeddedFont>
    <p:embeddedFont>
      <p:font typeface="Open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/L0W/w24uj2EITgVjmEm7p9Mo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D39DD4-EB8C-4C4E-B1BC-B58D11A8ED2B}">
  <a:tblStyle styleId="{FED39DD4-EB8C-4C4E-B1BC-B58D11A8ED2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F1FC"/>
          </a:solidFill>
        </a:fill>
      </a:tcStyle>
    </a:wholeTbl>
    <a:band1H>
      <a:tcTxStyle b="off" i="off"/>
      <a:tcStyle>
        <a:fill>
          <a:solidFill>
            <a:srgbClr val="CAE3F9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E3F9"/>
          </a:solidFill>
        </a:fill>
      </a:tcStyle>
    </a:band1V>
    <a:band2V>
      <a:tcTxStyle b="off" i="off"/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EC6823BC-E041-4F8D-B55D-BDF871FB3061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boldItalic.fntdata"/><Relationship Id="rId11" Type="http://schemas.openxmlformats.org/officeDocument/2006/relationships/font" Target="fonts/OpenSansSemiBold-regular.fntdata"/><Relationship Id="rId10" Type="http://schemas.openxmlformats.org/officeDocument/2006/relationships/slide" Target="slides/slide3.xml"/><Relationship Id="rId21" Type="http://customschemas.google.com/relationships/presentationmetadata" Target="metadata"/><Relationship Id="rId13" Type="http://schemas.openxmlformats.org/officeDocument/2006/relationships/font" Target="fonts/OpenSansSemiBold-italic.fntdata"/><Relationship Id="rId12" Type="http://schemas.openxmlformats.org/officeDocument/2006/relationships/font" Target="fonts/OpenSansSemiBold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font" Target="fonts/OpenSansExtraBold-bold.fntdata"/><Relationship Id="rId14" Type="http://schemas.openxmlformats.org/officeDocument/2006/relationships/font" Target="fonts/OpenSansSemiBold-boldItalic.fntdata"/><Relationship Id="rId17" Type="http://schemas.openxmlformats.org/officeDocument/2006/relationships/font" Target="fonts/OpenSans-regular.fntdata"/><Relationship Id="rId16" Type="http://schemas.openxmlformats.org/officeDocument/2006/relationships/font" Target="fonts/OpenSansExtraBold-boldItalic.fntdata"/><Relationship Id="rId5" Type="http://schemas.openxmlformats.org/officeDocument/2006/relationships/slideMaster" Target="slideMasters/slideMaster2.xml"/><Relationship Id="rId19" Type="http://schemas.openxmlformats.org/officeDocument/2006/relationships/font" Target="fonts/OpenSans-italic.fntdata"/><Relationship Id="rId6" Type="http://schemas.openxmlformats.org/officeDocument/2006/relationships/slideMaster" Target="slideMasters/slideMaster3.xml"/><Relationship Id="rId18" Type="http://schemas.openxmlformats.org/officeDocument/2006/relationships/font" Target="fonts/OpenSans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95655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p1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2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2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5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21129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08738" y="0"/>
            <a:ext cx="448326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6"/>
          <p:cNvSpPr txBox="1"/>
          <p:nvPr>
            <p:ph type="ctrTitle"/>
          </p:nvPr>
        </p:nvSpPr>
        <p:spPr>
          <a:xfrm>
            <a:off x="820057" y="781277"/>
            <a:ext cx="4412343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sz="2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subTitle"/>
          </p:nvPr>
        </p:nvSpPr>
        <p:spPr>
          <a:xfrm>
            <a:off x="820057" y="2143352"/>
            <a:ext cx="4412343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i="0" sz="1800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2" name="Google Shape;2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12242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6"/>
          <p:cNvSpPr txBox="1"/>
          <p:nvPr>
            <p:ph idx="2" type="body"/>
          </p:nvPr>
        </p:nvSpPr>
        <p:spPr>
          <a:xfrm>
            <a:off x="820057" y="6021388"/>
            <a:ext cx="3913187" cy="422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839788" y="365126"/>
            <a:ext cx="10515600" cy="1066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idx="1" type="body"/>
          </p:nvPr>
        </p:nvSpPr>
        <p:spPr>
          <a:xfrm>
            <a:off x="5183188" y="1608881"/>
            <a:ext cx="6172200" cy="4252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9" name="Google Shape;39;p11"/>
          <p:cNvSpPr txBox="1"/>
          <p:nvPr>
            <p:ph idx="2" type="body"/>
          </p:nvPr>
        </p:nvSpPr>
        <p:spPr>
          <a:xfrm>
            <a:off x="839788" y="1607945"/>
            <a:ext cx="3932237" cy="42610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40" name="Google Shape;40;p11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2"/>
          <p:cNvSpPr txBox="1"/>
          <p:nvPr>
            <p:ph type="title"/>
          </p:nvPr>
        </p:nvSpPr>
        <p:spPr>
          <a:xfrm>
            <a:off x="838200" y="5018148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subTitle"/>
          </p:nvPr>
        </p:nvSpPr>
        <p:spPr>
          <a:xfrm>
            <a:off x="820057" y="6046798"/>
            <a:ext cx="10533743" cy="469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i="0" sz="18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grpSp>
        <p:nvGrpSpPr>
          <p:cNvPr id="45" name="Google Shape;45;p12"/>
          <p:cNvGrpSpPr/>
          <p:nvPr/>
        </p:nvGrpSpPr>
        <p:grpSpPr>
          <a:xfrm>
            <a:off x="665580" y="1336329"/>
            <a:ext cx="1377609" cy="1377609"/>
            <a:chOff x="665580" y="1336329"/>
            <a:chExt cx="1377609" cy="1377609"/>
          </a:xfrm>
        </p:grpSpPr>
        <p:sp>
          <p:nvSpPr>
            <p:cNvPr id="46" name="Google Shape;46;p12"/>
            <p:cNvSpPr/>
            <p:nvPr/>
          </p:nvSpPr>
          <p:spPr>
            <a:xfrm>
              <a:off x="751889" y="1422638"/>
              <a:ext cx="1204989" cy="1204989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47" name="Google Shape;47;p1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665580" y="1336329"/>
              <a:ext cx="1377609" cy="137760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>
  <p:cSld name="1_Two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3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13"/>
          <p:cNvSpPr/>
          <p:nvPr/>
        </p:nvSpPr>
        <p:spPr>
          <a:xfrm>
            <a:off x="838200" y="6100763"/>
            <a:ext cx="5181600" cy="1444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wo Content">
  <p:cSld name="2_Two Conte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4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4"/>
          <p:cNvSpPr/>
          <p:nvPr/>
        </p:nvSpPr>
        <p:spPr>
          <a:xfrm>
            <a:off x="838200" y="6040583"/>
            <a:ext cx="5181600" cy="204644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6599581" y="0"/>
            <a:ext cx="569843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>
            <p:ph type="ctrTitle"/>
          </p:nvPr>
        </p:nvSpPr>
        <p:spPr>
          <a:xfrm>
            <a:off x="820057" y="2378583"/>
            <a:ext cx="5441847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" type="subTitle"/>
          </p:nvPr>
        </p:nvSpPr>
        <p:spPr>
          <a:xfrm>
            <a:off x="820057" y="3740658"/>
            <a:ext cx="5441847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4" name="Google Shape;6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0057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Blank">
  <p:cSld name="2_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59024" y="0"/>
            <a:ext cx="7275443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7"/>
          <p:cNvSpPr txBox="1"/>
          <p:nvPr>
            <p:ph type="ctrTitle"/>
          </p:nvPr>
        </p:nvSpPr>
        <p:spPr>
          <a:xfrm>
            <a:off x="7407797" y="2378583"/>
            <a:ext cx="4537276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ExtraBold"/>
              <a:buNone/>
              <a:defRPr b="1" i="0" sz="32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7"/>
          <p:cNvSpPr txBox="1"/>
          <p:nvPr>
            <p:ph idx="1" type="subTitle"/>
          </p:nvPr>
        </p:nvSpPr>
        <p:spPr>
          <a:xfrm>
            <a:off x="7407797" y="3740658"/>
            <a:ext cx="4537276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0" name="Google Shape;7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976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8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5" name="Google Shape;7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551145"/>
            <a:ext cx="1541840" cy="42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Blank">
  <p:cSld name="4_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9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p19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0" name="Google Shape;8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Blank">
  <p:cSld name="5_Blank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20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5" name="Google Shape;8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lank">
  <p:cSld name="3_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1"/>
          <p:cNvSpPr txBox="1"/>
          <p:nvPr>
            <p:ph type="ctrTitle"/>
          </p:nvPr>
        </p:nvSpPr>
        <p:spPr>
          <a:xfrm>
            <a:off x="820057" y="3719115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1"/>
          <p:cNvSpPr txBox="1"/>
          <p:nvPr>
            <p:ph idx="1" type="subTitle"/>
          </p:nvPr>
        </p:nvSpPr>
        <p:spPr>
          <a:xfrm>
            <a:off x="820057" y="5081190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Blank">
  <p:cSld name="6_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2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22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96" name="Google Shape;9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Blank">
  <p:cSld name="7_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3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0" name="Google Shape;100;p23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1" name="Google Shape;10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Blank">
  <p:cSld name="8_Blank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4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4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6" name="Google Shape;10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Blank">
  <p:cSld name="9_Blank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5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5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1" name="Google Shape;1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4" name="Google Shape;114;p26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6628" y="2616444"/>
            <a:ext cx="5958744" cy="16251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9375" y="2193420"/>
            <a:ext cx="5953250" cy="2471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4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b="1" i="0" sz="28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12" name="Google Shape;12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4"/>
          <p:cNvSpPr txBox="1"/>
          <p:nvPr/>
        </p:nvSpPr>
        <p:spPr>
          <a:xfrm>
            <a:off x="4544568" y="6445477"/>
            <a:ext cx="68092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Business Use Only | </a:t>
            </a:r>
            <a:fld id="{00000000-1234-1234-1234-123412341234}" type="slidenum"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" name="Google Shape;125;p1"/>
          <p:cNvGraphicFramePr/>
          <p:nvPr/>
        </p:nvGraphicFramePr>
        <p:xfrm>
          <a:off x="133722" y="30005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{FED39DD4-EB8C-4C4E-B1BC-B58D11A8ED2B}</a:tableStyleId>
              </a:tblPr>
              <a:tblGrid>
                <a:gridCol w="5212725"/>
              </a:tblGrid>
              <a:tr h="35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Status Update:</a:t>
                      </a:r>
                      <a:endParaRPr sz="1400" u="none" cap="none" strike="noStrike"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429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 parts work with motor but are prone to constant errors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refine Ar</a:t>
                      </a: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duino</a:t>
                      </a: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code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work on Python code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test images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power cables for new parts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26" name="Google Shape;126;p1"/>
          <p:cNvSpPr txBox="1"/>
          <p:nvPr>
            <p:ph type="title"/>
          </p:nvPr>
        </p:nvSpPr>
        <p:spPr>
          <a:xfrm>
            <a:off x="213048" y="288960"/>
            <a:ext cx="4657532" cy="5584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93"/>
              </a:buClr>
              <a:buSzPct val="100000"/>
              <a:buFont typeface="Open Sans ExtraBold"/>
              <a:buNone/>
            </a:pPr>
            <a:r>
              <a:rPr lang="en-US">
                <a:solidFill>
                  <a:srgbClr val="003493"/>
                </a:solidFill>
              </a:rPr>
              <a:t>Automated Metal Particulate System</a:t>
            </a:r>
            <a:endParaRPr>
              <a:solidFill>
                <a:srgbClr val="003493"/>
              </a:solidFill>
            </a:endParaRPr>
          </a:p>
        </p:txBody>
      </p:sp>
      <p:graphicFrame>
        <p:nvGraphicFramePr>
          <p:cNvPr id="127" name="Google Shape;127;p1"/>
          <p:cNvGraphicFramePr/>
          <p:nvPr/>
        </p:nvGraphicFramePr>
        <p:xfrm>
          <a:off x="133722" y="10516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{FED39DD4-EB8C-4C4E-B1BC-B58D11A8ED2B}</a:tableStyleId>
              </a:tblPr>
              <a:tblGrid>
                <a:gridCol w="5212725"/>
              </a:tblGrid>
              <a:tr h="25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Problem Statement/Project Goal/Objective</a:t>
                      </a:r>
                      <a:endParaRPr sz="1400" u="none" cap="none" strike="noStrike"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1275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Issue: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Ordered new motors and modules, but we need to refine the code and test it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new parts to power the motors and modules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Need test pictures from microscope for training data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Root Cause: 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Need for prototype</a:t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3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rgbClr val="221A0C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8" name="Google Shape;128;p1"/>
          <p:cNvSpPr txBox="1"/>
          <p:nvPr/>
        </p:nvSpPr>
        <p:spPr>
          <a:xfrm>
            <a:off x="5630767" y="126513"/>
            <a:ext cx="2040293" cy="7208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T: Target Completion Date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C: Completion 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1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Owners: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Date updated: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t/>
            </a:r>
            <a:endParaRPr b="1" i="0" sz="1067" u="none" cap="none" strike="noStrike">
              <a:solidFill>
                <a:srgbClr val="221A0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9" name="Google Shape;129;p1"/>
          <p:cNvGraphicFramePr/>
          <p:nvPr/>
        </p:nvGraphicFramePr>
        <p:xfrm>
          <a:off x="5486400" y="10314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{FED39DD4-EB8C-4C4E-B1BC-B58D11A8ED2B}</a:tableStyleId>
              </a:tblPr>
              <a:tblGrid>
                <a:gridCol w="3685600"/>
                <a:gridCol w="1327150"/>
                <a:gridCol w="1406725"/>
              </a:tblGrid>
              <a:tr h="1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Major Milestones/Action Items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1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Work on Arduino and Python code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Tandol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Obtain test images with filter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Landon, Isaac,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Brian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Train YOLOv5 with the data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Landon, Isaac,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Brian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 Test the software code with the prototype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 Test new hardware parts when received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Tandol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Yolanda, Matthew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of receiving new parts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 Work on Final Report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0" name="Google Shape;130;p1"/>
          <p:cNvGraphicFramePr/>
          <p:nvPr/>
        </p:nvGraphicFramePr>
        <p:xfrm>
          <a:off x="7870776" y="693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{EC6823BC-E041-4F8D-B55D-BDF871FB3061}</a:tableStyleId>
              </a:tblPr>
              <a:tblGrid>
                <a:gridCol w="2093750"/>
                <a:gridCol w="2093750"/>
              </a:tblGrid>
              <a:tr h="201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/>
                        <a:t>PROJECT STATUS</a:t>
                      </a:r>
                      <a:endParaRPr b="1" sz="11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/>
                        <a:t>ON TRACK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solidFill>
                      <a:srgbClr val="92D050"/>
                    </a:solidFill>
                  </a:tcPr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Project Start:</a:t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Original Est. Date of Completion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22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Est. Date of Completion:</a:t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1" name="Google Shape;131;p1"/>
          <p:cNvGraphicFramePr/>
          <p:nvPr/>
        </p:nvGraphicFramePr>
        <p:xfrm>
          <a:off x="5486400" y="53791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{FED39DD4-EB8C-4C4E-B1BC-B58D11A8ED2B}</a:tableStyleId>
              </a:tblPr>
              <a:tblGrid>
                <a:gridCol w="1095375"/>
                <a:gridCol w="1171575"/>
                <a:gridCol w="1019175"/>
                <a:gridCol w="3133325"/>
              </a:tblGrid>
              <a:tr h="268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Savings Type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Annual Savings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Start Date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Assumptions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Hard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row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Soft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vMerge="1"/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Avoidance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38" name="Google Shape;138;p2"/>
          <p:cNvSpPr txBox="1"/>
          <p:nvPr>
            <p:ph idx="1" type="body"/>
          </p:nvPr>
        </p:nvSpPr>
        <p:spPr>
          <a:xfrm>
            <a:off x="381000" y="1306286"/>
            <a:ext cx="802005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Quantify hard savings, soft savings, and cost avoidance as a results of your change.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Hard</a:t>
            </a:r>
            <a:r>
              <a:rPr lang="en-US"/>
              <a:t> = easily quantifiable and directly measurable in monetary terms. These savings represent actual reductions in expenses or costs that can be clearly identified in financial records.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Cost reductions achieved through material cost savings, energy efficiency improvements leading to reduced utility bills, direct procurement savings, or router time reduction.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Soft</a:t>
            </a:r>
            <a:r>
              <a:rPr lang="en-US"/>
              <a:t> = more abstract and challenging to quantify in exact monetary terms. These savings often result from improved processes, increased efficiency, or enhanced productivity.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Indirect labor time saved due to process improvements, increased employee productivity, improved customer satisfaction leading to potential future revenue gains.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Cost Avoidance </a:t>
            </a:r>
            <a:r>
              <a:rPr lang="en-US"/>
              <a:t>= savings that result from actions taken to prevent or avoid potential costs or expenses.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Preventing machine breakdowns through regular maintenance, preventing future DOAs/service calls by fixing a quality issue. Note these may be hard savings for other budgets, but are cost avoidances for ITC.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9020175" y="1695450"/>
            <a:ext cx="2924175" cy="92333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$500K annual material savings; $20K in annual direct labor cost; one time material recovery of $100K…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2"/>
          <p:cNvCxnSpPr>
            <a:stCxn id="139" idx="1"/>
          </p:cNvCxnSpPr>
          <p:nvPr/>
        </p:nvCxnSpPr>
        <p:spPr>
          <a:xfrm flipH="1">
            <a:off x="8400975" y="2157115"/>
            <a:ext cx="619200" cy="5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1" name="Google Shape;141;p2"/>
          <p:cNvSpPr txBox="1"/>
          <p:nvPr/>
        </p:nvSpPr>
        <p:spPr>
          <a:xfrm>
            <a:off x="9020176" y="3697070"/>
            <a:ext cx="2924174" cy="73866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40% reduction in MRB cycle time; reduced complaint WIP by 10%...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" name="Google Shape;142;p2"/>
          <p:cNvCxnSpPr>
            <a:stCxn id="141" idx="1"/>
          </p:cNvCxnSpPr>
          <p:nvPr/>
        </p:nvCxnSpPr>
        <p:spPr>
          <a:xfrm rot="10800000">
            <a:off x="7862776" y="3722902"/>
            <a:ext cx="1157400" cy="3435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" name="Google Shape;143;p2"/>
          <p:cNvSpPr txBox="1"/>
          <p:nvPr/>
        </p:nvSpPr>
        <p:spPr>
          <a:xfrm>
            <a:off x="9020175" y="4850742"/>
            <a:ext cx="2924175" cy="738664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Mitigates $100K annually due to reduced service calls…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" name="Google Shape;144;p2"/>
          <p:cNvCxnSpPr>
            <a:stCxn id="143" idx="1"/>
          </p:cNvCxnSpPr>
          <p:nvPr/>
        </p:nvCxnSpPr>
        <p:spPr>
          <a:xfrm rot="10800000">
            <a:off x="7943775" y="5095874"/>
            <a:ext cx="1076400" cy="124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 Continued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1" name="Google Shape;151;p3"/>
          <p:cNvSpPr txBox="1"/>
          <p:nvPr>
            <p:ph idx="1" type="body"/>
          </p:nvPr>
        </p:nvSpPr>
        <p:spPr>
          <a:xfrm>
            <a:off x="609600" y="1191986"/>
            <a:ext cx="109728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Tools &amp; Tips: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MPS can be used to estimate savings over the annual build plan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Savings start once implementation happens (typically production / PO cut-in)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Sometimes it’s best to have a blended implementation strategy for business continuity (e.g. dual source a component from an incumbent, more expensive supplier with a new, less expensive supplier for a time period)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Alcon Corporate PPT Them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3AF4B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ustom Design">
  <a:themeElements>
    <a:clrScheme name="Alcon Color Palett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0A990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2019-10-15T20:02:39Z</dcterms:created>
  <dc:creator>McDaniel, Laura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4e47c19-e68f-4046-bf94-918d2dcc81ee_Enabled">
    <vt:lpwstr>true</vt:lpwstr>
  </property>
  <property fmtid="{D5CDD505-2E9C-101B-9397-08002B2CF9AE}" pid="3" name="MSIP_Label_a4e47c19-e68f-4046-bf94-918d2dcc81ee_SetDate">
    <vt:lpwstr>2020-09-15T23:43:55Z</vt:lpwstr>
  </property>
  <property fmtid="{D5CDD505-2E9C-101B-9397-08002B2CF9AE}" pid="4" name="MSIP_Label_a4e47c19-e68f-4046-bf94-918d2dcc81ee_Method">
    <vt:lpwstr>Standard</vt:lpwstr>
  </property>
  <property fmtid="{D5CDD505-2E9C-101B-9397-08002B2CF9AE}" pid="5" name="MSIP_Label_a4e47c19-e68f-4046-bf94-918d2dcc81ee_Name">
    <vt:lpwstr>Business Use Only</vt:lpwstr>
  </property>
  <property fmtid="{D5CDD505-2E9C-101B-9397-08002B2CF9AE}" pid="6" name="MSIP_Label_a4e47c19-e68f-4046-bf94-918d2dcc81ee_SiteId">
    <vt:lpwstr>34cd94b5-d86c-447f-8d9b-81b4ff94d329</vt:lpwstr>
  </property>
  <property fmtid="{D5CDD505-2E9C-101B-9397-08002B2CF9AE}" pid="7" name="MSIP_Label_a4e47c19-e68f-4046-bf94-918d2dcc81ee_ActionId">
    <vt:lpwstr>638bc2ce-85f7-4a5d-b6dd-0fa52019daa9</vt:lpwstr>
  </property>
  <property fmtid="{D5CDD505-2E9C-101B-9397-08002B2CF9AE}" pid="8" name="MSIP_Label_a4e47c19-e68f-4046-bf94-918d2dcc81ee_ContentBits">
    <vt:lpwstr>0</vt:lpwstr>
  </property>
  <property fmtid="{D5CDD505-2E9C-101B-9397-08002B2CF9AE}" pid="9" name="ContentTypeId">
    <vt:lpwstr>0x010100D5B46202C5A1164782CCA6D16F2B0BE1</vt:lpwstr>
  </property>
  <property fmtid="{D5CDD505-2E9C-101B-9397-08002B2CF9AE}" pid="10" name="MediaServiceImageTags">
    <vt:lpwstr/>
  </property>
  <property fmtid="{D5CDD505-2E9C-101B-9397-08002B2CF9AE}" pid="11" name="ArticulateGUID">
    <vt:lpwstr>77F814B4-7921-4F02-975D-7DC686E026E3</vt:lpwstr>
  </property>
  <property fmtid="{D5CDD505-2E9C-101B-9397-08002B2CF9AE}" pid="12" name="ArticulatePath">
    <vt:lpwstr>https://alcon365.sharepoint.com/sites/ITCQEs/Shared Documents/General/_2024 Quality Goals &amp; KPIs/Quality Ops Project Tracker 2023</vt:lpwstr>
  </property>
</Properties>
</file>