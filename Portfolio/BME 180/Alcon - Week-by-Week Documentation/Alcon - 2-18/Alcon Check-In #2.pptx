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Lst>
  <p:sldSz cy="10287000" cx="18288000"/>
  <p:notesSz cx="6858000" cy="9144000"/>
  <p:embeddedFontLst>
    <p:embeddedFont>
      <p:font typeface="Comfortaa"/>
      <p:regular r:id="rId11"/>
      <p:bold r:id="rId1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11" Type="http://schemas.openxmlformats.org/officeDocument/2006/relationships/font" Target="fonts/Comfortaa-regular.fntdata"/><Relationship Id="rId10" Type="http://schemas.openxmlformats.org/officeDocument/2006/relationships/slide" Target="slides/slide5.xml"/><Relationship Id="rId12" Type="http://schemas.openxmlformats.org/officeDocument/2006/relationships/font" Target="fonts/Comfortaa-bold.fntdata"/><Relationship Id="rId9" Type="http://schemas.openxmlformats.org/officeDocument/2006/relationships/slide" Target="slides/slide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0" name="Google Shape;90;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6" name="Google Shape;96;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g33776c74f3e_0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g33776c74f3e_0_2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3"/>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3"/>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5"/>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5"/>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6"/>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6"/>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7"/>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7"/>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7"/>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7"/>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9"/>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9"/>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9"/>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10"/>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10"/>
          <p:cNvSpPr/>
          <p:nvPr>
            <p:ph idx="2" type="pic"/>
          </p:nvPr>
        </p:nvSpPr>
        <p:spPr>
          <a:xfrm>
            <a:off x="1792288" y="612775"/>
            <a:ext cx="5486400" cy="4114800"/>
          </a:xfrm>
          <a:prstGeom prst="rect">
            <a:avLst/>
          </a:prstGeom>
          <a:noFill/>
          <a:ln>
            <a:noFill/>
          </a:ln>
        </p:spPr>
      </p:sp>
      <p:sp>
        <p:nvSpPr>
          <p:cNvPr id="64" name="Google Shape;64;p10"/>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1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1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1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1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11"/>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1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1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12"/>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12"/>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1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3.png"/><Relationship Id="rId4"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63B8A7"/>
        </a:solidFill>
      </p:bgPr>
    </p:bg>
    <p:spTree>
      <p:nvGrpSpPr>
        <p:cNvPr id="83" name="Shape 83"/>
        <p:cNvGrpSpPr/>
        <p:nvPr/>
      </p:nvGrpSpPr>
      <p:grpSpPr>
        <a:xfrm>
          <a:off x="0" y="0"/>
          <a:ext cx="0" cy="0"/>
          <a:chOff x="0" y="0"/>
          <a:chExt cx="0" cy="0"/>
        </a:xfrm>
      </p:grpSpPr>
      <p:sp>
        <p:nvSpPr>
          <p:cNvPr id="84" name="Google Shape;84;p13"/>
          <p:cNvSpPr txBox="1"/>
          <p:nvPr/>
        </p:nvSpPr>
        <p:spPr>
          <a:xfrm>
            <a:off x="6793275" y="1095625"/>
            <a:ext cx="5458200" cy="5373600"/>
          </a:xfrm>
          <a:prstGeom prst="rect">
            <a:avLst/>
          </a:prstGeom>
          <a:noFill/>
          <a:ln>
            <a:noFill/>
          </a:ln>
        </p:spPr>
        <p:txBody>
          <a:bodyPr anchorCtr="0" anchor="t" bIns="0" lIns="0" spcFirstLastPara="1" rIns="0" wrap="square" tIns="0">
            <a:spAutoFit/>
          </a:bodyPr>
          <a:lstStyle/>
          <a:p>
            <a:pPr indent="0" lvl="0" marL="0" marR="0" rtl="0" algn="l">
              <a:lnSpc>
                <a:spcPct val="103000"/>
              </a:lnSpc>
              <a:spcBef>
                <a:spcPts val="0"/>
              </a:spcBef>
              <a:spcAft>
                <a:spcPts val="0"/>
              </a:spcAft>
              <a:buNone/>
            </a:pPr>
            <a:r>
              <a:rPr lang="en-US" sz="13399">
                <a:solidFill>
                  <a:srgbClr val="264C3D"/>
                </a:solidFill>
                <a:latin typeface="Comfortaa"/>
                <a:ea typeface="Comfortaa"/>
                <a:cs typeface="Comfortaa"/>
                <a:sym typeface="Comfortaa"/>
              </a:rPr>
              <a:t>Alcon</a:t>
            </a:r>
            <a:endParaRPr sz="13399">
              <a:solidFill>
                <a:srgbClr val="264C3D"/>
              </a:solidFill>
              <a:latin typeface="Comfortaa"/>
              <a:ea typeface="Comfortaa"/>
              <a:cs typeface="Comfortaa"/>
              <a:sym typeface="Comfortaa"/>
            </a:endParaRPr>
          </a:p>
          <a:p>
            <a:pPr indent="0" lvl="0" marL="0" marR="0" rtl="0" algn="l">
              <a:lnSpc>
                <a:spcPct val="103000"/>
              </a:lnSpc>
              <a:spcBef>
                <a:spcPts val="0"/>
              </a:spcBef>
              <a:spcAft>
                <a:spcPts val="0"/>
              </a:spcAft>
              <a:buNone/>
            </a:pPr>
            <a:r>
              <a:t/>
            </a:r>
            <a:endParaRPr sz="10399">
              <a:solidFill>
                <a:srgbClr val="264C3D"/>
              </a:solidFill>
              <a:latin typeface="Comfortaa"/>
              <a:ea typeface="Comfortaa"/>
              <a:cs typeface="Comfortaa"/>
              <a:sym typeface="Comfortaa"/>
            </a:endParaRPr>
          </a:p>
          <a:p>
            <a:pPr indent="0" lvl="0" marL="0" marR="0" rtl="0" algn="l">
              <a:lnSpc>
                <a:spcPct val="103000"/>
              </a:lnSpc>
              <a:spcBef>
                <a:spcPts val="0"/>
              </a:spcBef>
              <a:spcAft>
                <a:spcPts val="0"/>
              </a:spcAft>
              <a:buNone/>
            </a:pPr>
            <a:r>
              <a:t/>
            </a:r>
            <a:endParaRPr sz="10399">
              <a:solidFill>
                <a:srgbClr val="264C3D"/>
              </a:solidFill>
              <a:latin typeface="Comfortaa"/>
              <a:ea typeface="Comfortaa"/>
              <a:cs typeface="Comfortaa"/>
              <a:sym typeface="Comfortaa"/>
            </a:endParaRPr>
          </a:p>
        </p:txBody>
      </p:sp>
      <p:sp>
        <p:nvSpPr>
          <p:cNvPr id="85" name="Google Shape;85;p13"/>
          <p:cNvSpPr txBox="1"/>
          <p:nvPr/>
        </p:nvSpPr>
        <p:spPr>
          <a:xfrm>
            <a:off x="7367400" y="8693375"/>
            <a:ext cx="3553200" cy="6156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lang="en-US" sz="4000">
                <a:solidFill>
                  <a:srgbClr val="264C3D"/>
                </a:solidFill>
                <a:latin typeface="Comfortaa"/>
                <a:ea typeface="Comfortaa"/>
                <a:cs typeface="Comfortaa"/>
                <a:sym typeface="Comfortaa"/>
              </a:rPr>
              <a:t>Check-In #2</a:t>
            </a:r>
            <a:endParaRPr sz="1800">
              <a:latin typeface="Comfortaa"/>
              <a:ea typeface="Comfortaa"/>
              <a:cs typeface="Comfortaa"/>
              <a:sym typeface="Comfortaa"/>
            </a:endParaRPr>
          </a:p>
        </p:txBody>
      </p:sp>
      <p:sp>
        <p:nvSpPr>
          <p:cNvPr id="86" name="Google Shape;86;p13"/>
          <p:cNvSpPr/>
          <p:nvPr/>
        </p:nvSpPr>
        <p:spPr>
          <a:xfrm rot="665128">
            <a:off x="6674365" y="3411833"/>
            <a:ext cx="4939270" cy="5119476"/>
          </a:xfrm>
          <a:custGeom>
            <a:rect b="b" l="l" r="r" t="t"/>
            <a:pathLst>
              <a:path extrusionOk="0" h="5113439" w="4933446">
                <a:moveTo>
                  <a:pt x="0" y="0"/>
                </a:moveTo>
                <a:lnTo>
                  <a:pt x="4933446" y="0"/>
                </a:lnTo>
                <a:lnTo>
                  <a:pt x="4933446" y="5113439"/>
                </a:lnTo>
                <a:lnTo>
                  <a:pt x="0" y="5113439"/>
                </a:lnTo>
                <a:lnTo>
                  <a:pt x="0" y="0"/>
                </a:lnTo>
                <a:close/>
              </a:path>
            </a:pathLst>
          </a:custGeom>
          <a:blipFill rotWithShape="1">
            <a:blip r:embed="rId3">
              <a:alphaModFix amt="30000"/>
            </a:blip>
            <a:stretch>
              <a:fillRect b="0" l="0" r="0" t="0"/>
            </a:stretch>
          </a:blipFill>
          <a:ln>
            <a:noFill/>
          </a:ln>
        </p:spPr>
      </p:sp>
      <p:pic>
        <p:nvPicPr>
          <p:cNvPr id="87" name="Google Shape;87;p13"/>
          <p:cNvPicPr preferRelativeResize="0"/>
          <p:nvPr/>
        </p:nvPicPr>
        <p:blipFill>
          <a:blip r:embed="rId4">
            <a:alphaModFix/>
          </a:blip>
          <a:stretch>
            <a:fillRect/>
          </a:stretch>
        </p:blipFill>
        <p:spPr>
          <a:xfrm>
            <a:off x="7004638" y="3891738"/>
            <a:ext cx="4278525" cy="415967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DEDED"/>
        </a:solidFill>
      </p:bgPr>
    </p:bg>
    <p:spTree>
      <p:nvGrpSpPr>
        <p:cNvPr id="91" name="Shape 91"/>
        <p:cNvGrpSpPr/>
        <p:nvPr/>
      </p:nvGrpSpPr>
      <p:grpSpPr>
        <a:xfrm>
          <a:off x="0" y="0"/>
          <a:ext cx="0" cy="0"/>
          <a:chOff x="0" y="0"/>
          <a:chExt cx="0" cy="0"/>
        </a:xfrm>
      </p:grpSpPr>
      <p:sp>
        <p:nvSpPr>
          <p:cNvPr id="92" name="Google Shape;92;p14"/>
          <p:cNvSpPr txBox="1"/>
          <p:nvPr/>
        </p:nvSpPr>
        <p:spPr>
          <a:xfrm>
            <a:off x="1028700" y="1014725"/>
            <a:ext cx="16825500" cy="12315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lang="en-US" sz="8000">
                <a:solidFill>
                  <a:srgbClr val="09427D"/>
                </a:solidFill>
                <a:latin typeface="Comfortaa"/>
                <a:ea typeface="Comfortaa"/>
                <a:cs typeface="Comfortaa"/>
                <a:sym typeface="Comfortaa"/>
              </a:rPr>
              <a:t>What we have accomplished</a:t>
            </a:r>
            <a:endParaRPr>
              <a:latin typeface="Comfortaa"/>
              <a:ea typeface="Comfortaa"/>
              <a:cs typeface="Comfortaa"/>
              <a:sym typeface="Comfortaa"/>
            </a:endParaRPr>
          </a:p>
        </p:txBody>
      </p:sp>
      <p:sp>
        <p:nvSpPr>
          <p:cNvPr id="93" name="Google Shape;93;p14"/>
          <p:cNvSpPr txBox="1"/>
          <p:nvPr/>
        </p:nvSpPr>
        <p:spPr>
          <a:xfrm>
            <a:off x="1028700" y="2513050"/>
            <a:ext cx="14245500" cy="8273100"/>
          </a:xfrm>
          <a:prstGeom prst="rect">
            <a:avLst/>
          </a:prstGeom>
          <a:noFill/>
          <a:ln>
            <a:noFill/>
          </a:ln>
        </p:spPr>
        <p:txBody>
          <a:bodyPr anchorCtr="0" anchor="t" bIns="0" lIns="0" spcFirstLastPara="1" rIns="0" wrap="square" tIns="0">
            <a:spAutoFit/>
          </a:bodyPr>
          <a:lstStyle/>
          <a:p>
            <a:pPr indent="-406400" lvl="0" marL="457200" marR="0" rtl="0" algn="l">
              <a:lnSpc>
                <a:spcPct val="139964"/>
              </a:lnSpc>
              <a:spcBef>
                <a:spcPts val="0"/>
              </a:spcBef>
              <a:spcAft>
                <a:spcPts val="0"/>
              </a:spcAft>
              <a:buClr>
                <a:srgbClr val="09427D"/>
              </a:buClr>
              <a:buSzPts val="2800"/>
              <a:buFont typeface="Comfortaa"/>
              <a:buChar char="●"/>
            </a:pPr>
            <a:r>
              <a:rPr lang="en-US" sz="2800">
                <a:solidFill>
                  <a:srgbClr val="09427D"/>
                </a:solidFill>
                <a:latin typeface="Comfortaa"/>
                <a:ea typeface="Comfortaa"/>
                <a:cs typeface="Comfortaa"/>
                <a:sym typeface="Comfortaa"/>
              </a:rPr>
              <a:t>We have been added to Alcon’s workday system and we now have badge access to visit Alcon when we need to</a:t>
            </a:r>
            <a:endParaRPr sz="2800">
              <a:solidFill>
                <a:srgbClr val="09427D"/>
              </a:solidFill>
              <a:latin typeface="Comfortaa"/>
              <a:ea typeface="Comfortaa"/>
              <a:cs typeface="Comfortaa"/>
              <a:sym typeface="Comfortaa"/>
            </a:endParaRPr>
          </a:p>
          <a:p>
            <a:pPr indent="-406400" lvl="0" marL="457200" marR="0" rtl="0" algn="l">
              <a:lnSpc>
                <a:spcPct val="139964"/>
              </a:lnSpc>
              <a:spcBef>
                <a:spcPts val="0"/>
              </a:spcBef>
              <a:spcAft>
                <a:spcPts val="0"/>
              </a:spcAft>
              <a:buClr>
                <a:srgbClr val="09427D"/>
              </a:buClr>
              <a:buSzPts val="2800"/>
              <a:buFont typeface="Comfortaa"/>
              <a:buChar char="●"/>
            </a:pPr>
            <a:r>
              <a:rPr lang="en-US" sz="2800">
                <a:solidFill>
                  <a:srgbClr val="09427D"/>
                </a:solidFill>
                <a:latin typeface="Comfortaa"/>
                <a:ea typeface="Comfortaa"/>
                <a:cs typeface="Comfortaa"/>
                <a:sym typeface="Comfortaa"/>
              </a:rPr>
              <a:t>We created a GitHub repository</a:t>
            </a:r>
            <a:endParaRPr sz="2800">
              <a:solidFill>
                <a:srgbClr val="09427D"/>
              </a:solidFill>
              <a:latin typeface="Comfortaa"/>
              <a:ea typeface="Comfortaa"/>
              <a:cs typeface="Comfortaa"/>
              <a:sym typeface="Comfortaa"/>
            </a:endParaRPr>
          </a:p>
          <a:p>
            <a:pPr indent="-406400" lvl="0" marL="457200" marR="0" rtl="0" algn="l">
              <a:lnSpc>
                <a:spcPct val="139964"/>
              </a:lnSpc>
              <a:spcBef>
                <a:spcPts val="0"/>
              </a:spcBef>
              <a:spcAft>
                <a:spcPts val="0"/>
              </a:spcAft>
              <a:buClr>
                <a:srgbClr val="09427D"/>
              </a:buClr>
              <a:buSzPts val="2800"/>
              <a:buFont typeface="Comfortaa"/>
              <a:buChar char="●"/>
            </a:pPr>
            <a:r>
              <a:rPr lang="en-US" sz="2800">
                <a:solidFill>
                  <a:srgbClr val="09427D"/>
                </a:solidFill>
                <a:latin typeface="Comfortaa"/>
                <a:ea typeface="Comfortaa"/>
                <a:cs typeface="Comfortaa"/>
                <a:sym typeface="Comfortaa"/>
              </a:rPr>
              <a:t>We’ve trained on the Khine lab keyence microscope</a:t>
            </a:r>
            <a:endParaRPr sz="2800">
              <a:solidFill>
                <a:srgbClr val="09427D"/>
              </a:solidFill>
              <a:latin typeface="Comfortaa"/>
              <a:ea typeface="Comfortaa"/>
              <a:cs typeface="Comfortaa"/>
              <a:sym typeface="Comfortaa"/>
            </a:endParaRPr>
          </a:p>
          <a:p>
            <a:pPr indent="-406400" lvl="0" marL="457200" marR="0" rtl="0" algn="l">
              <a:lnSpc>
                <a:spcPct val="139964"/>
              </a:lnSpc>
              <a:spcBef>
                <a:spcPts val="0"/>
              </a:spcBef>
              <a:spcAft>
                <a:spcPts val="0"/>
              </a:spcAft>
              <a:buClr>
                <a:srgbClr val="09427D"/>
              </a:buClr>
              <a:buSzPts val="2800"/>
              <a:buFont typeface="Comfortaa"/>
              <a:buChar char="●"/>
            </a:pPr>
            <a:r>
              <a:rPr lang="en-US" sz="2800">
                <a:solidFill>
                  <a:srgbClr val="09427D"/>
                </a:solidFill>
                <a:latin typeface="Comfortaa"/>
                <a:ea typeface="Comfortaa"/>
                <a:cs typeface="Comfortaa"/>
                <a:sym typeface="Comfortaa"/>
              </a:rPr>
              <a:t>We’re getting THESE PARTS printed</a:t>
            </a:r>
            <a:endParaRPr sz="2800">
              <a:solidFill>
                <a:srgbClr val="09427D"/>
              </a:solidFill>
              <a:latin typeface="Comfortaa"/>
              <a:ea typeface="Comfortaa"/>
              <a:cs typeface="Comfortaa"/>
              <a:sym typeface="Comfortaa"/>
            </a:endParaRPr>
          </a:p>
          <a:p>
            <a:pPr indent="-406400" lvl="1" marL="914400" marR="0" rtl="0" algn="l">
              <a:lnSpc>
                <a:spcPct val="139964"/>
              </a:lnSpc>
              <a:spcBef>
                <a:spcPts val="0"/>
              </a:spcBef>
              <a:spcAft>
                <a:spcPts val="0"/>
              </a:spcAft>
              <a:buClr>
                <a:srgbClr val="09427D"/>
              </a:buClr>
              <a:buSzPts val="2800"/>
              <a:buFont typeface="Comfortaa"/>
              <a:buChar char="○"/>
            </a:pPr>
            <a:r>
              <a:rPr lang="en-US" sz="2800">
                <a:solidFill>
                  <a:srgbClr val="09427D"/>
                </a:solidFill>
                <a:latin typeface="Comfortaa"/>
                <a:ea typeface="Comfortaa"/>
                <a:cs typeface="Comfortaa"/>
                <a:sym typeface="Comfortaa"/>
              </a:rPr>
              <a:t>Top plate</a:t>
            </a:r>
            <a:endParaRPr sz="2800">
              <a:solidFill>
                <a:srgbClr val="09427D"/>
              </a:solidFill>
              <a:latin typeface="Comfortaa"/>
              <a:ea typeface="Comfortaa"/>
              <a:cs typeface="Comfortaa"/>
              <a:sym typeface="Comfortaa"/>
            </a:endParaRPr>
          </a:p>
          <a:p>
            <a:pPr indent="-406400" lvl="1" marL="914400" marR="0" rtl="0" algn="l">
              <a:lnSpc>
                <a:spcPct val="139964"/>
              </a:lnSpc>
              <a:spcBef>
                <a:spcPts val="0"/>
              </a:spcBef>
              <a:spcAft>
                <a:spcPts val="0"/>
              </a:spcAft>
              <a:buClr>
                <a:srgbClr val="09427D"/>
              </a:buClr>
              <a:buSzPts val="2800"/>
              <a:buFont typeface="Comfortaa"/>
              <a:buChar char="○"/>
            </a:pPr>
            <a:r>
              <a:rPr lang="en-US" sz="2800">
                <a:solidFill>
                  <a:srgbClr val="09427D"/>
                </a:solidFill>
                <a:latin typeface="Comfortaa"/>
                <a:ea typeface="Comfortaa"/>
                <a:cs typeface="Comfortaa"/>
                <a:sym typeface="Comfortaa"/>
              </a:rPr>
              <a:t>Grippers</a:t>
            </a:r>
            <a:endParaRPr sz="2800">
              <a:solidFill>
                <a:srgbClr val="09427D"/>
              </a:solidFill>
              <a:latin typeface="Comfortaa"/>
              <a:ea typeface="Comfortaa"/>
              <a:cs typeface="Comfortaa"/>
              <a:sym typeface="Comfortaa"/>
            </a:endParaRPr>
          </a:p>
          <a:p>
            <a:pPr indent="-406400" lvl="1" marL="914400" marR="0" rtl="0" algn="l">
              <a:lnSpc>
                <a:spcPct val="139964"/>
              </a:lnSpc>
              <a:spcBef>
                <a:spcPts val="0"/>
              </a:spcBef>
              <a:spcAft>
                <a:spcPts val="0"/>
              </a:spcAft>
              <a:buClr>
                <a:srgbClr val="09427D"/>
              </a:buClr>
              <a:buSzPts val="2800"/>
              <a:buFont typeface="Comfortaa"/>
              <a:buChar char="○"/>
            </a:pPr>
            <a:r>
              <a:rPr lang="en-US" sz="2800">
                <a:solidFill>
                  <a:srgbClr val="09427D"/>
                </a:solidFill>
                <a:latin typeface="Comfortaa"/>
                <a:ea typeface="Comfortaa"/>
                <a:cs typeface="Comfortaa"/>
                <a:sym typeface="Comfortaa"/>
              </a:rPr>
              <a:t>Stepper motor holder</a:t>
            </a:r>
            <a:endParaRPr sz="2800">
              <a:solidFill>
                <a:srgbClr val="09427D"/>
              </a:solidFill>
              <a:latin typeface="Comfortaa"/>
              <a:ea typeface="Comfortaa"/>
              <a:cs typeface="Comfortaa"/>
              <a:sym typeface="Comfortaa"/>
            </a:endParaRPr>
          </a:p>
          <a:p>
            <a:pPr indent="-406400" lvl="0" marL="457200" marR="0" rtl="0" algn="l">
              <a:lnSpc>
                <a:spcPct val="139964"/>
              </a:lnSpc>
              <a:spcBef>
                <a:spcPts val="0"/>
              </a:spcBef>
              <a:spcAft>
                <a:spcPts val="0"/>
              </a:spcAft>
              <a:buClr>
                <a:srgbClr val="09427D"/>
              </a:buClr>
              <a:buSzPts val="2800"/>
              <a:buFont typeface="Comfortaa"/>
              <a:buChar char="●"/>
            </a:pPr>
            <a:r>
              <a:rPr lang="en-US" sz="2800">
                <a:solidFill>
                  <a:srgbClr val="09427D"/>
                </a:solidFill>
                <a:latin typeface="Comfortaa"/>
                <a:ea typeface="Comfortaa"/>
                <a:cs typeface="Comfortaa"/>
                <a:sym typeface="Comfortaa"/>
              </a:rPr>
              <a:t>We finished the aligner for the stage controller</a:t>
            </a:r>
            <a:endParaRPr sz="2800">
              <a:solidFill>
                <a:srgbClr val="09427D"/>
              </a:solidFill>
              <a:latin typeface="Comfortaa"/>
              <a:ea typeface="Comfortaa"/>
              <a:cs typeface="Comfortaa"/>
              <a:sym typeface="Comfortaa"/>
            </a:endParaRPr>
          </a:p>
          <a:p>
            <a:pPr indent="-406400" lvl="0" marL="457200" marR="0" rtl="0" algn="l">
              <a:lnSpc>
                <a:spcPct val="139964"/>
              </a:lnSpc>
              <a:spcBef>
                <a:spcPts val="0"/>
              </a:spcBef>
              <a:spcAft>
                <a:spcPts val="0"/>
              </a:spcAft>
              <a:buClr>
                <a:srgbClr val="09427D"/>
              </a:buClr>
              <a:buSzPts val="2800"/>
              <a:buFont typeface="Comfortaa"/>
              <a:buChar char="●"/>
            </a:pPr>
            <a:r>
              <a:rPr lang="en-US" sz="2800">
                <a:solidFill>
                  <a:srgbClr val="09427D"/>
                </a:solidFill>
                <a:latin typeface="Comfortaa"/>
                <a:ea typeface="Comfortaa"/>
                <a:cs typeface="Comfortaa"/>
                <a:sym typeface="Comfortaa"/>
              </a:rPr>
              <a:t>We planned out the arduino electronic connections for the stage controller </a:t>
            </a:r>
            <a:endParaRPr sz="2800">
              <a:solidFill>
                <a:srgbClr val="09427D"/>
              </a:solidFill>
              <a:latin typeface="Comfortaa"/>
              <a:ea typeface="Comfortaa"/>
              <a:cs typeface="Comfortaa"/>
              <a:sym typeface="Comfortaa"/>
            </a:endParaRPr>
          </a:p>
          <a:p>
            <a:pPr indent="-406400" lvl="0" marL="457200" marR="0" rtl="0" algn="l">
              <a:lnSpc>
                <a:spcPct val="139964"/>
              </a:lnSpc>
              <a:spcBef>
                <a:spcPts val="0"/>
              </a:spcBef>
              <a:spcAft>
                <a:spcPts val="0"/>
              </a:spcAft>
              <a:buClr>
                <a:srgbClr val="09427D"/>
              </a:buClr>
              <a:buSzPts val="2800"/>
              <a:buFont typeface="Comfortaa"/>
              <a:buChar char="●"/>
            </a:pPr>
            <a:r>
              <a:rPr lang="en-US" sz="2800">
                <a:solidFill>
                  <a:srgbClr val="09427D"/>
                </a:solidFill>
                <a:latin typeface="Comfortaa"/>
                <a:ea typeface="Comfortaa"/>
                <a:cs typeface="Comfortaa"/>
                <a:sym typeface="Comfortaa"/>
              </a:rPr>
              <a:t>We made more progress on the FMEA Chart</a:t>
            </a:r>
            <a:endParaRPr sz="2800">
              <a:solidFill>
                <a:srgbClr val="09427D"/>
              </a:solidFill>
              <a:latin typeface="Comfortaa"/>
              <a:ea typeface="Comfortaa"/>
              <a:cs typeface="Comfortaa"/>
              <a:sym typeface="Comfortaa"/>
            </a:endParaRPr>
          </a:p>
          <a:p>
            <a:pPr indent="0" lvl="0" marL="0" marR="0" rtl="0" algn="l">
              <a:lnSpc>
                <a:spcPct val="139964"/>
              </a:lnSpc>
              <a:spcBef>
                <a:spcPts val="0"/>
              </a:spcBef>
              <a:spcAft>
                <a:spcPts val="0"/>
              </a:spcAft>
              <a:buNone/>
            </a:pPr>
            <a:r>
              <a:t/>
            </a:r>
            <a:endParaRPr sz="2800">
              <a:solidFill>
                <a:srgbClr val="09427D"/>
              </a:solidFill>
              <a:latin typeface="Comfortaa"/>
              <a:ea typeface="Comfortaa"/>
              <a:cs typeface="Comfortaa"/>
              <a:sym typeface="Comfortaa"/>
            </a:endParaRPr>
          </a:p>
          <a:p>
            <a:pPr indent="0" lvl="0" marL="0" marR="0" rtl="0" algn="l">
              <a:lnSpc>
                <a:spcPct val="139964"/>
              </a:lnSpc>
              <a:spcBef>
                <a:spcPts val="0"/>
              </a:spcBef>
              <a:spcAft>
                <a:spcPts val="0"/>
              </a:spcAft>
              <a:buNone/>
            </a:pPr>
            <a:r>
              <a:t/>
            </a:r>
            <a:endParaRPr sz="2800">
              <a:solidFill>
                <a:srgbClr val="09427D"/>
              </a:solidFill>
              <a:latin typeface="Comfortaa"/>
              <a:ea typeface="Comfortaa"/>
              <a:cs typeface="Comfortaa"/>
              <a:sym typeface="Comfortaa"/>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DEDED"/>
        </a:solidFill>
      </p:bgPr>
    </p:bg>
    <p:spTree>
      <p:nvGrpSpPr>
        <p:cNvPr id="97" name="Shape 97"/>
        <p:cNvGrpSpPr/>
        <p:nvPr/>
      </p:nvGrpSpPr>
      <p:grpSpPr>
        <a:xfrm>
          <a:off x="0" y="0"/>
          <a:ext cx="0" cy="0"/>
          <a:chOff x="0" y="0"/>
          <a:chExt cx="0" cy="0"/>
        </a:xfrm>
      </p:grpSpPr>
      <p:sp>
        <p:nvSpPr>
          <p:cNvPr id="98" name="Google Shape;98;p15"/>
          <p:cNvSpPr txBox="1"/>
          <p:nvPr/>
        </p:nvSpPr>
        <p:spPr>
          <a:xfrm>
            <a:off x="1028700" y="1014725"/>
            <a:ext cx="14742900" cy="12315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lang="en-US" sz="8000">
                <a:solidFill>
                  <a:srgbClr val="09427D"/>
                </a:solidFill>
                <a:latin typeface="Comfortaa"/>
                <a:ea typeface="Comfortaa"/>
                <a:cs typeface="Comfortaa"/>
                <a:sym typeface="Comfortaa"/>
              </a:rPr>
              <a:t>Plans for Early Spring</a:t>
            </a:r>
            <a:endParaRPr>
              <a:latin typeface="Comfortaa"/>
              <a:ea typeface="Comfortaa"/>
              <a:cs typeface="Comfortaa"/>
              <a:sym typeface="Comfortaa"/>
            </a:endParaRPr>
          </a:p>
        </p:txBody>
      </p:sp>
      <p:sp>
        <p:nvSpPr>
          <p:cNvPr id="99" name="Google Shape;99;p15"/>
          <p:cNvSpPr txBox="1"/>
          <p:nvPr/>
        </p:nvSpPr>
        <p:spPr>
          <a:xfrm>
            <a:off x="2763275" y="3829675"/>
            <a:ext cx="12186300" cy="2240700"/>
          </a:xfrm>
          <a:prstGeom prst="rect">
            <a:avLst/>
          </a:prstGeom>
          <a:noFill/>
          <a:ln>
            <a:noFill/>
          </a:ln>
        </p:spPr>
        <p:txBody>
          <a:bodyPr anchorCtr="0" anchor="t" bIns="0" lIns="0" spcFirstLastPara="1" rIns="0" wrap="square" tIns="0">
            <a:spAutoFit/>
          </a:bodyPr>
          <a:lstStyle/>
          <a:p>
            <a:pPr indent="0" lvl="0" marL="0" marR="0" rtl="0" algn="l">
              <a:lnSpc>
                <a:spcPct val="139964"/>
              </a:lnSpc>
              <a:spcBef>
                <a:spcPts val="0"/>
              </a:spcBef>
              <a:spcAft>
                <a:spcPts val="0"/>
              </a:spcAft>
              <a:buNone/>
            </a:pPr>
            <a:r>
              <a:rPr lang="en-US" sz="2800">
                <a:solidFill>
                  <a:srgbClr val="09427D"/>
                </a:solidFill>
                <a:latin typeface="Comfortaa"/>
                <a:ea typeface="Comfortaa"/>
                <a:cs typeface="Comfortaa"/>
                <a:sym typeface="Comfortaa"/>
              </a:rPr>
              <a:t>Complete our first prototype design</a:t>
            </a:r>
            <a:endParaRPr sz="2800">
              <a:solidFill>
                <a:srgbClr val="09427D"/>
              </a:solidFill>
              <a:latin typeface="Comfortaa"/>
              <a:ea typeface="Comfortaa"/>
              <a:cs typeface="Comfortaa"/>
              <a:sym typeface="Comfortaa"/>
            </a:endParaRPr>
          </a:p>
          <a:p>
            <a:pPr indent="-406400" lvl="0" marL="457200" marR="0" rtl="0" algn="l">
              <a:lnSpc>
                <a:spcPct val="139964"/>
              </a:lnSpc>
              <a:spcBef>
                <a:spcPts val="0"/>
              </a:spcBef>
              <a:spcAft>
                <a:spcPts val="0"/>
              </a:spcAft>
              <a:buClr>
                <a:srgbClr val="09427D"/>
              </a:buClr>
              <a:buSzPts val="2800"/>
              <a:buFont typeface="Comfortaa"/>
              <a:buChar char="-"/>
            </a:pPr>
            <a:r>
              <a:rPr lang="en-US" sz="2800">
                <a:solidFill>
                  <a:srgbClr val="09427D"/>
                </a:solidFill>
                <a:latin typeface="Comfortaa"/>
                <a:ea typeface="Comfortaa"/>
                <a:cs typeface="Comfortaa"/>
                <a:sym typeface="Comfortaa"/>
              </a:rPr>
              <a:t>Complete the hardware part of our design</a:t>
            </a:r>
            <a:endParaRPr sz="2800">
              <a:solidFill>
                <a:srgbClr val="09427D"/>
              </a:solidFill>
              <a:latin typeface="Comfortaa"/>
              <a:ea typeface="Comfortaa"/>
              <a:cs typeface="Comfortaa"/>
              <a:sym typeface="Comfortaa"/>
            </a:endParaRPr>
          </a:p>
          <a:p>
            <a:pPr indent="-406400" lvl="0" marL="457200" marR="0" rtl="0" algn="l">
              <a:lnSpc>
                <a:spcPct val="139964"/>
              </a:lnSpc>
              <a:spcBef>
                <a:spcPts val="0"/>
              </a:spcBef>
              <a:spcAft>
                <a:spcPts val="0"/>
              </a:spcAft>
              <a:buClr>
                <a:srgbClr val="09427D"/>
              </a:buClr>
              <a:buSzPts val="2800"/>
              <a:buFont typeface="Comfortaa"/>
              <a:buChar char="-"/>
            </a:pPr>
            <a:r>
              <a:rPr lang="en-US" sz="2800">
                <a:solidFill>
                  <a:srgbClr val="09427D"/>
                </a:solidFill>
                <a:latin typeface="Comfortaa"/>
                <a:ea typeface="Comfortaa"/>
                <a:cs typeface="Comfortaa"/>
                <a:sym typeface="Comfortaa"/>
              </a:rPr>
              <a:t>Allow communication it to the software portion of our design</a:t>
            </a:r>
            <a:endParaRPr sz="2800">
              <a:solidFill>
                <a:srgbClr val="09427D"/>
              </a:solidFill>
              <a:latin typeface="Comfortaa"/>
              <a:ea typeface="Comfortaa"/>
              <a:cs typeface="Comfortaa"/>
              <a:sym typeface="Comfortaa"/>
            </a:endParaRPr>
          </a:p>
          <a:p>
            <a:pPr indent="0" lvl="0" marL="0" marR="0" rtl="0" algn="l">
              <a:lnSpc>
                <a:spcPct val="139964"/>
              </a:lnSpc>
              <a:spcBef>
                <a:spcPts val="0"/>
              </a:spcBef>
              <a:spcAft>
                <a:spcPts val="0"/>
              </a:spcAft>
              <a:buNone/>
            </a:pPr>
            <a:r>
              <a:t/>
            </a:r>
            <a:endParaRPr sz="2800">
              <a:solidFill>
                <a:srgbClr val="09427D"/>
              </a:solidFill>
              <a:latin typeface="Comfortaa"/>
              <a:ea typeface="Comfortaa"/>
              <a:cs typeface="Comfortaa"/>
              <a:sym typeface="Comfortaa"/>
            </a:endParaRPr>
          </a:p>
        </p:txBody>
      </p:sp>
      <p:sp>
        <p:nvSpPr>
          <p:cNvPr id="100" name="Google Shape;100;p15"/>
          <p:cNvSpPr txBox="1"/>
          <p:nvPr/>
        </p:nvSpPr>
        <p:spPr>
          <a:xfrm>
            <a:off x="2763279" y="5933863"/>
            <a:ext cx="12186300" cy="431100"/>
          </a:xfrm>
          <a:prstGeom prst="rect">
            <a:avLst/>
          </a:prstGeom>
          <a:noFill/>
          <a:ln>
            <a:noFill/>
          </a:ln>
        </p:spPr>
        <p:txBody>
          <a:bodyPr anchorCtr="0" anchor="t" bIns="0" lIns="0" spcFirstLastPara="1" rIns="0" wrap="square" tIns="0">
            <a:spAutoFit/>
          </a:bodyPr>
          <a:lstStyle/>
          <a:p>
            <a:pPr indent="0" lvl="0" marL="0" marR="0" rtl="0" algn="l">
              <a:lnSpc>
                <a:spcPct val="139964"/>
              </a:lnSpc>
              <a:spcBef>
                <a:spcPts val="0"/>
              </a:spcBef>
              <a:spcAft>
                <a:spcPts val="0"/>
              </a:spcAft>
              <a:buNone/>
            </a:pPr>
            <a:r>
              <a:rPr lang="en-US" sz="2800">
                <a:solidFill>
                  <a:srgbClr val="09427D"/>
                </a:solidFill>
                <a:latin typeface="Comfortaa"/>
                <a:ea typeface="Comfortaa"/>
                <a:cs typeface="Comfortaa"/>
                <a:sym typeface="Comfortaa"/>
              </a:rPr>
              <a:t>Collect microscope images for software AI training</a:t>
            </a:r>
            <a:endParaRPr>
              <a:latin typeface="Comfortaa"/>
              <a:ea typeface="Comfortaa"/>
              <a:cs typeface="Comfortaa"/>
              <a:sym typeface="Comfortaa"/>
            </a:endParaRPr>
          </a:p>
        </p:txBody>
      </p:sp>
      <p:sp>
        <p:nvSpPr>
          <p:cNvPr id="101" name="Google Shape;101;p15"/>
          <p:cNvSpPr txBox="1"/>
          <p:nvPr/>
        </p:nvSpPr>
        <p:spPr>
          <a:xfrm>
            <a:off x="2763279" y="7814522"/>
            <a:ext cx="12186300" cy="1637400"/>
          </a:xfrm>
          <a:prstGeom prst="rect">
            <a:avLst/>
          </a:prstGeom>
          <a:noFill/>
          <a:ln>
            <a:noFill/>
          </a:ln>
        </p:spPr>
        <p:txBody>
          <a:bodyPr anchorCtr="0" anchor="t" bIns="0" lIns="0" spcFirstLastPara="1" rIns="0" wrap="square" tIns="0">
            <a:spAutoFit/>
          </a:bodyPr>
          <a:lstStyle/>
          <a:p>
            <a:pPr indent="0" lvl="0" marL="0" marR="0" rtl="0" algn="l">
              <a:lnSpc>
                <a:spcPct val="139964"/>
              </a:lnSpc>
              <a:spcBef>
                <a:spcPts val="0"/>
              </a:spcBef>
              <a:spcAft>
                <a:spcPts val="0"/>
              </a:spcAft>
              <a:buNone/>
            </a:pPr>
            <a:r>
              <a:rPr lang="en-US" sz="2800">
                <a:solidFill>
                  <a:srgbClr val="09427D"/>
                </a:solidFill>
                <a:latin typeface="Comfortaa"/>
                <a:ea typeface="Comfortaa"/>
                <a:cs typeface="Comfortaa"/>
                <a:sym typeface="Comfortaa"/>
              </a:rPr>
              <a:t>Test and revise our prototype design and the recognition software</a:t>
            </a:r>
            <a:endParaRPr sz="2800">
              <a:solidFill>
                <a:srgbClr val="09427D"/>
              </a:solidFill>
              <a:latin typeface="Comfortaa"/>
              <a:ea typeface="Comfortaa"/>
              <a:cs typeface="Comfortaa"/>
              <a:sym typeface="Comfortaa"/>
            </a:endParaRPr>
          </a:p>
          <a:p>
            <a:pPr indent="-406400" lvl="0" marL="457200" marR="0" rtl="0" algn="l">
              <a:lnSpc>
                <a:spcPct val="139964"/>
              </a:lnSpc>
              <a:spcBef>
                <a:spcPts val="0"/>
              </a:spcBef>
              <a:spcAft>
                <a:spcPts val="0"/>
              </a:spcAft>
              <a:buClr>
                <a:srgbClr val="09427D"/>
              </a:buClr>
              <a:buSzPts val="2800"/>
              <a:buFont typeface="Comfortaa"/>
              <a:buChar char="-"/>
            </a:pPr>
            <a:r>
              <a:rPr lang="en-US" sz="2800">
                <a:solidFill>
                  <a:srgbClr val="09427D"/>
                </a:solidFill>
                <a:latin typeface="Comfortaa"/>
                <a:ea typeface="Comfortaa"/>
                <a:cs typeface="Comfortaa"/>
                <a:sym typeface="Comfortaa"/>
              </a:rPr>
              <a:t>Continue updating DHF</a:t>
            </a:r>
            <a:endParaRPr sz="2800">
              <a:solidFill>
                <a:srgbClr val="09427D"/>
              </a:solidFill>
              <a:latin typeface="Comfortaa"/>
              <a:ea typeface="Comfortaa"/>
              <a:cs typeface="Comfortaa"/>
              <a:sym typeface="Comfortaa"/>
            </a:endParaRPr>
          </a:p>
        </p:txBody>
      </p:sp>
      <p:sp>
        <p:nvSpPr>
          <p:cNvPr id="102" name="Google Shape;102;p15"/>
          <p:cNvSpPr/>
          <p:nvPr/>
        </p:nvSpPr>
        <p:spPr>
          <a:xfrm>
            <a:off x="1808155" y="4087097"/>
            <a:ext cx="74483" cy="3973647"/>
          </a:xfrm>
          <a:prstGeom prst="rect">
            <a:avLst/>
          </a:prstGeom>
          <a:solidFill>
            <a:srgbClr val="264C3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 name="Google Shape;103;p15"/>
          <p:cNvSpPr/>
          <p:nvPr/>
        </p:nvSpPr>
        <p:spPr>
          <a:xfrm>
            <a:off x="1559646" y="3829664"/>
            <a:ext cx="571500" cy="571500"/>
          </a:xfrm>
          <a:custGeom>
            <a:rect b="b" l="l" r="r" t="t"/>
            <a:pathLst>
              <a:path extrusionOk="0" h="571500" w="571500">
                <a:moveTo>
                  <a:pt x="0" y="0"/>
                </a:moveTo>
                <a:lnTo>
                  <a:pt x="571500" y="0"/>
                </a:lnTo>
                <a:lnTo>
                  <a:pt x="571500" y="571500"/>
                </a:lnTo>
                <a:lnTo>
                  <a:pt x="0" y="571500"/>
                </a:lnTo>
                <a:lnTo>
                  <a:pt x="0" y="0"/>
                </a:lnTo>
                <a:close/>
              </a:path>
            </a:pathLst>
          </a:custGeom>
          <a:blipFill rotWithShape="1">
            <a:blip r:embed="rId3">
              <a:alphaModFix/>
            </a:blip>
            <a:stretch>
              <a:fillRect b="0" l="0" r="0" t="0"/>
            </a:stretch>
          </a:blipFill>
          <a:ln>
            <a:noFill/>
          </a:ln>
        </p:spPr>
      </p:sp>
      <p:sp>
        <p:nvSpPr>
          <p:cNvPr id="104" name="Google Shape;104;p15"/>
          <p:cNvSpPr/>
          <p:nvPr/>
        </p:nvSpPr>
        <p:spPr>
          <a:xfrm>
            <a:off x="1559646" y="5863685"/>
            <a:ext cx="571500" cy="571500"/>
          </a:xfrm>
          <a:custGeom>
            <a:rect b="b" l="l" r="r" t="t"/>
            <a:pathLst>
              <a:path extrusionOk="0" h="571500" w="571500">
                <a:moveTo>
                  <a:pt x="0" y="0"/>
                </a:moveTo>
                <a:lnTo>
                  <a:pt x="571500" y="0"/>
                </a:lnTo>
                <a:lnTo>
                  <a:pt x="571500" y="571500"/>
                </a:lnTo>
                <a:lnTo>
                  <a:pt x="0" y="571500"/>
                </a:lnTo>
                <a:lnTo>
                  <a:pt x="0" y="0"/>
                </a:lnTo>
                <a:close/>
              </a:path>
            </a:pathLst>
          </a:custGeom>
          <a:blipFill rotWithShape="1">
            <a:blip r:embed="rId3">
              <a:alphaModFix/>
            </a:blip>
            <a:stretch>
              <a:fillRect b="0" l="0" r="0" t="0"/>
            </a:stretch>
          </a:blipFill>
          <a:ln>
            <a:noFill/>
          </a:ln>
        </p:spPr>
      </p:sp>
      <p:sp>
        <p:nvSpPr>
          <p:cNvPr id="105" name="Google Shape;105;p15"/>
          <p:cNvSpPr/>
          <p:nvPr/>
        </p:nvSpPr>
        <p:spPr>
          <a:xfrm>
            <a:off x="1559646" y="7744319"/>
            <a:ext cx="571500" cy="571500"/>
          </a:xfrm>
          <a:custGeom>
            <a:rect b="b" l="l" r="r" t="t"/>
            <a:pathLst>
              <a:path extrusionOk="0" h="571500" w="571500">
                <a:moveTo>
                  <a:pt x="0" y="0"/>
                </a:moveTo>
                <a:lnTo>
                  <a:pt x="571500" y="0"/>
                </a:lnTo>
                <a:lnTo>
                  <a:pt x="571500" y="571500"/>
                </a:lnTo>
                <a:lnTo>
                  <a:pt x="0" y="571500"/>
                </a:lnTo>
                <a:lnTo>
                  <a:pt x="0" y="0"/>
                </a:lnTo>
                <a:close/>
              </a:path>
            </a:pathLst>
          </a:custGeom>
          <a:blipFill rotWithShape="1">
            <a:blip r:embed="rId3">
              <a:alphaModFix/>
            </a:blip>
            <a:stretch>
              <a:fillRect b="0" l="0" r="0" t="0"/>
            </a:stretch>
          </a:blipFill>
          <a:ln>
            <a:noFill/>
          </a:ln>
        </p:spPr>
      </p:sp>
      <p:sp>
        <p:nvSpPr>
          <p:cNvPr id="106" name="Google Shape;106;p15"/>
          <p:cNvSpPr txBox="1"/>
          <p:nvPr/>
        </p:nvSpPr>
        <p:spPr>
          <a:xfrm>
            <a:off x="17259300" y="9210675"/>
            <a:ext cx="152400" cy="200025"/>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1" i="0" lang="en-US" sz="2000" u="none" cap="none" strike="noStrike">
                <a:solidFill>
                  <a:srgbClr val="09427D"/>
                </a:solidFill>
                <a:latin typeface="Arial"/>
                <a:ea typeface="Arial"/>
                <a:cs typeface="Arial"/>
                <a:sym typeface="Arial"/>
              </a:rPr>
              <a:t>2</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DEDED"/>
        </a:solidFill>
      </p:bgPr>
    </p:bg>
    <p:spTree>
      <p:nvGrpSpPr>
        <p:cNvPr id="110" name="Shape 110"/>
        <p:cNvGrpSpPr/>
        <p:nvPr/>
      </p:nvGrpSpPr>
      <p:grpSpPr>
        <a:xfrm>
          <a:off x="0" y="0"/>
          <a:ext cx="0" cy="0"/>
          <a:chOff x="0" y="0"/>
          <a:chExt cx="0" cy="0"/>
        </a:xfrm>
      </p:grpSpPr>
      <p:sp>
        <p:nvSpPr>
          <p:cNvPr id="111" name="Google Shape;111;p16"/>
          <p:cNvSpPr txBox="1"/>
          <p:nvPr/>
        </p:nvSpPr>
        <p:spPr>
          <a:xfrm>
            <a:off x="1028700" y="1014725"/>
            <a:ext cx="14742900" cy="12315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lang="en-US" sz="8000">
                <a:solidFill>
                  <a:srgbClr val="09427D"/>
                </a:solidFill>
                <a:latin typeface="Comfortaa"/>
                <a:ea typeface="Comfortaa"/>
                <a:cs typeface="Comfortaa"/>
                <a:sym typeface="Comfortaa"/>
              </a:rPr>
              <a:t>Questions</a:t>
            </a:r>
            <a:endParaRPr>
              <a:latin typeface="Comfortaa"/>
              <a:ea typeface="Comfortaa"/>
              <a:cs typeface="Comfortaa"/>
              <a:sym typeface="Comfortaa"/>
            </a:endParaRPr>
          </a:p>
        </p:txBody>
      </p:sp>
      <p:sp>
        <p:nvSpPr>
          <p:cNvPr id="112" name="Google Shape;112;p16"/>
          <p:cNvSpPr txBox="1"/>
          <p:nvPr/>
        </p:nvSpPr>
        <p:spPr>
          <a:xfrm>
            <a:off x="1028700" y="2513050"/>
            <a:ext cx="14245500" cy="4050300"/>
          </a:xfrm>
          <a:prstGeom prst="rect">
            <a:avLst/>
          </a:prstGeom>
          <a:noFill/>
          <a:ln>
            <a:noFill/>
          </a:ln>
        </p:spPr>
        <p:txBody>
          <a:bodyPr anchorCtr="0" anchor="t" bIns="0" lIns="0" spcFirstLastPara="1" rIns="0" wrap="square" tIns="0">
            <a:spAutoFit/>
          </a:bodyPr>
          <a:lstStyle/>
          <a:p>
            <a:pPr indent="-406400" lvl="0" marL="457200" marR="0" rtl="0" algn="l">
              <a:lnSpc>
                <a:spcPct val="139964"/>
              </a:lnSpc>
              <a:spcBef>
                <a:spcPts val="0"/>
              </a:spcBef>
              <a:spcAft>
                <a:spcPts val="0"/>
              </a:spcAft>
              <a:buClr>
                <a:srgbClr val="09427D"/>
              </a:buClr>
              <a:buSzPts val="2800"/>
              <a:buFont typeface="Comfortaa"/>
              <a:buAutoNum type="arabicPeriod"/>
            </a:pPr>
            <a:r>
              <a:rPr lang="en-US" sz="2800">
                <a:solidFill>
                  <a:srgbClr val="09427D"/>
                </a:solidFill>
                <a:latin typeface="Comfortaa"/>
                <a:ea typeface="Comfortaa"/>
                <a:cs typeface="Comfortaa"/>
                <a:sym typeface="Comfortaa"/>
              </a:rPr>
              <a:t>Would it be wise to use biorender for the whole poster, or should we just use biorender for specific graphics and then add them to adobe illustrator?</a:t>
            </a:r>
            <a:endParaRPr sz="2800">
              <a:solidFill>
                <a:srgbClr val="09427D"/>
              </a:solidFill>
              <a:latin typeface="Comfortaa"/>
              <a:ea typeface="Comfortaa"/>
              <a:cs typeface="Comfortaa"/>
              <a:sym typeface="Comfortaa"/>
            </a:endParaRPr>
          </a:p>
          <a:p>
            <a:pPr indent="-406400" lvl="0" marL="457200" marR="0" rtl="0" algn="l">
              <a:lnSpc>
                <a:spcPct val="139964"/>
              </a:lnSpc>
              <a:spcBef>
                <a:spcPts val="0"/>
              </a:spcBef>
              <a:spcAft>
                <a:spcPts val="0"/>
              </a:spcAft>
              <a:buClr>
                <a:srgbClr val="09427D"/>
              </a:buClr>
              <a:buSzPts val="2800"/>
              <a:buFont typeface="Comfortaa"/>
              <a:buAutoNum type="arabicPeriod"/>
            </a:pPr>
            <a:r>
              <a:rPr lang="en-US" sz="2800">
                <a:solidFill>
                  <a:srgbClr val="09427D"/>
                </a:solidFill>
                <a:latin typeface="Comfortaa"/>
                <a:ea typeface="Comfortaa"/>
                <a:cs typeface="Comfortaa"/>
                <a:sym typeface="Comfortaa"/>
              </a:rPr>
              <a:t>Would it be smart for us to dedicate extra space to explaining the purpose of our project? In the past, people have struggled to understand the test process that we are improving.</a:t>
            </a:r>
            <a:endParaRPr sz="2800">
              <a:solidFill>
                <a:srgbClr val="09427D"/>
              </a:solidFill>
              <a:latin typeface="Comfortaa"/>
              <a:ea typeface="Comfortaa"/>
              <a:cs typeface="Comfortaa"/>
              <a:sym typeface="Comfortaa"/>
            </a:endParaRPr>
          </a:p>
          <a:p>
            <a:pPr indent="0" lvl="0" marL="0" marR="0" rtl="0" algn="l">
              <a:lnSpc>
                <a:spcPct val="139964"/>
              </a:lnSpc>
              <a:spcBef>
                <a:spcPts val="0"/>
              </a:spcBef>
              <a:spcAft>
                <a:spcPts val="0"/>
              </a:spcAft>
              <a:buNone/>
            </a:pPr>
            <a:r>
              <a:t/>
            </a:r>
            <a:endParaRPr sz="2800">
              <a:solidFill>
                <a:srgbClr val="09427D"/>
              </a:solidFill>
              <a:latin typeface="Comfortaa"/>
              <a:ea typeface="Comfortaa"/>
              <a:cs typeface="Comfortaa"/>
              <a:sym typeface="Comfortaa"/>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4686C8"/>
        </a:solidFill>
      </p:bgPr>
    </p:bg>
    <p:spTree>
      <p:nvGrpSpPr>
        <p:cNvPr id="116" name="Shape 116"/>
        <p:cNvGrpSpPr/>
        <p:nvPr/>
      </p:nvGrpSpPr>
      <p:grpSpPr>
        <a:xfrm>
          <a:off x="0" y="0"/>
          <a:ext cx="0" cy="0"/>
          <a:chOff x="0" y="0"/>
          <a:chExt cx="0" cy="0"/>
        </a:xfrm>
      </p:grpSpPr>
      <p:sp>
        <p:nvSpPr>
          <p:cNvPr id="117" name="Google Shape;117;p17"/>
          <p:cNvSpPr txBox="1"/>
          <p:nvPr/>
        </p:nvSpPr>
        <p:spPr>
          <a:xfrm>
            <a:off x="1028700" y="4422737"/>
            <a:ext cx="7010400" cy="1308300"/>
          </a:xfrm>
          <a:prstGeom prst="rect">
            <a:avLst/>
          </a:prstGeom>
          <a:noFill/>
          <a:ln>
            <a:noFill/>
          </a:ln>
        </p:spPr>
        <p:txBody>
          <a:bodyPr anchorCtr="0" anchor="t" bIns="0" lIns="0" spcFirstLastPara="1" rIns="0" wrap="square" tIns="0">
            <a:spAutoFit/>
          </a:bodyPr>
          <a:lstStyle/>
          <a:p>
            <a:pPr indent="0" lvl="0" marL="0" marR="0" rtl="0" algn="l">
              <a:lnSpc>
                <a:spcPct val="139964"/>
              </a:lnSpc>
              <a:spcBef>
                <a:spcPts val="0"/>
              </a:spcBef>
              <a:spcAft>
                <a:spcPts val="0"/>
              </a:spcAft>
              <a:buNone/>
            </a:pPr>
            <a:r>
              <a:rPr lang="en-US" sz="8500">
                <a:solidFill>
                  <a:srgbClr val="FFFFFF"/>
                </a:solidFill>
                <a:latin typeface="Comfortaa"/>
                <a:ea typeface="Comfortaa"/>
                <a:cs typeface="Comfortaa"/>
                <a:sym typeface="Comfortaa"/>
              </a:rPr>
              <a:t>Thank you</a:t>
            </a:r>
            <a:endParaRPr sz="7100">
              <a:latin typeface="Comfortaa"/>
              <a:ea typeface="Comfortaa"/>
              <a:cs typeface="Comfortaa"/>
              <a:sym typeface="Comfortaa"/>
            </a:endParaRPr>
          </a:p>
        </p:txBody>
      </p:sp>
      <p:sp>
        <p:nvSpPr>
          <p:cNvPr id="118" name="Google Shape;118;p17"/>
          <p:cNvSpPr/>
          <p:nvPr/>
        </p:nvSpPr>
        <p:spPr>
          <a:xfrm rot="9774928">
            <a:off x="9769183" y="1902352"/>
            <a:ext cx="6998882" cy="6998882"/>
          </a:xfrm>
          <a:custGeom>
            <a:rect b="b" l="l" r="r" t="t"/>
            <a:pathLst>
              <a:path extrusionOk="0" h="6998882" w="6998882">
                <a:moveTo>
                  <a:pt x="0" y="0"/>
                </a:moveTo>
                <a:lnTo>
                  <a:pt x="6998882" y="0"/>
                </a:lnTo>
                <a:lnTo>
                  <a:pt x="6998882" y="6998881"/>
                </a:lnTo>
                <a:lnTo>
                  <a:pt x="0" y="6998881"/>
                </a:lnTo>
                <a:lnTo>
                  <a:pt x="0" y="0"/>
                </a:lnTo>
                <a:close/>
              </a:path>
            </a:pathLst>
          </a:custGeom>
          <a:blipFill rotWithShape="1">
            <a:blip r:embed="rId3">
              <a:alphaModFix/>
            </a:blip>
            <a:stretch>
              <a:fillRect b="0" l="0" r="0" t="0"/>
            </a:stretch>
          </a:blipFill>
          <a:ln>
            <a:noFill/>
          </a:ln>
        </p:spPr>
      </p:sp>
      <p:sp>
        <p:nvSpPr>
          <p:cNvPr descr="conceptual graphic of people coming up with an idea" id="119" name="Google Shape;119;p17"/>
          <p:cNvSpPr/>
          <p:nvPr/>
        </p:nvSpPr>
        <p:spPr>
          <a:xfrm>
            <a:off x="10137648" y="2307218"/>
            <a:ext cx="6261951" cy="5461813"/>
          </a:xfrm>
          <a:custGeom>
            <a:rect b="b" l="l" r="r" t="t"/>
            <a:pathLst>
              <a:path extrusionOk="0" h="5461813" w="6261951">
                <a:moveTo>
                  <a:pt x="0" y="0"/>
                </a:moveTo>
                <a:lnTo>
                  <a:pt x="6261951" y="0"/>
                </a:lnTo>
                <a:lnTo>
                  <a:pt x="6261951" y="5461813"/>
                </a:lnTo>
                <a:lnTo>
                  <a:pt x="0" y="5461813"/>
                </a:lnTo>
                <a:lnTo>
                  <a:pt x="0" y="0"/>
                </a:lnTo>
                <a:close/>
              </a:path>
            </a:pathLst>
          </a:custGeom>
          <a:blipFill rotWithShape="1">
            <a:blip r:embed="rId4">
              <a:alphaModFix/>
            </a:blip>
            <a:stretch>
              <a:fillRect b="0" l="0" r="0" t="0"/>
            </a:stretch>
          </a:blipFill>
          <a:ln>
            <a:noFill/>
          </a:ln>
        </p:spPr>
      </p:sp>
      <p:sp>
        <p:nvSpPr>
          <p:cNvPr id="120" name="Google Shape;120;p17"/>
          <p:cNvSpPr txBox="1"/>
          <p:nvPr/>
        </p:nvSpPr>
        <p:spPr>
          <a:xfrm>
            <a:off x="17259300" y="9210675"/>
            <a:ext cx="152400" cy="200025"/>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1" i="0" lang="en-US" sz="2000" u="none" cap="none" strike="noStrike">
                <a:solidFill>
                  <a:srgbClr val="09427D"/>
                </a:solidFill>
                <a:latin typeface="Arial"/>
                <a:ea typeface="Arial"/>
                <a:cs typeface="Arial"/>
                <a:sym typeface="Arial"/>
              </a:rPr>
              <a:t>3</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