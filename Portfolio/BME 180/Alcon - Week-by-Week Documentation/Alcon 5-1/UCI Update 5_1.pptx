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custom-properties+xml" PartName="/docProps/custom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59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</p:sldIdLst>
  <p:sldSz cy="6858000" cx="12192000"/>
  <p:notesSz cx="6985000" cy="9283700"/>
  <p:embeddedFontLst>
    <p:embeddedFont>
      <p:font typeface="Open Sans SemiBold"/>
      <p:regular r:id="rId11"/>
      <p:bold r:id="rId12"/>
      <p:italic r:id="rId13"/>
      <p:boldItalic r:id="rId14"/>
    </p:embeddedFont>
    <p:embeddedFont>
      <p:font typeface="Open Sans ExtraBold"/>
      <p:bold r:id="rId15"/>
      <p:boldItalic r:id="rId16"/>
    </p:embeddedFont>
    <p:embeddedFont>
      <p:font typeface="Open Sans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gtZSaTlwXtd37U2qU84Tpm2FEn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B9B9665-0DA3-458A-9129-DF3C1E7C6411}">
  <a:tblStyle styleId="{BB9B9665-0DA3-458A-9129-DF3C1E7C6411}" styleName="Table_0">
    <a:wholeTbl>
      <a:tcTxStyle b="off" i="off">
        <a:font>
          <a:latin typeface="Open Sans"/>
          <a:ea typeface="Open Sans"/>
          <a:cs typeface="Open San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F1FC"/>
          </a:solidFill>
        </a:fill>
      </a:tcStyle>
    </a:wholeTbl>
    <a:band1H>
      <a:tcTxStyle b="off" i="off"/>
      <a:tcStyle>
        <a:fill>
          <a:solidFill>
            <a:srgbClr val="CAE3F9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E3F9"/>
          </a:solidFill>
        </a:fill>
      </a:tcStyle>
    </a:band1V>
    <a:band2V>
      <a:tcTxStyle b="off" i="off"/>
    </a:band2V>
    <a:la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16561927-A3D5-465D-B373-6D4B089354CD}" styleName="Table_1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OpenSans-boldItalic.fntdata"/><Relationship Id="rId11" Type="http://schemas.openxmlformats.org/officeDocument/2006/relationships/font" Target="fonts/OpenSansSemiBold-regular.fntdata"/><Relationship Id="rId10" Type="http://schemas.openxmlformats.org/officeDocument/2006/relationships/slide" Target="slides/slide3.xml"/><Relationship Id="rId21" Type="http://customschemas.google.com/relationships/presentationmetadata" Target="metadata"/><Relationship Id="rId13" Type="http://schemas.openxmlformats.org/officeDocument/2006/relationships/font" Target="fonts/OpenSansSemiBold-italic.fntdata"/><Relationship Id="rId12" Type="http://schemas.openxmlformats.org/officeDocument/2006/relationships/font" Target="fonts/OpenSansSemiBold-bold.fntdata"/><Relationship Id="rId1" Type="http://schemas.openxmlformats.org/officeDocument/2006/relationships/theme" Target="theme/theme4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5" Type="http://schemas.openxmlformats.org/officeDocument/2006/relationships/font" Target="fonts/OpenSansExtraBold-bold.fntdata"/><Relationship Id="rId14" Type="http://schemas.openxmlformats.org/officeDocument/2006/relationships/font" Target="fonts/OpenSansSemiBold-boldItalic.fntdata"/><Relationship Id="rId17" Type="http://schemas.openxmlformats.org/officeDocument/2006/relationships/font" Target="fonts/OpenSans-regular.fntdata"/><Relationship Id="rId16" Type="http://schemas.openxmlformats.org/officeDocument/2006/relationships/font" Target="fonts/OpenSansExtraBold-boldItalic.fntdata"/><Relationship Id="rId5" Type="http://schemas.openxmlformats.org/officeDocument/2006/relationships/slideMaster" Target="slideMasters/slideMaster2.xml"/><Relationship Id="rId19" Type="http://schemas.openxmlformats.org/officeDocument/2006/relationships/font" Target="fonts/OpenSans-italic.fntdata"/><Relationship Id="rId6" Type="http://schemas.openxmlformats.org/officeDocument/2006/relationships/slideMaster" Target="slideMasters/slideMaster3.xml"/><Relationship Id="rId18" Type="http://schemas.openxmlformats.org/officeDocument/2006/relationships/font" Target="fonts/OpenSans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26833" cy="46579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956550" y="0"/>
            <a:ext cx="3026833" cy="46579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:notes"/>
          <p:cNvSpPr/>
          <p:nvPr>
            <p:ph idx="2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1:notes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3" name="Google Shape;123;p1:notes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:notes"/>
          <p:cNvSpPr/>
          <p:nvPr>
            <p:ph idx="2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2:notes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p2:notes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:notes"/>
          <p:cNvSpPr/>
          <p:nvPr>
            <p:ph idx="2" type="sldImg"/>
          </p:nvPr>
        </p:nvSpPr>
        <p:spPr>
          <a:xfrm>
            <a:off x="706438" y="1160463"/>
            <a:ext cx="5572125" cy="31337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3:notes"/>
          <p:cNvSpPr txBox="1"/>
          <p:nvPr>
            <p:ph idx="1" type="body"/>
          </p:nvPr>
        </p:nvSpPr>
        <p:spPr>
          <a:xfrm>
            <a:off x="698500" y="4467781"/>
            <a:ext cx="5588000" cy="3655457"/>
          </a:xfrm>
          <a:prstGeom prst="rect">
            <a:avLst/>
          </a:prstGeom>
          <a:noFill/>
          <a:ln>
            <a:noFill/>
          </a:ln>
        </p:spPr>
        <p:txBody>
          <a:bodyPr anchorCtr="0" anchor="t" bIns="46475" lIns="92950" spcFirstLastPara="1" rIns="92950" wrap="square" tIns="464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8" name="Google Shape;148;p3:notes"/>
          <p:cNvSpPr txBox="1"/>
          <p:nvPr>
            <p:ph idx="12" type="sldNum"/>
          </p:nvPr>
        </p:nvSpPr>
        <p:spPr>
          <a:xfrm>
            <a:off x="3956550" y="8817904"/>
            <a:ext cx="3026833" cy="465796"/>
          </a:xfrm>
          <a:prstGeom prst="rect">
            <a:avLst/>
          </a:prstGeom>
          <a:noFill/>
          <a:ln>
            <a:noFill/>
          </a:ln>
        </p:spPr>
        <p:txBody>
          <a:bodyPr anchorCtr="0" anchor="b" bIns="46475" lIns="92950" spcFirstLastPara="1" rIns="92950" wrap="square" tIns="464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jp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g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5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5"/>
          <p:cNvSpPr txBox="1"/>
          <p:nvPr>
            <p:ph idx="1" type="body"/>
          </p:nvPr>
        </p:nvSpPr>
        <p:spPr>
          <a:xfrm>
            <a:off x="838200" y="1494971"/>
            <a:ext cx="1051560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21129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08738" y="0"/>
            <a:ext cx="448326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6"/>
          <p:cNvSpPr txBox="1"/>
          <p:nvPr>
            <p:ph type="ctrTitle"/>
          </p:nvPr>
        </p:nvSpPr>
        <p:spPr>
          <a:xfrm>
            <a:off x="820057" y="781277"/>
            <a:ext cx="4412343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  <a:defRPr sz="28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" type="subTitle"/>
          </p:nvPr>
        </p:nvSpPr>
        <p:spPr>
          <a:xfrm>
            <a:off x="820057" y="2143352"/>
            <a:ext cx="4412343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b="1" i="0" sz="1800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2" name="Google Shape;2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12242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6"/>
          <p:cNvSpPr txBox="1"/>
          <p:nvPr>
            <p:ph idx="2" type="body"/>
          </p:nvPr>
        </p:nvSpPr>
        <p:spPr>
          <a:xfrm>
            <a:off x="820057" y="6021388"/>
            <a:ext cx="3913187" cy="422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/>
          <p:nvPr>
            <p:ph type="title"/>
          </p:nvPr>
        </p:nvSpPr>
        <p:spPr>
          <a:xfrm>
            <a:off x="839788" y="365126"/>
            <a:ext cx="10515600" cy="1066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i="0" sz="240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1" name="Google Shape;31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b="1" i="0" sz="240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3" name="Google Shape;33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/>
          <p:nvPr>
            <p:ph idx="1" type="body"/>
          </p:nvPr>
        </p:nvSpPr>
        <p:spPr>
          <a:xfrm>
            <a:off x="5183188" y="1608881"/>
            <a:ext cx="6172200" cy="42521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39" name="Google Shape;39;p11"/>
          <p:cNvSpPr txBox="1"/>
          <p:nvPr>
            <p:ph idx="2" type="body"/>
          </p:nvPr>
        </p:nvSpPr>
        <p:spPr>
          <a:xfrm>
            <a:off x="839788" y="1607945"/>
            <a:ext cx="3932237" cy="42610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40" name="Google Shape;40;p11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2"/>
          <p:cNvSpPr txBox="1"/>
          <p:nvPr>
            <p:ph type="title"/>
          </p:nvPr>
        </p:nvSpPr>
        <p:spPr>
          <a:xfrm>
            <a:off x="838200" y="5018148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" type="subTitle"/>
          </p:nvPr>
        </p:nvSpPr>
        <p:spPr>
          <a:xfrm>
            <a:off x="820057" y="6046798"/>
            <a:ext cx="10533743" cy="469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i="0" sz="1800">
                <a:solidFill>
                  <a:schemeClr val="accent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grpSp>
        <p:nvGrpSpPr>
          <p:cNvPr id="45" name="Google Shape;45;p12"/>
          <p:cNvGrpSpPr/>
          <p:nvPr/>
        </p:nvGrpSpPr>
        <p:grpSpPr>
          <a:xfrm>
            <a:off x="665580" y="1336329"/>
            <a:ext cx="1377609" cy="1377609"/>
            <a:chOff x="665580" y="1336329"/>
            <a:chExt cx="1377609" cy="1377609"/>
          </a:xfrm>
        </p:grpSpPr>
        <p:sp>
          <p:nvSpPr>
            <p:cNvPr id="46" name="Google Shape;46;p12"/>
            <p:cNvSpPr/>
            <p:nvPr/>
          </p:nvSpPr>
          <p:spPr>
            <a:xfrm>
              <a:off x="751889" y="1422638"/>
              <a:ext cx="1204989" cy="1204989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47" name="Google Shape;47;p1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665580" y="1336329"/>
              <a:ext cx="1377609" cy="137760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wo Content">
  <p:cSld name="1_Two Conten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idx="1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13"/>
          <p:cNvSpPr/>
          <p:nvPr>
            <p:ph idx="2" type="pic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13"/>
          <p:cNvSpPr/>
          <p:nvPr/>
        </p:nvSpPr>
        <p:spPr>
          <a:xfrm>
            <a:off x="838200" y="6100763"/>
            <a:ext cx="5181600" cy="1444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wo Content">
  <p:cSld name="2_Two Conten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4"/>
          <p:cNvSpPr txBox="1"/>
          <p:nvPr>
            <p:ph idx="1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14"/>
          <p:cNvSpPr/>
          <p:nvPr>
            <p:ph idx="2" type="pic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4"/>
          <p:cNvSpPr/>
          <p:nvPr/>
        </p:nvSpPr>
        <p:spPr>
          <a:xfrm>
            <a:off x="838200" y="6040583"/>
            <a:ext cx="5181600" cy="204644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6599581" y="0"/>
            <a:ext cx="569843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6"/>
          <p:cNvSpPr txBox="1"/>
          <p:nvPr>
            <p:ph type="ctrTitle"/>
          </p:nvPr>
        </p:nvSpPr>
        <p:spPr>
          <a:xfrm>
            <a:off x="820057" y="2378583"/>
            <a:ext cx="5441847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" type="subTitle"/>
          </p:nvPr>
        </p:nvSpPr>
        <p:spPr>
          <a:xfrm>
            <a:off x="820057" y="3740658"/>
            <a:ext cx="5441847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64" name="Google Shape;6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0057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Blank">
  <p:cSld name="2_Blank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59024" y="0"/>
            <a:ext cx="7275443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7"/>
          <p:cNvSpPr txBox="1"/>
          <p:nvPr>
            <p:ph type="ctrTitle"/>
          </p:nvPr>
        </p:nvSpPr>
        <p:spPr>
          <a:xfrm>
            <a:off x="7407797" y="2378583"/>
            <a:ext cx="4537276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ExtraBold"/>
              <a:buNone/>
              <a:defRPr b="1" i="0" sz="32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7"/>
          <p:cNvSpPr txBox="1"/>
          <p:nvPr>
            <p:ph idx="1" type="subTitle"/>
          </p:nvPr>
        </p:nvSpPr>
        <p:spPr>
          <a:xfrm>
            <a:off x="7407797" y="3740658"/>
            <a:ext cx="4537276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0" name="Google Shape;70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50976" y="5918198"/>
            <a:ext cx="1267526" cy="5261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">
  <p:cSld name="1_Blank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8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8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75" name="Google Shape;7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0057" y="551145"/>
            <a:ext cx="1541840" cy="420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Blank">
  <p:cSld name="4_Blank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9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9" name="Google Shape;79;p19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80" name="Google Shape;8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0057" y="6445477"/>
            <a:ext cx="643164" cy="175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Blank">
  <p:cSld name="5_Blank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20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4" name="Google Shape;84;p20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8EFFE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C8EFFE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85" name="Google Shape;8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0057" y="6445477"/>
            <a:ext cx="643164" cy="1754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lank">
  <p:cSld name="3_Blank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21"/>
          <p:cNvSpPr txBox="1"/>
          <p:nvPr>
            <p:ph type="ctrTitle"/>
          </p:nvPr>
        </p:nvSpPr>
        <p:spPr>
          <a:xfrm>
            <a:off x="820057" y="3719115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1"/>
          <p:cNvSpPr txBox="1"/>
          <p:nvPr>
            <p:ph idx="1" type="subTitle"/>
          </p:nvPr>
        </p:nvSpPr>
        <p:spPr>
          <a:xfrm>
            <a:off x="820057" y="5081190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Blank">
  <p:cSld name="6_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22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p22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96" name="Google Shape;9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Blank">
  <p:cSld name="7_Blank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3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0" name="Google Shape;100;p23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01" name="Google Shape;10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Blank">
  <p:cSld name="8_Blank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4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4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06" name="Google Shape;10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Blank">
  <p:cSld name="9_Blank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5"/>
          <p:cNvSpPr txBox="1"/>
          <p:nvPr>
            <p:ph type="ctrTitle"/>
          </p:nvPr>
        </p:nvSpPr>
        <p:spPr>
          <a:xfrm>
            <a:off x="820057" y="2378583"/>
            <a:ext cx="6796085" cy="116975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Open Sans ExtraBold"/>
              <a:buNone/>
              <a:defRPr b="1" i="0" sz="36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5"/>
          <p:cNvSpPr txBox="1"/>
          <p:nvPr>
            <p:ph idx="1" type="subTitle"/>
          </p:nvPr>
        </p:nvSpPr>
        <p:spPr>
          <a:xfrm>
            <a:off x="820057" y="3740658"/>
            <a:ext cx="6796085" cy="811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2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11" name="Google Shape;11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 txBox="1"/>
          <p:nvPr>
            <p:ph type="title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4" name="Google Shape;114;p26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116628" y="2616444"/>
            <a:ext cx="5958744" cy="16251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Blank">
  <p:cSld name="1_Blank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119375" y="2193420"/>
            <a:ext cx="5953250" cy="2471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2" Type="http://schemas.openxmlformats.org/officeDocument/2006/relationships/theme" Target="../theme/theme4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  <a:defRPr b="1" i="0" sz="28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" type="body"/>
          </p:nvPr>
        </p:nvSpPr>
        <p:spPr>
          <a:xfrm>
            <a:off x="838200" y="1494971"/>
            <a:ext cx="1051560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12" name="Google Shape;12;p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38200" y="6445477"/>
            <a:ext cx="625021" cy="17046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4"/>
          <p:cNvSpPr txBox="1"/>
          <p:nvPr/>
        </p:nvSpPr>
        <p:spPr>
          <a:xfrm>
            <a:off x="4544568" y="6445477"/>
            <a:ext cx="6809232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-US" sz="700" u="none" cap="none" strike="noStrik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Business Use Only | </a:t>
            </a:r>
            <a:fld id="{00000000-1234-1234-1234-123412341234}" type="slidenum">
              <a:rPr b="0" i="0" lang="en-US" sz="700" u="none" cap="none" strike="noStrik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r>
              <a:rPr b="0" i="0" lang="en-US" sz="700" u="none" cap="none" strike="noStrike">
                <a:solidFill>
                  <a:srgbClr val="272727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1"/>
    <p:sldLayoutId id="2147483673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5" name="Google Shape;125;p1"/>
          <p:cNvGraphicFramePr/>
          <p:nvPr/>
        </p:nvGraphicFramePr>
        <p:xfrm>
          <a:off x="133722" y="300059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{BB9B9665-0DA3-458A-9129-DF3C1E7C6411}</a:tableStyleId>
              </a:tblPr>
              <a:tblGrid>
                <a:gridCol w="5212725"/>
              </a:tblGrid>
              <a:tr h="355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Open Sans"/>
                        <a:buNone/>
                      </a:pPr>
                      <a:r>
                        <a:rPr lang="en-US" sz="1100" u="none" cap="none" strike="noStrike">
                          <a:solidFill>
                            <a:schemeClr val="lt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Status Update:</a:t>
                      </a:r>
                      <a:endParaRPr sz="1400" u="none" cap="none" strike="noStrike"/>
                    </a:p>
                  </a:txBody>
                  <a:tcPr marT="45725" marB="45725" marR="121925" marL="121925" anchor="ctr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429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Noto Sans Symbols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New parts work </a:t>
                      </a: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are hard to work with and we require </a:t>
                      </a: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assistance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Noto Sans Symbols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to refine Arduino code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Noto Sans Symbols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to work on Python code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Noto Sans Symbols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test images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Noto Sans Symbols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power cables for new parts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26" name="Google Shape;126;p1"/>
          <p:cNvSpPr txBox="1"/>
          <p:nvPr>
            <p:ph type="title"/>
          </p:nvPr>
        </p:nvSpPr>
        <p:spPr>
          <a:xfrm>
            <a:off x="213048" y="288960"/>
            <a:ext cx="4657532" cy="5584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493"/>
              </a:buClr>
              <a:buSzPct val="100000"/>
              <a:buFont typeface="Open Sans ExtraBold"/>
              <a:buNone/>
            </a:pPr>
            <a:r>
              <a:rPr lang="en-US">
                <a:solidFill>
                  <a:srgbClr val="003493"/>
                </a:solidFill>
              </a:rPr>
              <a:t>Automated Metal Particulate System</a:t>
            </a:r>
            <a:endParaRPr>
              <a:solidFill>
                <a:srgbClr val="003493"/>
              </a:solidFill>
            </a:endParaRPr>
          </a:p>
        </p:txBody>
      </p:sp>
      <p:graphicFrame>
        <p:nvGraphicFramePr>
          <p:cNvPr id="127" name="Google Shape;127;p1"/>
          <p:cNvGraphicFramePr/>
          <p:nvPr/>
        </p:nvGraphicFramePr>
        <p:xfrm>
          <a:off x="133722" y="105167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{BB9B9665-0DA3-458A-9129-DF3C1E7C6411}</a:tableStyleId>
              </a:tblPr>
              <a:tblGrid>
                <a:gridCol w="5212725"/>
              </a:tblGrid>
              <a:tr h="254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100"/>
                        <a:buFont typeface="Open Sans"/>
                        <a:buNone/>
                      </a:pPr>
                      <a:r>
                        <a:rPr lang="en-US" sz="1100" u="none" cap="none" strike="noStrike">
                          <a:solidFill>
                            <a:schemeClr val="lt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Problem Statement/Project Goal/Objective</a:t>
                      </a:r>
                      <a:endParaRPr sz="1400" u="none" cap="none" strike="noStrike"/>
                    </a:p>
                  </a:txBody>
                  <a:tcPr marT="45725" marB="45725" marR="121925" marL="121925" anchor="ctr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1275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Issue: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</a:t>
                      </a: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 need to refine the code and test it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to get the new parts with the circuit to run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to feed training data to YoloV5</a:t>
                      </a:r>
                      <a:endParaRPr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need a prototype to showcase to pitch to the class</a:t>
                      </a:r>
                      <a:endParaRPr b="0" i="0"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21A0C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Root Cause: 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221A0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Need for prototype</a:t>
                      </a:r>
                      <a:endParaRPr b="0" i="0" sz="1100" u="none" cap="none" strike="noStrike">
                        <a:solidFill>
                          <a:srgbClr val="221A0C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403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Arial"/>
                        <a:buNone/>
                      </a:pPr>
                      <a:r>
                        <a:t/>
                      </a:r>
                      <a:endParaRPr b="0" i="0" sz="1050" u="none" cap="none" strike="noStrike">
                        <a:solidFill>
                          <a:srgbClr val="221A0C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121925" marL="121925">
                    <a:lnL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2857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8" name="Google Shape;128;p1"/>
          <p:cNvSpPr txBox="1"/>
          <p:nvPr/>
        </p:nvSpPr>
        <p:spPr>
          <a:xfrm>
            <a:off x="5630767" y="126513"/>
            <a:ext cx="2040293" cy="7208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rPr b="0" i="0" lang="en-US" sz="1067" u="none" cap="none" strike="noStrike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T: Target Completion Date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rPr b="0" i="0" lang="en-US" sz="1067" u="none" cap="none" strike="noStrike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C: Completion 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rPr b="1" i="0" lang="en-US" sz="1067" u="none" cap="none" strike="noStrike">
                <a:solidFill>
                  <a:srgbClr val="221A0C"/>
                </a:solidFill>
                <a:latin typeface="Arial"/>
                <a:ea typeface="Arial"/>
                <a:cs typeface="Arial"/>
                <a:sym typeface="Arial"/>
              </a:rPr>
              <a:t>Owners: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rPr b="0" i="0" lang="en-US" sz="1067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Date updated: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67"/>
              <a:buFont typeface="Arial"/>
              <a:buNone/>
            </a:pPr>
            <a:r>
              <a:t/>
            </a:r>
            <a:endParaRPr b="1" i="0" sz="1067" u="none" cap="none" strike="noStrike">
              <a:solidFill>
                <a:srgbClr val="221A0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29" name="Google Shape;129;p1"/>
          <p:cNvGraphicFramePr/>
          <p:nvPr/>
        </p:nvGraphicFramePr>
        <p:xfrm>
          <a:off x="5486400" y="103144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{BB9B9665-0DA3-458A-9129-DF3C1E7C6411}</a:tableStyleId>
              </a:tblPr>
              <a:tblGrid>
                <a:gridCol w="3685600"/>
                <a:gridCol w="1327150"/>
                <a:gridCol w="1406725"/>
              </a:tblGrid>
              <a:tr h="124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Major Milestones/Action Items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Responsible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1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 Work on Arduino and Python code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Tandol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Week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 Obtain test images with filter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Landon, Isaac, Brian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Week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 Train YOLOv5 with the data 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Landon, Isaac, Brian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Week 5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Create a prototype to present to class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Week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Get new circuit to work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Tandol, Yolanda, Matthew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Week </a:t>
                      </a: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 Work on Final Report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 Work on website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Week 6 of Spring Quarter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  <a:tr h="2773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8. Finish poster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T: 5/5/25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130" name="Google Shape;130;p1"/>
          <p:cNvGraphicFramePr/>
          <p:nvPr/>
        </p:nvGraphicFramePr>
        <p:xfrm>
          <a:off x="7870776" y="693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{16561927-A3D5-465D-B373-6D4B089354CD}</a:tableStyleId>
              </a:tblPr>
              <a:tblGrid>
                <a:gridCol w="2093750"/>
                <a:gridCol w="2093750"/>
              </a:tblGrid>
              <a:tr h="201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100" u="none" cap="none" strike="noStrike"/>
                        <a:t>PROJECT STATUS</a:t>
                      </a:r>
                      <a:endParaRPr b="1" sz="11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/>
                        <a:t>ON TRACK</a:t>
                      </a:r>
                      <a:endParaRPr sz="11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solidFill>
                      <a:srgbClr val="92D050"/>
                    </a:solidFill>
                  </a:tcPr>
                </a:tc>
              </a:tr>
              <a:tr h="177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cap="none" strike="noStrike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Project Start:</a:t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t/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  <a:tr h="177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cap="none" strike="noStrike">
                          <a:solidFill>
                            <a:schemeClr val="dk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Original Est. Date of Completion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t/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  <a:tr h="2211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u="none" cap="none" strike="noStrike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Est. Date of Completion:</a:t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t/>
                      </a:r>
                      <a:endParaRPr sz="900" u="none" cap="none" strike="noStrike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131" name="Google Shape;131;p1"/>
          <p:cNvGraphicFramePr/>
          <p:nvPr/>
        </p:nvGraphicFramePr>
        <p:xfrm>
          <a:off x="5486400" y="53791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{BB9B9665-0DA3-458A-9129-DF3C1E7C6411}</a:tableStyleId>
              </a:tblPr>
              <a:tblGrid>
                <a:gridCol w="1095375"/>
                <a:gridCol w="1171575"/>
                <a:gridCol w="1019175"/>
                <a:gridCol w="3133325"/>
              </a:tblGrid>
              <a:tr h="2684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Savings Type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Annual Savings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Start Date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Assumptions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Hard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 row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Soft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 vMerge="1"/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u="none" cap="none" strike="noStrike"/>
                        <a:t>Avoidance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/>
                </a:tc>
                <a:tc vMerge="1"/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</a:pPr>
            <a:r>
              <a:rPr lang="en-US"/>
              <a:t>Cost Savings Guidance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38" name="Google Shape;138;p2"/>
          <p:cNvSpPr txBox="1"/>
          <p:nvPr>
            <p:ph idx="1" type="body"/>
          </p:nvPr>
        </p:nvSpPr>
        <p:spPr>
          <a:xfrm>
            <a:off x="381000" y="1306286"/>
            <a:ext cx="802005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Quantify hard savings, soft savings, and cost avoidance as a results of your change.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US"/>
              <a:t>Hard</a:t>
            </a:r>
            <a:r>
              <a:rPr lang="en-US"/>
              <a:t> = easily quantifiable and directly measurable in monetary terms. These savings represent actual reductions in expenses or costs that can be clearly identified in financial records.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ITC Examples: Cost reductions achieved through material cost savings, energy efficiency improvements leading to reduced utility bills, direct procurement savings, or router time reduction.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US"/>
              <a:t>Soft</a:t>
            </a:r>
            <a:r>
              <a:rPr lang="en-US"/>
              <a:t> = more abstract and challenging to quantify in exact monetary terms. These savings often result from improved processes, increased efficiency, or enhanced productivity.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ITC Examples: Indirect labor time saved due to process improvements, increased employee productivity, improved customer satisfaction leading to potential future revenue gains.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b="1" lang="en-US"/>
              <a:t>Cost Avoidance </a:t>
            </a:r>
            <a:r>
              <a:rPr lang="en-US"/>
              <a:t>= savings that result from actions taken to prevent or avoid potential costs or expenses.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ITC Examples: Preventing machine breakdowns through regular maintenance, preventing future DOAs/service calls by fixing a quality issue. Note these may be hard savings for other budgets, but are cost avoidances for ITC.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9020175" y="1695450"/>
            <a:ext cx="2924175" cy="92333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Typically Quantified in $$.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E.g., $500K annual material savings; $20K in annual direct labor cost; one time material recovery of $100K…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0" name="Google Shape;140;p2"/>
          <p:cNvCxnSpPr>
            <a:stCxn id="139" idx="1"/>
          </p:cNvCxnSpPr>
          <p:nvPr/>
        </p:nvCxnSpPr>
        <p:spPr>
          <a:xfrm flipH="1">
            <a:off x="8400975" y="2157115"/>
            <a:ext cx="619200" cy="5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1" name="Google Shape;141;p2"/>
          <p:cNvSpPr txBox="1"/>
          <p:nvPr/>
        </p:nvSpPr>
        <p:spPr>
          <a:xfrm>
            <a:off x="9020176" y="3697070"/>
            <a:ext cx="2924174" cy="738664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accent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Typically Quantified in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E.g., 40% reduction in MRB cycle time; reduced complaint WIP by 10%...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2" name="Google Shape;142;p2"/>
          <p:cNvCxnSpPr>
            <a:stCxn id="141" idx="1"/>
          </p:cNvCxnSpPr>
          <p:nvPr/>
        </p:nvCxnSpPr>
        <p:spPr>
          <a:xfrm rot="10800000">
            <a:off x="7862776" y="3722902"/>
            <a:ext cx="1157400" cy="343500"/>
          </a:xfrm>
          <a:prstGeom prst="straightConnector1">
            <a:avLst/>
          </a:prstGeom>
          <a:noFill/>
          <a:ln cap="flat" cmpd="sng" w="9525">
            <a:solidFill>
              <a:schemeClr val="accent4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3" name="Google Shape;143;p2"/>
          <p:cNvSpPr txBox="1"/>
          <p:nvPr/>
        </p:nvSpPr>
        <p:spPr>
          <a:xfrm>
            <a:off x="9020175" y="4850742"/>
            <a:ext cx="2924175" cy="738664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Typically Quantified in $$.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E.g., Mitigates $100K annually due to reduced service calls…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" name="Google Shape;144;p2"/>
          <p:cNvCxnSpPr>
            <a:stCxn id="143" idx="1"/>
          </p:cNvCxnSpPr>
          <p:nvPr/>
        </p:nvCxnSpPr>
        <p:spPr>
          <a:xfrm rot="10800000">
            <a:off x="7943775" y="5095874"/>
            <a:ext cx="1076400" cy="124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"/>
          <p:cNvSpPr txBox="1"/>
          <p:nvPr>
            <p:ph type="title"/>
          </p:nvPr>
        </p:nvSpPr>
        <p:spPr>
          <a:xfrm>
            <a:off x="838200" y="365125"/>
            <a:ext cx="10515600" cy="9411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Open Sans ExtraBold"/>
              <a:buNone/>
            </a:pPr>
            <a:r>
              <a:rPr lang="en-US"/>
              <a:t>Cost Savings Guidance Continued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51" name="Google Shape;151;p3"/>
          <p:cNvSpPr txBox="1"/>
          <p:nvPr>
            <p:ph idx="1" type="body"/>
          </p:nvPr>
        </p:nvSpPr>
        <p:spPr>
          <a:xfrm>
            <a:off x="609600" y="1191986"/>
            <a:ext cx="10972800" cy="4681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Tools &amp; Tips: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/>
              <a:t>MPS can be used to estimate savings over the annual build plan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/>
              <a:t>Savings start once implementation happens (typically production / PO cut-in)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/>
              <a:t>Sometimes it’s best to have a blended implementation strategy for business continuity (e.g. dual source a component from an incumbent, more expensive supplier with a new, less expensive supplier for a time period)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Design">
  <a:themeElements>
    <a:clrScheme name="Alcon Color Palette">
      <a:dk1>
        <a:srgbClr val="000000"/>
      </a:dk1>
      <a:lt1>
        <a:srgbClr val="FFFFFF"/>
      </a:lt1>
      <a:dk2>
        <a:srgbClr val="003493"/>
      </a:dk2>
      <a:lt2>
        <a:srgbClr val="F5EEE3"/>
      </a:lt2>
      <a:accent1>
        <a:srgbClr val="00AEEF"/>
      </a:accent1>
      <a:accent2>
        <a:srgbClr val="DEC9A5"/>
      </a:accent2>
      <a:accent3>
        <a:srgbClr val="F36E20"/>
      </a:accent3>
      <a:accent4>
        <a:srgbClr val="00A990"/>
      </a:accent4>
      <a:accent5>
        <a:srgbClr val="512773"/>
      </a:accent5>
      <a:accent6>
        <a:srgbClr val="9B1A2F"/>
      </a:accent6>
      <a:hlink>
        <a:srgbClr val="00AEEF"/>
      </a:hlink>
      <a:folHlink>
        <a:srgbClr val="00748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1_Custom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1_Office Theme">
  <a:themeElements>
    <a:clrScheme name="Alcon Corporate PPT Theme">
      <a:dk1>
        <a:srgbClr val="000000"/>
      </a:dk1>
      <a:lt1>
        <a:srgbClr val="FFFFFF"/>
      </a:lt1>
      <a:dk2>
        <a:srgbClr val="003493"/>
      </a:dk2>
      <a:lt2>
        <a:srgbClr val="F5EEE3"/>
      </a:lt2>
      <a:accent1>
        <a:srgbClr val="00AEEF"/>
      </a:accent1>
      <a:accent2>
        <a:srgbClr val="DEC9A5"/>
      </a:accent2>
      <a:accent3>
        <a:srgbClr val="F36E20"/>
      </a:accent3>
      <a:accent4>
        <a:srgbClr val="03AF4B"/>
      </a:accent4>
      <a:accent5>
        <a:srgbClr val="512773"/>
      </a:accent5>
      <a:accent6>
        <a:srgbClr val="9B1A2F"/>
      </a:accent6>
      <a:hlink>
        <a:srgbClr val="00AEEF"/>
      </a:hlink>
      <a:folHlink>
        <a:srgbClr val="00748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2019-10-15T20:02:39Z</dcterms:created>
  <dc:creator>McDaniel, Laura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4e47c19-e68f-4046-bf94-918d2dcc81ee_Enabled">
    <vt:lpwstr>true</vt:lpwstr>
  </property>
  <property fmtid="{D5CDD505-2E9C-101B-9397-08002B2CF9AE}" pid="3" name="MSIP_Label_a4e47c19-e68f-4046-bf94-918d2dcc81ee_SetDate">
    <vt:lpwstr>2020-09-15T23:43:55Z</vt:lpwstr>
  </property>
  <property fmtid="{D5CDD505-2E9C-101B-9397-08002B2CF9AE}" pid="4" name="MSIP_Label_a4e47c19-e68f-4046-bf94-918d2dcc81ee_Method">
    <vt:lpwstr>Standard</vt:lpwstr>
  </property>
  <property fmtid="{D5CDD505-2E9C-101B-9397-08002B2CF9AE}" pid="5" name="MSIP_Label_a4e47c19-e68f-4046-bf94-918d2dcc81ee_Name">
    <vt:lpwstr>Business Use Only</vt:lpwstr>
  </property>
  <property fmtid="{D5CDD505-2E9C-101B-9397-08002B2CF9AE}" pid="6" name="MSIP_Label_a4e47c19-e68f-4046-bf94-918d2dcc81ee_SiteId">
    <vt:lpwstr>34cd94b5-d86c-447f-8d9b-81b4ff94d329</vt:lpwstr>
  </property>
  <property fmtid="{D5CDD505-2E9C-101B-9397-08002B2CF9AE}" pid="7" name="MSIP_Label_a4e47c19-e68f-4046-bf94-918d2dcc81ee_ActionId">
    <vt:lpwstr>638bc2ce-85f7-4a5d-b6dd-0fa52019daa9</vt:lpwstr>
  </property>
  <property fmtid="{D5CDD505-2E9C-101B-9397-08002B2CF9AE}" pid="8" name="MSIP_Label_a4e47c19-e68f-4046-bf94-918d2dcc81ee_ContentBits">
    <vt:lpwstr>0</vt:lpwstr>
  </property>
  <property fmtid="{D5CDD505-2E9C-101B-9397-08002B2CF9AE}" pid="9" name="ContentTypeId">
    <vt:lpwstr>0x010100D5B46202C5A1164782CCA6D16F2B0BE1</vt:lpwstr>
  </property>
  <property fmtid="{D5CDD505-2E9C-101B-9397-08002B2CF9AE}" pid="10" name="MediaServiceImageTags">
    <vt:lpwstr/>
  </property>
  <property fmtid="{D5CDD505-2E9C-101B-9397-08002B2CF9AE}" pid="11" name="ArticulateGUID">
    <vt:lpwstr>77F814B4-7921-4F02-975D-7DC686E026E3</vt:lpwstr>
  </property>
  <property fmtid="{D5CDD505-2E9C-101B-9397-08002B2CF9AE}" pid="12" name="ArticulatePath">
    <vt:lpwstr>https://alcon365.sharepoint.com/sites/ITCQEs/Shared Documents/General/_2024 Quality Goals &amp; KPIs/Quality Ops Project Tracker 2023</vt:lpwstr>
  </property>
</Properties>
</file>