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custom-properties+xml" PartName="/docProps/custom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985000" cy="9283700"/>
  <p:embeddedFontLst>
    <p:embeddedFont>
      <p:font typeface="Open Sans SemiBold"/>
      <p:regular r:id="rId10"/>
      <p:bold r:id="rId11"/>
      <p:italic r:id="rId12"/>
      <p:boldItalic r:id="rId13"/>
    </p:embeddedFont>
    <p:embeddedFont>
      <p:font typeface="Open Sans ExtraBold"/>
      <p:bold r:id="rId14"/>
      <p:boldItalic r:id="rId15"/>
    </p:embeddedFont>
    <p:embeddedFont>
      <p:font typeface="Open Sans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g5o+fc3g8thAUdrhdeHawa7wSp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2B43C6D-B388-4DB9-BEE9-A112B5961C0B}">
  <a:tblStyle styleId="{92B43C6D-B388-4DB9-BEE9-A112B5961C0B}" styleName="Table_0">
    <a:wholeTbl>
      <a:tcTxStyle b="off" i="off">
        <a:font>
          <a:latin typeface="Open Sans"/>
          <a:ea typeface="Open Sans"/>
          <a:cs typeface="Open San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F1FC"/>
          </a:solidFill>
        </a:fill>
      </a:tcStyle>
    </a:wholeTbl>
    <a:band1H>
      <a:tcTxStyle/>
      <a:tcStyle>
        <a:fill>
          <a:solidFill>
            <a:srgbClr val="CAE3F9"/>
          </a:solidFill>
        </a:fill>
      </a:tcStyle>
    </a:band1H>
    <a:band2H>
      <a:tcTxStyle/>
    </a:band2H>
    <a:band1V>
      <a:tcTxStyle/>
      <a:tcStyle>
        <a:fill>
          <a:solidFill>
            <a:srgbClr val="CAE3F9"/>
          </a:solidFill>
        </a:fill>
      </a:tcStyle>
    </a:band1V>
    <a:band2V>
      <a:tcTxStyle/>
    </a:band2V>
    <a:la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AAEC67CD-87C7-494B-BFD7-3D798E0091B3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font" Target="fonts/OpenSansSemiBold-bold.fntdata"/><Relationship Id="rId10" Type="http://schemas.openxmlformats.org/officeDocument/2006/relationships/font" Target="fonts/OpenSansSemiBold-regular.fntdata"/><Relationship Id="rId13" Type="http://schemas.openxmlformats.org/officeDocument/2006/relationships/font" Target="fonts/OpenSansSemiBold-boldItalic.fntdata"/><Relationship Id="rId12" Type="http://schemas.openxmlformats.org/officeDocument/2006/relationships/font" Target="fonts/OpenSansSemiBold-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OpenSansExtraBold-boldItalic.fntdata"/><Relationship Id="rId14" Type="http://schemas.openxmlformats.org/officeDocument/2006/relationships/font" Target="fonts/OpenSansExtraBold-bold.fntdata"/><Relationship Id="rId17" Type="http://schemas.openxmlformats.org/officeDocument/2006/relationships/font" Target="fonts/OpenSans-bold.fntdata"/><Relationship Id="rId16" Type="http://schemas.openxmlformats.org/officeDocument/2006/relationships/font" Target="fonts/OpenSans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OpenSans-boldItalic.fntdata"/><Relationship Id="rId6" Type="http://schemas.openxmlformats.org/officeDocument/2006/relationships/slide" Target="slides/slide1.xml"/><Relationship Id="rId18" Type="http://schemas.openxmlformats.org/officeDocument/2006/relationships/font" Target="fonts/OpenSans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26833" cy="46579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956550" y="0"/>
            <a:ext cx="3026833" cy="46579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377a613ce3_0_0:notes"/>
          <p:cNvSpPr/>
          <p:nvPr>
            <p:ph idx="2" type="sldImg"/>
          </p:nvPr>
        </p:nvSpPr>
        <p:spPr>
          <a:xfrm>
            <a:off x="706438" y="1160463"/>
            <a:ext cx="5572200" cy="3133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3377a613ce3_0_0:notes"/>
          <p:cNvSpPr txBox="1"/>
          <p:nvPr>
            <p:ph idx="1" type="body"/>
          </p:nvPr>
        </p:nvSpPr>
        <p:spPr>
          <a:xfrm>
            <a:off x="698500" y="4467781"/>
            <a:ext cx="5588100" cy="36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g3377a613ce3_0_0:notes"/>
          <p:cNvSpPr txBox="1"/>
          <p:nvPr>
            <p:ph idx="12" type="sldNum"/>
          </p:nvPr>
        </p:nvSpPr>
        <p:spPr>
          <a:xfrm>
            <a:off x="3956550" y="8817904"/>
            <a:ext cx="30267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p1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5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5"/>
          <p:cNvSpPr txBox="1"/>
          <p:nvPr>
            <p:ph idx="1" type="body"/>
          </p:nvPr>
        </p:nvSpPr>
        <p:spPr>
          <a:xfrm>
            <a:off x="838200" y="1494971"/>
            <a:ext cx="105156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21129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08738" y="0"/>
            <a:ext cx="448326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6"/>
          <p:cNvSpPr txBox="1"/>
          <p:nvPr>
            <p:ph type="ctrTitle"/>
          </p:nvPr>
        </p:nvSpPr>
        <p:spPr>
          <a:xfrm>
            <a:off x="820057" y="781277"/>
            <a:ext cx="4412343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  <a:defRPr sz="2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" type="subTitle"/>
          </p:nvPr>
        </p:nvSpPr>
        <p:spPr>
          <a:xfrm>
            <a:off x="820057" y="2143352"/>
            <a:ext cx="4412343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i="0" sz="1800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2" name="Google Shape;2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12242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6"/>
          <p:cNvSpPr txBox="1"/>
          <p:nvPr>
            <p:ph idx="2" type="body"/>
          </p:nvPr>
        </p:nvSpPr>
        <p:spPr>
          <a:xfrm>
            <a:off x="820057" y="6021388"/>
            <a:ext cx="3913187" cy="422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839788" y="365126"/>
            <a:ext cx="10515600" cy="1066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i="0" sz="24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1" name="Google Shape;31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i="0" sz="24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3" name="Google Shape;33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idx="1" type="body"/>
          </p:nvPr>
        </p:nvSpPr>
        <p:spPr>
          <a:xfrm>
            <a:off x="5183188" y="1608881"/>
            <a:ext cx="6172200" cy="42521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39" name="Google Shape;39;p11"/>
          <p:cNvSpPr txBox="1"/>
          <p:nvPr>
            <p:ph idx="2" type="body"/>
          </p:nvPr>
        </p:nvSpPr>
        <p:spPr>
          <a:xfrm>
            <a:off x="839788" y="1607945"/>
            <a:ext cx="3932237" cy="42610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40" name="Google Shape;40;p11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3" name="Google Shape;43;p12"/>
          <p:cNvSpPr txBox="1"/>
          <p:nvPr>
            <p:ph type="title"/>
          </p:nvPr>
        </p:nvSpPr>
        <p:spPr>
          <a:xfrm>
            <a:off x="838200" y="5018148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subTitle"/>
          </p:nvPr>
        </p:nvSpPr>
        <p:spPr>
          <a:xfrm>
            <a:off x="820057" y="6046798"/>
            <a:ext cx="10533743" cy="469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i="0" sz="18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grpSp>
        <p:nvGrpSpPr>
          <p:cNvPr id="45" name="Google Shape;45;p12"/>
          <p:cNvGrpSpPr/>
          <p:nvPr/>
        </p:nvGrpSpPr>
        <p:grpSpPr>
          <a:xfrm>
            <a:off x="665580" y="1336329"/>
            <a:ext cx="1377609" cy="1377609"/>
            <a:chOff x="665580" y="1336329"/>
            <a:chExt cx="1377609" cy="1377609"/>
          </a:xfrm>
        </p:grpSpPr>
        <p:sp>
          <p:nvSpPr>
            <p:cNvPr id="46" name="Google Shape;46;p12"/>
            <p:cNvSpPr/>
            <p:nvPr/>
          </p:nvSpPr>
          <p:spPr>
            <a:xfrm>
              <a:off x="751889" y="1422638"/>
              <a:ext cx="1204989" cy="1204989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47" name="Google Shape;47;p1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665580" y="1336329"/>
              <a:ext cx="1377609" cy="137760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wo Content">
  <p:cSld name="1_Two Conte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13"/>
          <p:cNvSpPr/>
          <p:nvPr>
            <p:ph idx="2" type="pic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13"/>
          <p:cNvSpPr/>
          <p:nvPr/>
        </p:nvSpPr>
        <p:spPr>
          <a:xfrm>
            <a:off x="838200" y="6100763"/>
            <a:ext cx="5181600" cy="1444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wo Content">
  <p:cSld name="2_Two Conte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4"/>
          <p:cNvSpPr txBox="1"/>
          <p:nvPr>
            <p:ph idx="1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14"/>
          <p:cNvSpPr/>
          <p:nvPr>
            <p:ph idx="2" type="pic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4"/>
          <p:cNvSpPr/>
          <p:nvPr/>
        </p:nvSpPr>
        <p:spPr>
          <a:xfrm>
            <a:off x="838200" y="6040583"/>
            <a:ext cx="5181600" cy="204644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  <a:defRPr b="1" i="0" sz="28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838200" y="1494971"/>
            <a:ext cx="105156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12" name="Google Shape;12;p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4"/>
          <p:cNvSpPr txBox="1"/>
          <p:nvPr/>
        </p:nvSpPr>
        <p:spPr>
          <a:xfrm>
            <a:off x="4544568" y="6445477"/>
            <a:ext cx="6809232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Business Use Only | </a:t>
            </a:r>
            <a:fld id="{00000000-1234-1234-1234-123412341234}" type="slidenum"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r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Google Shape;63;g3377a613ce3_0_0"/>
          <p:cNvGraphicFramePr/>
          <p:nvPr/>
        </p:nvGraphicFramePr>
        <p:xfrm>
          <a:off x="133722" y="300059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{92B43C6D-B388-4DB9-BEE9-A112B5961C0B}</a:tableStyleId>
              </a:tblPr>
              <a:tblGrid>
                <a:gridCol w="5212725"/>
              </a:tblGrid>
              <a:tr h="35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Open Sans"/>
                        <a:buNone/>
                      </a:pPr>
                      <a:r>
                        <a:rPr lang="en-US" sz="1100" u="none" cap="none" strike="noStrike">
                          <a:solidFill>
                            <a:schemeClr val="lt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Status Update:</a:t>
                      </a:r>
                      <a:endParaRPr/>
                    </a:p>
                  </a:txBody>
                  <a:tcPr marT="45725" marB="45725" marR="121925" marL="121925" anchor="ctr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429325">
                <a:tc>
                  <a:txBody>
                    <a:bodyPr/>
                    <a:lstStyle/>
                    <a:p>
                      <a:pPr indent="-3238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500"/>
                        <a:buFont typeface="Calibri"/>
                        <a:buChar char="●"/>
                      </a:pPr>
                      <a:r>
                        <a:rPr lang="en-US" sz="15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Created GitHub repository</a:t>
                      </a:r>
                      <a:endParaRPr sz="15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-3238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500"/>
                        <a:buFont typeface="Calibri"/>
                        <a:buChar char="●"/>
                      </a:pPr>
                      <a:r>
                        <a:rPr lang="en-US" sz="15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Trained on Khine lab Keyence microscope</a:t>
                      </a:r>
                      <a:endParaRPr sz="15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-3238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500"/>
                        <a:buFont typeface="Calibri"/>
                        <a:buChar char="●"/>
                      </a:pPr>
                      <a:r>
                        <a:rPr lang="en-US" sz="15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Printing these parts: top plate, grippers, stepper motor holders</a:t>
                      </a:r>
                      <a:endParaRPr sz="15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-3238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500"/>
                        <a:buFont typeface="Calibri"/>
                        <a:buChar char="●"/>
                      </a:pPr>
                      <a:r>
                        <a:rPr lang="en-US" sz="15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Stage controller and software BOMs completed</a:t>
                      </a:r>
                      <a:endParaRPr sz="15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-3238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500"/>
                        <a:buFont typeface="Calibri"/>
                        <a:buChar char="●"/>
                      </a:pPr>
                      <a:r>
                        <a:rPr lang="en-US" sz="15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Image input and YOLO modules in progress: we can load up YOLOv5 and manually change image input</a:t>
                      </a:r>
                      <a:endParaRPr sz="15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-3238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500"/>
                        <a:buFont typeface="Calibri"/>
                        <a:buChar char="●"/>
                      </a:pPr>
                      <a:r>
                        <a:rPr lang="en-US" sz="15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Planned out arduino electronics and software</a:t>
                      </a:r>
                      <a:endParaRPr sz="15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64" name="Google Shape;64;g3377a613ce3_0_0"/>
          <p:cNvSpPr txBox="1"/>
          <p:nvPr>
            <p:ph type="title"/>
          </p:nvPr>
        </p:nvSpPr>
        <p:spPr>
          <a:xfrm>
            <a:off x="227050" y="126525"/>
            <a:ext cx="51195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493"/>
              </a:buClr>
              <a:buSzPct val="100000"/>
              <a:buFont typeface="Open Sans ExtraBold"/>
              <a:buNone/>
            </a:pPr>
            <a:r>
              <a:rPr lang="en-US">
                <a:solidFill>
                  <a:srgbClr val="003493"/>
                </a:solidFill>
              </a:rPr>
              <a:t>Handpiece Particulate Counter</a:t>
            </a:r>
            <a:endParaRPr>
              <a:solidFill>
                <a:srgbClr val="003493"/>
              </a:solidFill>
            </a:endParaRPr>
          </a:p>
        </p:txBody>
      </p:sp>
      <p:graphicFrame>
        <p:nvGraphicFramePr>
          <p:cNvPr id="65" name="Google Shape;65;g3377a613ce3_0_0"/>
          <p:cNvGraphicFramePr/>
          <p:nvPr/>
        </p:nvGraphicFramePr>
        <p:xfrm>
          <a:off x="136834" y="94955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{92B43C6D-B388-4DB9-BEE9-A112B5961C0B}</a:tableStyleId>
              </a:tblPr>
              <a:tblGrid>
                <a:gridCol w="5212725"/>
              </a:tblGrid>
              <a:tr h="254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Open Sans"/>
                        <a:buNone/>
                      </a:pPr>
                      <a:r>
                        <a:rPr lang="en-US" sz="1100" u="none" cap="none" strike="noStrike">
                          <a:solidFill>
                            <a:schemeClr val="lt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Problem Statement/Project Goal/Objective</a:t>
                      </a:r>
                      <a:endParaRPr/>
                    </a:p>
                  </a:txBody>
                  <a:tcPr marT="45725" marB="45725" marR="121925" marL="121925" anchor="ctr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1689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500">
                          <a:latin typeface="Arial"/>
                          <a:ea typeface="Arial"/>
                          <a:cs typeface="Arial"/>
                          <a:sym typeface="Arial"/>
                        </a:rPr>
                        <a:t>Develop an improved design and process for executing the metal particulate test on the Alcon high-volume, Handpiece product manufacturing line by implementing mechanical design changes and automated components to existing processes.</a:t>
                      </a:r>
                      <a:endParaRPr b="0" i="0"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66" name="Google Shape;66;g3377a613ce3_0_0"/>
          <p:cNvSpPr txBox="1"/>
          <p:nvPr/>
        </p:nvSpPr>
        <p:spPr>
          <a:xfrm>
            <a:off x="5630767" y="126513"/>
            <a:ext cx="20403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T: Target Completion Date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7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C: Completion Date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67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Owners: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Date updated: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67">
              <a:solidFill>
                <a:srgbClr val="221A0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7" name="Google Shape;67;g3377a613ce3_0_0"/>
          <p:cNvGraphicFramePr/>
          <p:nvPr/>
        </p:nvGraphicFramePr>
        <p:xfrm>
          <a:off x="5486400" y="103144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{92B43C6D-B388-4DB9-BEE9-A112B5961C0B}</a:tableStyleId>
              </a:tblPr>
              <a:tblGrid>
                <a:gridCol w="3685600"/>
                <a:gridCol w="1327150"/>
                <a:gridCol w="1406725"/>
              </a:tblGrid>
              <a:tr h="124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Major Milestones/Action Items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Responsible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Poster due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everyone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Feb 26 at 2 PM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UCI Project presentation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everyone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March 3 2023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Alcon Midterm Presentation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everyone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68" name="Google Shape;68;g3377a613ce3_0_0"/>
          <p:cNvGraphicFramePr/>
          <p:nvPr/>
        </p:nvGraphicFramePr>
        <p:xfrm>
          <a:off x="7870776" y="693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{AAEC67CD-87C7-494B-BFD7-3D798E0091B3}</a:tableStyleId>
              </a:tblPr>
              <a:tblGrid>
                <a:gridCol w="2093750"/>
                <a:gridCol w="2093750"/>
              </a:tblGrid>
              <a:tr h="201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PROJECT STATUS</a:t>
                      </a:r>
                      <a:endParaRPr b="1" sz="11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/>
                        <a:t>ON TRACK</a:t>
                      </a:r>
                      <a:endParaRPr sz="11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solidFill>
                      <a:srgbClr val="92D050"/>
                    </a:solidFill>
                  </a:tcPr>
                </a:tc>
              </a:tr>
              <a:tr h="177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Project Start: Jan 2025</a:t>
                      </a:r>
                      <a:endParaRPr sz="9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  <a:tr h="177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Original Est. Date of Completion 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June 2025</a:t>
                      </a:r>
                      <a:endParaRPr sz="9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  <a:tr h="221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Est. Date of Completion:</a:t>
                      </a:r>
                      <a:endParaRPr sz="9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69" name="Google Shape;69;g3377a613ce3_0_0"/>
          <p:cNvSpPr txBox="1"/>
          <p:nvPr/>
        </p:nvSpPr>
        <p:spPr>
          <a:xfrm>
            <a:off x="-4101731" y="1207933"/>
            <a:ext cx="4047900" cy="1015800"/>
          </a:xfrm>
          <a:prstGeom prst="rect">
            <a:avLst/>
          </a:prstGeom>
          <a:solidFill>
            <a:schemeClr val="accent3">
              <a:alpha val="24710"/>
            </a:scheme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Any of the content can be modified/edited to the project Needs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*Delete this box on actual project plan</a:t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0" name="Google Shape;70;g3377a613ce3_0_0"/>
          <p:cNvSpPr txBox="1"/>
          <p:nvPr/>
        </p:nvSpPr>
        <p:spPr>
          <a:xfrm>
            <a:off x="-3221102" y="2704650"/>
            <a:ext cx="3221100" cy="1939500"/>
          </a:xfrm>
          <a:prstGeom prst="rect">
            <a:avLst/>
          </a:prstGeom>
          <a:solidFill>
            <a:schemeClr val="accent3">
              <a:alpha val="24710"/>
            </a:scheme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FREE SPACE. EXAMPLES OF WHAT YOU CAN INCLUDE RELEVANT TO YOUR PROJECT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Major status updates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Actions completed since last check in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Items to be completed before next check in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Pictures to provide more detail (as needed)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Additional background on project or Investigation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Additional resources required to support?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*Delete this box on actual project plan</a:t>
            </a:r>
            <a:endParaRPr/>
          </a:p>
        </p:txBody>
      </p:sp>
      <p:sp>
        <p:nvSpPr>
          <p:cNvPr id="71" name="Google Shape;71;g3377a613ce3_0_0"/>
          <p:cNvSpPr txBox="1"/>
          <p:nvPr/>
        </p:nvSpPr>
        <p:spPr>
          <a:xfrm>
            <a:off x="6599851" y="3019897"/>
            <a:ext cx="4898700" cy="1631700"/>
          </a:xfrm>
          <a:prstGeom prst="rect">
            <a:avLst/>
          </a:prstGeom>
          <a:solidFill>
            <a:schemeClr val="accent3">
              <a:alpha val="24710"/>
            </a:scheme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Each row should reflect a milestone in the project.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Adding additional “tasks” or additional information under milestone not required – depending on scope/complexity of project what you want to track</a:t>
            </a:r>
            <a:endParaRPr/>
          </a:p>
          <a:p>
            <a:pPr indent="-171450" lvl="1" marL="6286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If you want project tracking to be more granular, put Target and Completions for each task. Format “status” column to line up with the task. 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Example formats displayed in template. Can adjust to whatever project needs are</a:t>
            </a:r>
            <a:endParaRPr/>
          </a:p>
          <a:p>
            <a:pPr indent="-1079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079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aphicFrame>
        <p:nvGraphicFramePr>
          <p:cNvPr id="72" name="Google Shape;72;g3377a613ce3_0_0"/>
          <p:cNvGraphicFramePr/>
          <p:nvPr/>
        </p:nvGraphicFramePr>
        <p:xfrm>
          <a:off x="5486400" y="53791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{92B43C6D-B388-4DB9-BEE9-A112B5961C0B}</a:tableStyleId>
              </a:tblPr>
              <a:tblGrid>
                <a:gridCol w="1095375"/>
                <a:gridCol w="1171575"/>
                <a:gridCol w="1019175"/>
                <a:gridCol w="3133325"/>
              </a:tblGrid>
              <a:tr h="268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Savings Type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Annual Savings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Start Date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Assumptions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Hard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 rowSpan="3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Soft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 vMerge="1"/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Avoidance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 vMerge="1"/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8" name="Google Shape;78;p1"/>
          <p:cNvGraphicFramePr/>
          <p:nvPr/>
        </p:nvGraphicFramePr>
        <p:xfrm>
          <a:off x="133722" y="300059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{92B43C6D-B388-4DB9-BEE9-A112B5961C0B}</a:tableStyleId>
              </a:tblPr>
              <a:tblGrid>
                <a:gridCol w="5212725"/>
              </a:tblGrid>
              <a:tr h="35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Open Sans"/>
                        <a:buNone/>
                      </a:pPr>
                      <a:r>
                        <a:rPr lang="en-US" sz="1100" u="none" cap="none" strike="noStrike">
                          <a:solidFill>
                            <a:schemeClr val="lt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Status Update:</a:t>
                      </a:r>
                      <a:endParaRPr/>
                    </a:p>
                  </a:txBody>
                  <a:tcPr marT="45725" marB="45725" marR="121925" marL="121925" anchor="ctr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429325">
                <a:tc>
                  <a:txBody>
                    <a:bodyPr/>
                    <a:lstStyle/>
                    <a:p>
                      <a:pPr indent="-2984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100"/>
                        <a:buFont typeface="Calibri"/>
                        <a:buChar char="●"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Stage controller and software BOMs, required test equipment in progress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-2984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100"/>
                        <a:buFont typeface="Calibri"/>
                        <a:buChar char="●"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Image input and YOLO modules in progress: we can load up YOLOv5 and manually change image input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-2984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100"/>
                        <a:buFont typeface="Calibri"/>
                        <a:buChar char="●"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Github page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-2984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100"/>
                        <a:buFont typeface="Calibri"/>
                        <a:buChar char="●"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Meeting at 12:00 PM today to train on keyence microscope at UCI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How can we </a:t>
                      </a:r>
                      <a:endParaRPr sz="1100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79" name="Google Shape;79;p1"/>
          <p:cNvSpPr txBox="1"/>
          <p:nvPr>
            <p:ph type="title"/>
          </p:nvPr>
        </p:nvSpPr>
        <p:spPr>
          <a:xfrm>
            <a:off x="213048" y="288960"/>
            <a:ext cx="4657532" cy="5584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493"/>
              </a:buClr>
              <a:buSzPct val="100000"/>
              <a:buFont typeface="Open Sans ExtraBold"/>
              <a:buNone/>
            </a:pPr>
            <a:r>
              <a:rPr lang="en-US">
                <a:solidFill>
                  <a:srgbClr val="003493"/>
                </a:solidFill>
              </a:rPr>
              <a:t>Handpiece Particulate Counter</a:t>
            </a:r>
            <a:endParaRPr>
              <a:solidFill>
                <a:srgbClr val="003493"/>
              </a:solidFill>
            </a:endParaRPr>
          </a:p>
        </p:txBody>
      </p:sp>
      <p:graphicFrame>
        <p:nvGraphicFramePr>
          <p:cNvPr id="80" name="Google Shape;80;p1"/>
          <p:cNvGraphicFramePr/>
          <p:nvPr/>
        </p:nvGraphicFramePr>
        <p:xfrm>
          <a:off x="133722" y="105167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{92B43C6D-B388-4DB9-BEE9-A112B5961C0B}</a:tableStyleId>
              </a:tblPr>
              <a:tblGrid>
                <a:gridCol w="5212725"/>
              </a:tblGrid>
              <a:tr h="254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Open Sans"/>
                        <a:buNone/>
                      </a:pPr>
                      <a:r>
                        <a:rPr lang="en-US" sz="1100" u="none" cap="none" strike="noStrike">
                          <a:solidFill>
                            <a:schemeClr val="lt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Problem Statement/Project Goal/Objective</a:t>
                      </a:r>
                      <a:endParaRPr/>
                    </a:p>
                  </a:txBody>
                  <a:tcPr marT="45725" marB="45725" marR="121925" marL="121925" anchor="ctr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1515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500">
                          <a:latin typeface="Arial"/>
                          <a:ea typeface="Arial"/>
                          <a:cs typeface="Arial"/>
                          <a:sym typeface="Arial"/>
                        </a:rPr>
                        <a:t>Develop an improved design and process for executing the metal particulate test on the Alcon high-volume, Handpiece product manufacturing line by implementing mechanical design changes and automated components to existing processes.</a:t>
                      </a:r>
                      <a:endParaRPr b="0" i="0" sz="16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83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Arial"/>
                        <a:buNone/>
                      </a:pPr>
                      <a:r>
                        <a:t/>
                      </a:r>
                      <a:endParaRPr b="0" i="0" sz="1050" u="none" cap="none" strike="noStrike">
                        <a:solidFill>
                          <a:srgbClr val="221A0C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1" name="Google Shape;81;p1"/>
          <p:cNvSpPr txBox="1"/>
          <p:nvPr/>
        </p:nvSpPr>
        <p:spPr>
          <a:xfrm>
            <a:off x="5630767" y="126513"/>
            <a:ext cx="2040293" cy="7208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T: Target Completion Date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7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C: Completion Date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67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Owners: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7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Date updated: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67">
              <a:solidFill>
                <a:srgbClr val="221A0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2" name="Google Shape;82;p1"/>
          <p:cNvGraphicFramePr/>
          <p:nvPr/>
        </p:nvGraphicFramePr>
        <p:xfrm>
          <a:off x="5486400" y="103144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{92B43C6D-B388-4DB9-BEE9-A112B5961C0B}</a:tableStyleId>
              </a:tblPr>
              <a:tblGrid>
                <a:gridCol w="3685600"/>
                <a:gridCol w="1327150"/>
                <a:gridCol w="1406725"/>
              </a:tblGrid>
              <a:tr h="124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Major Milestones/Action Items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Responsible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-228600" lvl="0" marL="2286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Calibri"/>
                        <a:buAutoNum type="arabicPeriod"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Stage controller manufacturing procedure </a:t>
                      </a:r>
                      <a:endParaRPr/>
                    </a:p>
                    <a:p>
                      <a:pPr indent="-158750" lvl="1" marL="6858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Person 1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Person 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Feb 2023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-228600" lvl="0" marL="2286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Open Sans"/>
                        <a:buAutoNum type="arabicPeriod" startAt="2"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Stage controller prototype 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Person 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July 2023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83" name="Google Shape;83;p1"/>
          <p:cNvGraphicFramePr/>
          <p:nvPr/>
        </p:nvGraphicFramePr>
        <p:xfrm>
          <a:off x="7870776" y="693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{AAEC67CD-87C7-494B-BFD7-3D798E0091B3}</a:tableStyleId>
              </a:tblPr>
              <a:tblGrid>
                <a:gridCol w="2093750"/>
                <a:gridCol w="2093750"/>
              </a:tblGrid>
              <a:tr h="201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PROJECT STATUS</a:t>
                      </a:r>
                      <a:endParaRPr b="1" sz="11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/>
                        <a:t>ON TRACK</a:t>
                      </a:r>
                      <a:endParaRPr sz="11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solidFill>
                      <a:srgbClr val="92D050"/>
                    </a:solidFill>
                  </a:tcPr>
                </a:tc>
              </a:tr>
              <a:tr h="177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Project Start: Jan 2025</a:t>
                      </a:r>
                      <a:endParaRPr sz="9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  <a:tr h="177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Original Est. Date of Completion</a:t>
                      </a:r>
                      <a:r>
                        <a:rPr lang="en-US" sz="900">
                          <a:solidFill>
                            <a:schemeClr val="dk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 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chemeClr val="dk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June 2025</a:t>
                      </a:r>
                      <a:endParaRPr sz="9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  <a:tr h="221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Est. Date of Completion:</a:t>
                      </a:r>
                      <a:endParaRPr sz="9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84" name="Google Shape;84;p1"/>
          <p:cNvSpPr txBox="1"/>
          <p:nvPr/>
        </p:nvSpPr>
        <p:spPr>
          <a:xfrm>
            <a:off x="-4101731" y="1207933"/>
            <a:ext cx="4047900" cy="1015800"/>
          </a:xfrm>
          <a:prstGeom prst="rect">
            <a:avLst/>
          </a:prstGeom>
          <a:solidFill>
            <a:schemeClr val="accent3">
              <a:alpha val="24705"/>
            </a:scheme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Any of the content can be modified/edited to the project Needs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*Delete this box on actual project plan</a:t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341519" y="4902449"/>
            <a:ext cx="4898700" cy="1785600"/>
          </a:xfrm>
          <a:prstGeom prst="rect">
            <a:avLst/>
          </a:prstGeom>
          <a:solidFill>
            <a:schemeClr val="accent3">
              <a:alpha val="24705"/>
            </a:scheme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FREE SPACE. EXAMPLES OF WHAT YOU CAN INCLUDE RELEVANT TO YOUR PROJECT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Major status updates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Actions completed since last check in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Items to be completed before next check in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Pictures to provide more detail (as needed)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Additional background on project or Investigation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Additional resources required to support?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*Delete this box on actual project plan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6599851" y="3019897"/>
            <a:ext cx="4898571" cy="1631216"/>
          </a:xfrm>
          <a:prstGeom prst="rect">
            <a:avLst/>
          </a:prstGeom>
          <a:solidFill>
            <a:schemeClr val="accent3">
              <a:alpha val="24705"/>
            </a:scheme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Each row should reflect a milestone in the project.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Adding additional “tasks” or additional information under milestone not required – depending on scope/complexity of project what you want to track</a:t>
            </a:r>
            <a:endParaRPr/>
          </a:p>
          <a:p>
            <a:pPr indent="-171450" lvl="1" marL="6286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b="0" i="0" lang="en-US" sz="10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If you want project tracking to be more granular, put Target and Completions for each task. Format “status” column to line up with the task. 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Example formats displayed in template. Can adjust to whatever project needs are</a:t>
            </a:r>
            <a:endParaRPr/>
          </a:p>
          <a:p>
            <a:pPr indent="-1079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079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aphicFrame>
        <p:nvGraphicFramePr>
          <p:cNvPr id="87" name="Google Shape;87;p1"/>
          <p:cNvGraphicFramePr/>
          <p:nvPr/>
        </p:nvGraphicFramePr>
        <p:xfrm>
          <a:off x="5486400" y="53791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{92B43C6D-B388-4DB9-BEE9-A112B5961C0B}</a:tableStyleId>
              </a:tblPr>
              <a:tblGrid>
                <a:gridCol w="1095375"/>
                <a:gridCol w="1171575"/>
                <a:gridCol w="1019175"/>
                <a:gridCol w="3133325"/>
              </a:tblGrid>
              <a:tr h="268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Savings Type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Annual Savings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Start Date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Assumptions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Hard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 rowSpan="3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Soft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 vMerge="1"/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Avoidance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45725" marB="45725" marR="91450" marL="91450"/>
                </a:tc>
                <a:tc vMerge="1"/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</a:pPr>
            <a:r>
              <a:rPr lang="en-US"/>
              <a:t>Cost Savings Guidance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94" name="Google Shape;94;p2"/>
          <p:cNvSpPr txBox="1"/>
          <p:nvPr>
            <p:ph idx="1" type="body"/>
          </p:nvPr>
        </p:nvSpPr>
        <p:spPr>
          <a:xfrm>
            <a:off x="381000" y="1306286"/>
            <a:ext cx="802005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Quantify hard savings, soft savings, and cost avoidance as a results of your change.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Hard</a:t>
            </a:r>
            <a:r>
              <a:rPr lang="en-US"/>
              <a:t> = easily quantifiable and directly measurable in monetary terms. These savings represent actual reductions in expenses or costs that can be clearly identified in financial records.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Cost reductions achieved through material cost savings, energy efficiency improvements leading to reduced utility bills, direct procurement savings, or router time reduction.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Soft</a:t>
            </a:r>
            <a:r>
              <a:rPr lang="en-US"/>
              <a:t> = more abstract and challenging to quantify in exact monetary terms. These savings often result from improved processes, increased efficiency, or enhanced productivity.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Indirect labor time saved due to process improvements, increased employee productivity, improved customer satisfaction leading to potential future revenue gains.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Cost Avoidance </a:t>
            </a:r>
            <a:r>
              <a:rPr lang="en-US"/>
              <a:t>= savings that result from actions taken to prevent or avoid potential costs or expenses.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Preventing machine breakdowns through regular maintenance, preventing future DOAs/service calls by fixing a quality issue. Note these may be hard savings for other budgets, but are cost avoidances for ITC.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9020175" y="1695450"/>
            <a:ext cx="2924175" cy="92333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$$.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$500K annual material savings; $20K in annual direct labor cost; one time material recovery of $100K…</a:t>
            </a:r>
            <a:endParaRPr/>
          </a:p>
        </p:txBody>
      </p:sp>
      <p:cxnSp>
        <p:nvCxnSpPr>
          <p:cNvPr id="96" name="Google Shape;96;p2"/>
          <p:cNvCxnSpPr>
            <a:stCxn id="95" idx="1"/>
          </p:cNvCxnSpPr>
          <p:nvPr/>
        </p:nvCxnSpPr>
        <p:spPr>
          <a:xfrm flipH="1">
            <a:off x="8400975" y="2157115"/>
            <a:ext cx="619200" cy="5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7" name="Google Shape;97;p2"/>
          <p:cNvSpPr txBox="1"/>
          <p:nvPr/>
        </p:nvSpPr>
        <p:spPr>
          <a:xfrm>
            <a:off x="9020176" y="3697070"/>
            <a:ext cx="2924174" cy="73866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40% reduction in MRB cycle time; reduced complaint WIP by 10%...</a:t>
            </a:r>
            <a:endParaRPr/>
          </a:p>
        </p:txBody>
      </p:sp>
      <p:cxnSp>
        <p:nvCxnSpPr>
          <p:cNvPr id="98" name="Google Shape;98;p2"/>
          <p:cNvCxnSpPr>
            <a:stCxn id="97" idx="1"/>
          </p:cNvCxnSpPr>
          <p:nvPr/>
        </p:nvCxnSpPr>
        <p:spPr>
          <a:xfrm rot="10800000">
            <a:off x="7862776" y="3722902"/>
            <a:ext cx="1157400" cy="34350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9" name="Google Shape;99;p2"/>
          <p:cNvSpPr txBox="1"/>
          <p:nvPr/>
        </p:nvSpPr>
        <p:spPr>
          <a:xfrm>
            <a:off x="9020175" y="4850742"/>
            <a:ext cx="2924175" cy="738664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$$.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Mitigates $100K annually due to reduced service calls…</a:t>
            </a:r>
            <a:endParaRPr/>
          </a:p>
        </p:txBody>
      </p:sp>
      <p:cxnSp>
        <p:nvCxnSpPr>
          <p:cNvPr id="100" name="Google Shape;100;p2"/>
          <p:cNvCxnSpPr>
            <a:stCxn id="99" idx="1"/>
          </p:cNvCxnSpPr>
          <p:nvPr/>
        </p:nvCxnSpPr>
        <p:spPr>
          <a:xfrm rot="10800000">
            <a:off x="7943775" y="5095874"/>
            <a:ext cx="1076400" cy="124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</a:pPr>
            <a:r>
              <a:rPr lang="en-US"/>
              <a:t>Cost Savings Guidance Continued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07" name="Google Shape;107;p3"/>
          <p:cNvSpPr txBox="1"/>
          <p:nvPr>
            <p:ph idx="1" type="body"/>
          </p:nvPr>
        </p:nvSpPr>
        <p:spPr>
          <a:xfrm>
            <a:off x="609600" y="1191986"/>
            <a:ext cx="109728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Tools &amp; Tips: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MPS can be used to estimate savings over the annual build plan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Savings start once implementation happens (typically production / PO cut-in)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Sometimes it’s best to have a blended implementation strategy for business continuity (e.g. dual source a component from an incumbent, more expensive supplier with a new, less expensive supplier for a time period)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Theme">
  <a:themeElements>
    <a:clrScheme name="Alcon Corporate PPT Theme">
      <a:dk1>
        <a:srgbClr val="000000"/>
      </a:dk1>
      <a:lt1>
        <a:srgbClr val="FFFFFF"/>
      </a:lt1>
      <a:dk2>
        <a:srgbClr val="003493"/>
      </a:dk2>
      <a:lt2>
        <a:srgbClr val="F5EEE3"/>
      </a:lt2>
      <a:accent1>
        <a:srgbClr val="00AEEF"/>
      </a:accent1>
      <a:accent2>
        <a:srgbClr val="DEC9A5"/>
      </a:accent2>
      <a:accent3>
        <a:srgbClr val="F36E20"/>
      </a:accent3>
      <a:accent4>
        <a:srgbClr val="03AF4B"/>
      </a:accent4>
      <a:accent5>
        <a:srgbClr val="512773"/>
      </a:accent5>
      <a:accent6>
        <a:srgbClr val="9B1A2F"/>
      </a:accent6>
      <a:hlink>
        <a:srgbClr val="00AEEF"/>
      </a:hlink>
      <a:folHlink>
        <a:srgbClr val="00748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2019-10-15T20:02:39Z</dcterms:created>
  <dc:creator>McDaniel, Laura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4e47c19-e68f-4046-bf94-918d2dcc81ee_Enabled">
    <vt:lpwstr>true</vt:lpwstr>
  </property>
  <property fmtid="{D5CDD505-2E9C-101B-9397-08002B2CF9AE}" pid="3" name="MSIP_Label_a4e47c19-e68f-4046-bf94-918d2dcc81ee_SetDate">
    <vt:lpwstr>2020-09-15T23:43:55Z</vt:lpwstr>
  </property>
  <property fmtid="{D5CDD505-2E9C-101B-9397-08002B2CF9AE}" pid="4" name="MSIP_Label_a4e47c19-e68f-4046-bf94-918d2dcc81ee_Method">
    <vt:lpwstr>Standard</vt:lpwstr>
  </property>
  <property fmtid="{D5CDD505-2E9C-101B-9397-08002B2CF9AE}" pid="5" name="MSIP_Label_a4e47c19-e68f-4046-bf94-918d2dcc81ee_Name">
    <vt:lpwstr>Business Use Only</vt:lpwstr>
  </property>
  <property fmtid="{D5CDD505-2E9C-101B-9397-08002B2CF9AE}" pid="6" name="MSIP_Label_a4e47c19-e68f-4046-bf94-918d2dcc81ee_SiteId">
    <vt:lpwstr>34cd94b5-d86c-447f-8d9b-81b4ff94d329</vt:lpwstr>
  </property>
  <property fmtid="{D5CDD505-2E9C-101B-9397-08002B2CF9AE}" pid="7" name="MSIP_Label_a4e47c19-e68f-4046-bf94-918d2dcc81ee_ActionId">
    <vt:lpwstr>638bc2ce-85f7-4a5d-b6dd-0fa52019daa9</vt:lpwstr>
  </property>
  <property fmtid="{D5CDD505-2E9C-101B-9397-08002B2CF9AE}" pid="8" name="MSIP_Label_a4e47c19-e68f-4046-bf94-918d2dcc81ee_ContentBits">
    <vt:lpwstr>0</vt:lpwstr>
  </property>
  <property fmtid="{D5CDD505-2E9C-101B-9397-08002B2CF9AE}" pid="9" name="ContentTypeId">
    <vt:lpwstr>0x010100D5B46202C5A1164782CCA6D16F2B0BE1</vt:lpwstr>
  </property>
  <property fmtid="{D5CDD505-2E9C-101B-9397-08002B2CF9AE}" pid="10" name="MediaServiceImageTags">
    <vt:lpwstr/>
  </property>
  <property fmtid="{D5CDD505-2E9C-101B-9397-08002B2CF9AE}" pid="11" name="ArticulateGUID">
    <vt:lpwstr>77F814B4-7921-4F02-975D-7DC686E026E3</vt:lpwstr>
  </property>
  <property fmtid="{D5CDD505-2E9C-101B-9397-08002B2CF9AE}" pid="12" name="ArticulatePath">
    <vt:lpwstr>https://alcon365.sharepoint.com/sites/ITCQEs/Shared Documents/General/_2024 Quality Goals &amp; KPIs/Quality Ops Project Tracker 2023</vt:lpwstr>
  </property>
</Properties>
</file>