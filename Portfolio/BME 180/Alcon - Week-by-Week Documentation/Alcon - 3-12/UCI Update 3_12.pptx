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</p:sldIdLst>
  <p:sldSz cy="6858000" cx="12192000"/>
  <p:notesSz cx="6985000" cy="9283700"/>
  <p:embeddedFontLst>
    <p:embeddedFont>
      <p:font typeface="Open Sans SemiBold"/>
      <p:regular r:id="rId11"/>
      <p:bold r:id="rId12"/>
      <p:italic r:id="rId13"/>
      <p:boldItalic r:id="rId14"/>
    </p:embeddedFont>
    <p:embeddedFont>
      <p:font typeface="Open Sans ExtraBold"/>
      <p:bold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AEeOlZGZVfs4xzKMASXpIPq/F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39FD74-07A2-4DAA-A9E3-850977023013}">
  <a:tblStyle styleId="{9439FD74-07A2-4DAA-A9E3-850977023013}" styleName="Table_0">
    <a:wholeTbl>
      <a:tcTxStyle b="off" i="off">
        <a:font>
          <a:latin typeface="Open Sans"/>
          <a:ea typeface="Open Sans"/>
          <a:cs typeface="Open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1FC"/>
          </a:solidFill>
        </a:fill>
      </a:tcStyle>
    </a:wholeTbl>
    <a:band1H>
      <a:tcTxStyle/>
      <a:tcStyle>
        <a:fill>
          <a:solidFill>
            <a:srgbClr val="CAE3F9"/>
          </a:solidFill>
        </a:fill>
      </a:tcStyle>
    </a:band1H>
    <a:band2H>
      <a:tcTxStyle/>
    </a:band2H>
    <a:band1V>
      <a:tcTxStyle/>
      <a:tcStyle>
        <a:fill>
          <a:solidFill>
            <a:srgbClr val="CAE3F9"/>
          </a:solidFill>
        </a:fill>
      </a:tcStyle>
    </a:band1V>
    <a:band2V>
      <a:tcTxStyle/>
    </a:band2V>
    <a:la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Open Sans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Open Sans"/>
          <a:ea typeface="Open Sans"/>
          <a:cs typeface="Open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BC40CF4A-8755-4C45-A81B-672411A7731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font" Target="fonts/OpenSansSemiBold-regular.fntdata"/><Relationship Id="rId10" Type="http://schemas.openxmlformats.org/officeDocument/2006/relationships/slide" Target="slides/slide3.xml"/><Relationship Id="rId21" Type="http://customschemas.google.com/relationships/presentationmetadata" Target="metadata"/><Relationship Id="rId13" Type="http://schemas.openxmlformats.org/officeDocument/2006/relationships/font" Target="fonts/OpenSansSemiBold-italic.fntdata"/><Relationship Id="rId12" Type="http://schemas.openxmlformats.org/officeDocument/2006/relationships/font" Target="fonts/OpenSans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OpenSansExtraBold-bold.fntdata"/><Relationship Id="rId14" Type="http://schemas.openxmlformats.org/officeDocument/2006/relationships/font" Target="fonts/OpenSansSemiBold-boldItalic.fntdata"/><Relationship Id="rId17" Type="http://schemas.openxmlformats.org/officeDocument/2006/relationships/font" Target="fonts/OpenSans-regular.fntdata"/><Relationship Id="rId16" Type="http://schemas.openxmlformats.org/officeDocument/2006/relationships/font" Target="fonts/OpenSansExtraBold-bold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Open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56550" y="0"/>
            <a:ext cx="3026833" cy="46579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2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/>
          <p:nvPr>
            <p:ph idx="2" type="sldImg"/>
          </p:nvPr>
        </p:nvSpPr>
        <p:spPr>
          <a:xfrm>
            <a:off x="706438" y="1160463"/>
            <a:ext cx="5572125" cy="3133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  <a:noFill/>
          <a:ln>
            <a:noFill/>
          </a:ln>
        </p:spPr>
        <p:txBody>
          <a:bodyPr anchorCtr="0" anchor="t" bIns="46475" lIns="92950" spcFirstLastPara="1" rIns="92950" wrap="square" tIns="46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  <a:noFill/>
          <a:ln>
            <a:noFill/>
          </a:ln>
        </p:spPr>
        <p:txBody>
          <a:bodyPr anchorCtr="0" anchor="b" bIns="46475" lIns="92950" spcFirstLastPara="1" rIns="92950" wrap="square" tIns="464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838200" y="1494971"/>
            <a:ext cx="105156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21129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08738" y="0"/>
            <a:ext cx="448326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 txBox="1"/>
          <p:nvPr>
            <p:ph type="ctrTitle"/>
          </p:nvPr>
        </p:nvSpPr>
        <p:spPr>
          <a:xfrm>
            <a:off x="820057" y="781277"/>
            <a:ext cx="4412343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  <a:defRPr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" type="subTitle"/>
          </p:nvPr>
        </p:nvSpPr>
        <p:spPr>
          <a:xfrm>
            <a:off x="820057" y="2143352"/>
            <a:ext cx="4412343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i="0" sz="1800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2" name="Google Shape;2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12242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/>
          <p:nvPr>
            <p:ph idx="2" type="body"/>
          </p:nvPr>
        </p:nvSpPr>
        <p:spPr>
          <a:xfrm>
            <a:off x="820057" y="6021388"/>
            <a:ext cx="3913187" cy="422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839788" y="365126"/>
            <a:ext cx="10515600" cy="1066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i="0" sz="24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i="0" sz="24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5183188" y="1608881"/>
            <a:ext cx="6172200" cy="4252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1607945"/>
            <a:ext cx="3932237" cy="4261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Google Shape;43;p12"/>
          <p:cNvSpPr txBox="1"/>
          <p:nvPr>
            <p:ph type="title"/>
          </p:nvPr>
        </p:nvSpPr>
        <p:spPr>
          <a:xfrm>
            <a:off x="838200" y="5018148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subTitle"/>
          </p:nvPr>
        </p:nvSpPr>
        <p:spPr>
          <a:xfrm>
            <a:off x="820057" y="6046798"/>
            <a:ext cx="10533743" cy="46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i="0" sz="18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45" name="Google Shape;45;p12"/>
          <p:cNvGrpSpPr/>
          <p:nvPr/>
        </p:nvGrpSpPr>
        <p:grpSpPr>
          <a:xfrm>
            <a:off x="665580" y="1336329"/>
            <a:ext cx="1377609" cy="1377609"/>
            <a:chOff x="665580" y="1336329"/>
            <a:chExt cx="1377609" cy="1377609"/>
          </a:xfrm>
        </p:grpSpPr>
        <p:sp>
          <p:nvSpPr>
            <p:cNvPr id="46" name="Google Shape;46;p12"/>
            <p:cNvSpPr/>
            <p:nvPr/>
          </p:nvSpPr>
          <p:spPr>
            <a:xfrm>
              <a:off x="751889" y="1422638"/>
              <a:ext cx="1204989" cy="1204989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7" name="Google Shape;47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65580" y="1336329"/>
              <a:ext cx="1377609" cy="13776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3"/>
          <p:cNvSpPr/>
          <p:nvPr>
            <p:ph idx="2" type="pic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3"/>
          <p:cNvSpPr/>
          <p:nvPr/>
        </p:nvSpPr>
        <p:spPr>
          <a:xfrm>
            <a:off x="838200" y="6100763"/>
            <a:ext cx="5181600" cy="144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4"/>
          <p:cNvSpPr/>
          <p:nvPr>
            <p:ph idx="2" type="pic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4"/>
          <p:cNvSpPr/>
          <p:nvPr/>
        </p:nvSpPr>
        <p:spPr>
          <a:xfrm>
            <a:off x="838200" y="6040583"/>
            <a:ext cx="5181600" cy="20464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599581" y="0"/>
            <a:ext cx="569843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6"/>
          <p:cNvSpPr txBox="1"/>
          <p:nvPr>
            <p:ph type="ctrTitle"/>
          </p:nvPr>
        </p:nvSpPr>
        <p:spPr>
          <a:xfrm>
            <a:off x="820057" y="2378583"/>
            <a:ext cx="5441847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820057" y="3740658"/>
            <a:ext cx="5441847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057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59024" y="0"/>
            <a:ext cx="727544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>
            <p:ph type="ctrTitle"/>
          </p:nvPr>
        </p:nvSpPr>
        <p:spPr>
          <a:xfrm>
            <a:off x="7407797" y="2378583"/>
            <a:ext cx="4537276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ExtraBold"/>
              <a:buNone/>
              <a:defRPr b="1" i="0" sz="32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7407797" y="3740658"/>
            <a:ext cx="4537276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0" name="Google Shape;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976" y="5918198"/>
            <a:ext cx="1267526" cy="52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8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8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5" name="Google Shape;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551145"/>
            <a:ext cx="1541840" cy="4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9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6445477"/>
            <a:ext cx="643164" cy="17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>
  <p:cSld name="5_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0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4" name="Google Shape;84;p20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EFFE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8EF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0057" y="6445477"/>
            <a:ext cx="643164" cy="17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>
            <p:ph type="ctrTitle"/>
          </p:nvPr>
        </p:nvSpPr>
        <p:spPr>
          <a:xfrm>
            <a:off x="820057" y="3719115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820057" y="5081190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>
  <p:cSld name="6_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22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6" name="Google Shape;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3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0" name="Google Shape;100;p23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1" name="Google Shape;1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4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5" name="Google Shape;105;p24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6" name="Google Shape;1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>
  <p:cSld name="9_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5"/>
          <p:cNvSpPr txBox="1"/>
          <p:nvPr>
            <p:ph type="ctrTitle"/>
          </p:nvPr>
        </p:nvSpPr>
        <p:spPr>
          <a:xfrm>
            <a:off x="820057" y="2378583"/>
            <a:ext cx="6796085" cy="11697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Open Sans ExtraBold"/>
              <a:buNone/>
              <a:defRPr b="1" i="0" sz="36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0" name="Google Shape;110;p25"/>
          <p:cNvSpPr txBox="1"/>
          <p:nvPr>
            <p:ph idx="1" type="subTitle"/>
          </p:nvPr>
        </p:nvSpPr>
        <p:spPr>
          <a:xfrm>
            <a:off x="820057" y="3740658"/>
            <a:ext cx="6796085" cy="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1" name="Google Shape;1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6628" y="2616444"/>
            <a:ext cx="5958744" cy="162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19375" y="2193420"/>
            <a:ext cx="5953250" cy="247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  <a:defRPr b="1" i="0" sz="28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494971"/>
            <a:ext cx="105156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12" name="Google Shape;12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8200" y="6445477"/>
            <a:ext cx="625021" cy="1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"/>
          <p:cNvSpPr txBox="1"/>
          <p:nvPr/>
        </p:nvSpPr>
        <p:spPr>
          <a:xfrm>
            <a:off x="4544568" y="6445477"/>
            <a:ext cx="680923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Business Use Only | </a:t>
            </a:r>
            <a:fld id="{00000000-1234-1234-1234-123412341234}" type="slidenum"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r>
              <a:rPr b="0" i="0" lang="en-US" sz="700" u="none" cap="none" strike="noStrike">
                <a:solidFill>
                  <a:srgbClr val="27272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"/>
          <p:cNvGraphicFramePr/>
          <p:nvPr/>
        </p:nvGraphicFramePr>
        <p:xfrm>
          <a:off x="133722" y="300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{9439FD74-07A2-4DAA-A9E3-850977023013}</a:tableStyleId>
              </a:tblPr>
              <a:tblGrid>
                <a:gridCol w="5212725"/>
              </a:tblGrid>
              <a:tr h="35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Open Sans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Status Update:</a:t>
                      </a:r>
                      <a:endParaRPr/>
                    </a:p>
                  </a:txBody>
                  <a:tcPr marT="45725" marB="45725" marR="121925" marL="1219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429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are now starting on HW4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this HW, we will be creating a functional prototype testing to see if all parts from the hardware move with the motorized software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6" name="Google Shape;126;p1"/>
          <p:cNvSpPr txBox="1"/>
          <p:nvPr>
            <p:ph type="title"/>
          </p:nvPr>
        </p:nvSpPr>
        <p:spPr>
          <a:xfrm>
            <a:off x="213048" y="288960"/>
            <a:ext cx="4657532" cy="558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493"/>
              </a:buClr>
              <a:buSzPct val="100000"/>
              <a:buFont typeface="Open Sans ExtraBold"/>
              <a:buNone/>
            </a:pPr>
            <a:r>
              <a:rPr lang="en-US">
                <a:solidFill>
                  <a:srgbClr val="003493"/>
                </a:solidFill>
              </a:rPr>
              <a:t>Automated Metal Particulate System</a:t>
            </a:r>
            <a:endParaRPr>
              <a:solidFill>
                <a:srgbClr val="003493"/>
              </a:solidFill>
            </a:endParaRPr>
          </a:p>
        </p:txBody>
      </p:sp>
      <p:graphicFrame>
        <p:nvGraphicFramePr>
          <p:cNvPr id="127" name="Google Shape;127;p1"/>
          <p:cNvGraphicFramePr/>
          <p:nvPr/>
        </p:nvGraphicFramePr>
        <p:xfrm>
          <a:off x="133722" y="1051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{9439FD74-07A2-4DAA-A9E3-850977023013}</a:tableStyleId>
              </a:tblPr>
              <a:tblGrid>
                <a:gridCol w="5212725"/>
              </a:tblGrid>
              <a:tr h="254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Open Sans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Problem Statement/Project Goal/Objective</a:t>
                      </a:r>
                      <a:endParaRPr/>
                    </a:p>
                  </a:txBody>
                  <a:tcPr marT="45725" marB="45725" marR="121925" marL="121925" anchor="ctr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27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1A0C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HW4 is due on Friday,</a:t>
                      </a:r>
                      <a:endParaRPr sz="1100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 need a functioning prototype</a:t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1A0C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Cause: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221A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 for prototype</a:t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221A0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40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rgbClr val="221A0C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121925" marL="121925">
                    <a:lnL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" name="Google Shape;128;p1"/>
          <p:cNvSpPr txBox="1"/>
          <p:nvPr/>
        </p:nvSpPr>
        <p:spPr>
          <a:xfrm>
            <a:off x="5630767" y="126513"/>
            <a:ext cx="2040293" cy="720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7" u="none" cap="none" strike="noStrike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T: Target Completion Date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7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C: Completion Date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67">
                <a:solidFill>
                  <a:srgbClr val="221A0C"/>
                </a:solidFill>
                <a:latin typeface="Arial"/>
                <a:ea typeface="Arial"/>
                <a:cs typeface="Arial"/>
                <a:sym typeface="Arial"/>
              </a:rPr>
              <a:t>Owners: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Date updated: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67">
              <a:solidFill>
                <a:srgbClr val="221A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" name="Google Shape;129;p1"/>
          <p:cNvGraphicFramePr/>
          <p:nvPr/>
        </p:nvGraphicFramePr>
        <p:xfrm>
          <a:off x="5486400" y="1031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{9439FD74-07A2-4DAA-A9E3-850977023013}</a:tableStyleId>
              </a:tblPr>
              <a:tblGrid>
                <a:gridCol w="3685600"/>
                <a:gridCol w="1327150"/>
                <a:gridCol w="1406725"/>
              </a:tblGrid>
              <a:tr h="1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Major Milestones/Action Items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AutoNum type="arabicPeriod"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Midterm Review</a:t>
                      </a:r>
                      <a:endParaRPr/>
                    </a:p>
                    <a:p>
                      <a:pPr indent="-158750" lvl="1" marL="685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3/6/25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-228600" lvl="0" marL="2286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Open Sans"/>
                        <a:buAutoNum type="arabicPeriod" startAt="2"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Organize Midterm Comments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3/12/25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Prototype Due (HW 4)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3/14/25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Mentor Form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Camille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3/17/25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Coordinate New Meeting Times with Team and Camille for Spring Quarter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3/12/25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Get New Parts Printed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Matthew, Yolanda, Camille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3/12/25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 Team Peer Evaluation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3/17/25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 Obtain test images with filter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Landon, Isaac, Tandol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3/19/25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 Train YOLOv5 with the data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 Test the software code with the prototype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T: 3/12/25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  <a:tr h="277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0" name="Google Shape;130;p1"/>
          <p:cNvGraphicFramePr/>
          <p:nvPr/>
        </p:nvGraphicFramePr>
        <p:xfrm>
          <a:off x="7870776" y="69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{BC40CF4A-8755-4C45-A81B-672411A7731E}</a:tableStyleId>
              </a:tblPr>
              <a:tblGrid>
                <a:gridCol w="2093750"/>
                <a:gridCol w="2093750"/>
              </a:tblGrid>
              <a:tr h="20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PROJECT STATUS</a:t>
                      </a:r>
                      <a:endParaRPr b="1"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ON TRACK</a:t>
                      </a:r>
                      <a:endParaRPr sz="11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</a:tr>
              <a:tr h="17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Project Start:</a:t>
                      </a:r>
                      <a:endParaRPr sz="9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  <a:tr h="17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Original Est. Date of Completion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  <a:tr h="221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Est. Date of Completion:</a:t>
                      </a:r>
                      <a:endParaRPr sz="9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1" name="Google Shape;131;p1"/>
          <p:cNvGraphicFramePr/>
          <p:nvPr/>
        </p:nvGraphicFramePr>
        <p:xfrm>
          <a:off x="5486400" y="53791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{9439FD74-07A2-4DAA-A9E3-850977023013}</a:tableStyleId>
              </a:tblPr>
              <a:tblGrid>
                <a:gridCol w="1095375"/>
                <a:gridCol w="1171575"/>
                <a:gridCol w="1019175"/>
                <a:gridCol w="3133325"/>
              </a:tblGrid>
              <a:tr h="268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Savings 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Annual Savings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Start Date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Assumptions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Hard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Soft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Avoidance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</a:pPr>
            <a:r>
              <a:rPr lang="en-US"/>
              <a:t>Cost Savings Guidance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38" name="Google Shape;138;p2"/>
          <p:cNvSpPr txBox="1"/>
          <p:nvPr>
            <p:ph idx="1" type="body"/>
          </p:nvPr>
        </p:nvSpPr>
        <p:spPr>
          <a:xfrm>
            <a:off x="381000" y="1306286"/>
            <a:ext cx="802005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Quantify hard savings, soft savings, and cost avoidance as a results of your change.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Hard</a:t>
            </a:r>
            <a:r>
              <a:rPr lang="en-US"/>
              <a:t> = easily quantifiable and directly measurable in monetary terms. These savings represent actual reductions in expenses or costs that can be clearly identified in financial records.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Cost reductions achieved through material cost savings, energy efficiency improvements leading to reduced utility bills, direct procurement savings, or router time reduction.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Soft</a:t>
            </a:r>
            <a:r>
              <a:rPr lang="en-US"/>
              <a:t> = more abstract and challenging to quantify in exact monetary terms. These savings often result from improved processes, increased efficiency, or enhanced productivity.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Indirect labor time saved due to process improvements, increased employee productivity, improved customer satisfaction leading to potential future revenue gains.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Cost Avoidance </a:t>
            </a:r>
            <a:r>
              <a:rPr lang="en-US"/>
              <a:t>= savings that result from actions taken to prevent or avoid potential costs or expenses.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ITC Examples: Preventing machine breakdowns through regular maintenance, preventing future DOAs/service calls by fixing a quality issue. Note these may be hard savings for other budgets, but are cost avoidances for ITC.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9020175" y="1695450"/>
            <a:ext cx="2924175" cy="92333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$$.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$500K annual material savings; $20K in annual direct labor cost; one time material recovery of $100K…</a:t>
            </a:r>
            <a:endParaRPr/>
          </a:p>
        </p:txBody>
      </p:sp>
      <p:cxnSp>
        <p:nvCxnSpPr>
          <p:cNvPr id="140" name="Google Shape;140;p2"/>
          <p:cNvCxnSpPr>
            <a:stCxn id="139" idx="1"/>
          </p:cNvCxnSpPr>
          <p:nvPr/>
        </p:nvCxnSpPr>
        <p:spPr>
          <a:xfrm flipH="1">
            <a:off x="8400975" y="2157115"/>
            <a:ext cx="619200" cy="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1" name="Google Shape;141;p2"/>
          <p:cNvSpPr txBox="1"/>
          <p:nvPr/>
        </p:nvSpPr>
        <p:spPr>
          <a:xfrm>
            <a:off x="9020176" y="3697070"/>
            <a:ext cx="2924174" cy="738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40% reduction in MRB cycle time; reduced complaint WIP by 10%...</a:t>
            </a:r>
            <a:endParaRPr/>
          </a:p>
        </p:txBody>
      </p:sp>
      <p:cxnSp>
        <p:nvCxnSpPr>
          <p:cNvPr id="142" name="Google Shape;142;p2"/>
          <p:cNvCxnSpPr>
            <a:stCxn id="141" idx="1"/>
          </p:cNvCxnSpPr>
          <p:nvPr/>
        </p:nvCxnSpPr>
        <p:spPr>
          <a:xfrm rot="10800000">
            <a:off x="7862776" y="3722902"/>
            <a:ext cx="1157400" cy="3435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2"/>
          <p:cNvSpPr txBox="1"/>
          <p:nvPr/>
        </p:nvSpPr>
        <p:spPr>
          <a:xfrm>
            <a:off x="9020175" y="4850742"/>
            <a:ext cx="2924175" cy="7386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Typically Quantified in $$.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E.g., Mitigates $100K annually due to reduced service calls…</a:t>
            </a:r>
            <a:endParaRPr/>
          </a:p>
        </p:txBody>
      </p:sp>
      <p:cxnSp>
        <p:nvCxnSpPr>
          <p:cNvPr id="144" name="Google Shape;144;p2"/>
          <p:cNvCxnSpPr>
            <a:stCxn id="143" idx="1"/>
          </p:cNvCxnSpPr>
          <p:nvPr/>
        </p:nvCxnSpPr>
        <p:spPr>
          <a:xfrm rot="10800000">
            <a:off x="7943775" y="5095874"/>
            <a:ext cx="1076400" cy="12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>
            <p:ph type="title"/>
          </p:nvPr>
        </p:nvSpPr>
        <p:spPr>
          <a:xfrm>
            <a:off x="838200" y="365125"/>
            <a:ext cx="105156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Open Sans ExtraBold"/>
              <a:buNone/>
            </a:pPr>
            <a:r>
              <a:rPr lang="en-US"/>
              <a:t>Cost Savings Guidance Continued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51" name="Google Shape;151;p3"/>
          <p:cNvSpPr txBox="1"/>
          <p:nvPr>
            <p:ph idx="1" type="body"/>
          </p:nvPr>
        </p:nvSpPr>
        <p:spPr>
          <a:xfrm>
            <a:off x="609600" y="1191986"/>
            <a:ext cx="10972800" cy="4681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Tools &amp; Tips: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MPS can be used to estimate savings over the annual build plan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Savings start once implementation happens (typically production / PO cut-in)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Sometimes it’s best to have a blended implementation strategy for business continuity (e.g. dual source a component from an incumbent, more expensive supplier with a new, less expensive supplier for a time period)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Alcon Corporate PPT Theme">
      <a:dk1>
        <a:srgbClr val="000000"/>
      </a:dk1>
      <a:lt1>
        <a:srgbClr val="FFFFFF"/>
      </a:lt1>
      <a:dk2>
        <a:srgbClr val="003493"/>
      </a:dk2>
      <a:lt2>
        <a:srgbClr val="F5EEE3"/>
      </a:lt2>
      <a:accent1>
        <a:srgbClr val="00AEEF"/>
      </a:accent1>
      <a:accent2>
        <a:srgbClr val="DEC9A5"/>
      </a:accent2>
      <a:accent3>
        <a:srgbClr val="F36E20"/>
      </a:accent3>
      <a:accent4>
        <a:srgbClr val="03AF4B"/>
      </a:accent4>
      <a:accent5>
        <a:srgbClr val="512773"/>
      </a:accent5>
      <a:accent6>
        <a:srgbClr val="9B1A2F"/>
      </a:accent6>
      <a:hlink>
        <a:srgbClr val="00AEEF"/>
      </a:hlink>
      <a:folHlink>
        <a:srgbClr val="0074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Alcon Color Palette">
      <a:dk1>
        <a:srgbClr val="000000"/>
      </a:dk1>
      <a:lt1>
        <a:srgbClr val="FFFFFF"/>
      </a:lt1>
      <a:dk2>
        <a:srgbClr val="003493"/>
      </a:dk2>
      <a:lt2>
        <a:srgbClr val="F5EEE3"/>
      </a:lt2>
      <a:accent1>
        <a:srgbClr val="00AEEF"/>
      </a:accent1>
      <a:accent2>
        <a:srgbClr val="DEC9A5"/>
      </a:accent2>
      <a:accent3>
        <a:srgbClr val="F36E20"/>
      </a:accent3>
      <a:accent4>
        <a:srgbClr val="00A990"/>
      </a:accent4>
      <a:accent5>
        <a:srgbClr val="512773"/>
      </a:accent5>
      <a:accent6>
        <a:srgbClr val="9B1A2F"/>
      </a:accent6>
      <a:hlink>
        <a:srgbClr val="00AEEF"/>
      </a:hlink>
      <a:folHlink>
        <a:srgbClr val="00748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2019-10-15T20:02:39Z</dcterms:created>
  <dc:creator>McDaniel, Laura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4e47c19-e68f-4046-bf94-918d2dcc81ee_Enabled">
    <vt:lpwstr>true</vt:lpwstr>
  </property>
  <property fmtid="{D5CDD505-2E9C-101B-9397-08002B2CF9AE}" pid="3" name="MSIP_Label_a4e47c19-e68f-4046-bf94-918d2dcc81ee_SetDate">
    <vt:lpwstr>2020-09-15T23:43:55Z</vt:lpwstr>
  </property>
  <property fmtid="{D5CDD505-2E9C-101B-9397-08002B2CF9AE}" pid="4" name="MSIP_Label_a4e47c19-e68f-4046-bf94-918d2dcc81ee_Method">
    <vt:lpwstr>Standard</vt:lpwstr>
  </property>
  <property fmtid="{D5CDD505-2E9C-101B-9397-08002B2CF9AE}" pid="5" name="MSIP_Label_a4e47c19-e68f-4046-bf94-918d2dcc81ee_Name">
    <vt:lpwstr>Business Use Only</vt:lpwstr>
  </property>
  <property fmtid="{D5CDD505-2E9C-101B-9397-08002B2CF9AE}" pid="6" name="MSIP_Label_a4e47c19-e68f-4046-bf94-918d2dcc81ee_SiteId">
    <vt:lpwstr>34cd94b5-d86c-447f-8d9b-81b4ff94d329</vt:lpwstr>
  </property>
  <property fmtid="{D5CDD505-2E9C-101B-9397-08002B2CF9AE}" pid="7" name="MSIP_Label_a4e47c19-e68f-4046-bf94-918d2dcc81ee_ActionId">
    <vt:lpwstr>638bc2ce-85f7-4a5d-b6dd-0fa52019daa9</vt:lpwstr>
  </property>
  <property fmtid="{D5CDD505-2E9C-101B-9397-08002B2CF9AE}" pid="8" name="MSIP_Label_a4e47c19-e68f-4046-bf94-918d2dcc81ee_ContentBits">
    <vt:lpwstr>0</vt:lpwstr>
  </property>
  <property fmtid="{D5CDD505-2E9C-101B-9397-08002B2CF9AE}" pid="9" name="ContentTypeId">
    <vt:lpwstr>0x010100D5B46202C5A1164782CCA6D16F2B0BE1</vt:lpwstr>
  </property>
  <property fmtid="{D5CDD505-2E9C-101B-9397-08002B2CF9AE}" pid="10" name="MediaServiceImageTags">
    <vt:lpwstr/>
  </property>
  <property fmtid="{D5CDD505-2E9C-101B-9397-08002B2CF9AE}" pid="11" name="ArticulateGUID">
    <vt:lpwstr>77F814B4-7921-4F02-975D-7DC686E026E3</vt:lpwstr>
  </property>
  <property fmtid="{D5CDD505-2E9C-101B-9397-08002B2CF9AE}" pid="12" name="ArticulatePath">
    <vt:lpwstr>https://alcon365.sharepoint.com/sites/ITCQEs/Shared Documents/General/_2024 Quality Goals &amp; KPIs/Quality Ops Project Tracker 2023</vt:lpwstr>
  </property>
</Properties>
</file>