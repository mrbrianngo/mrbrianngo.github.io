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9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</p:sldIdLst>
  <p:sldSz cy="6858000" cx="12192000"/>
  <p:notesSz cx="6985000" cy="9283700"/>
  <p:embeddedFontLst>
    <p:embeddedFont>
      <p:font typeface="Open Sans SemiBold"/>
      <p:regular r:id="rId11"/>
      <p:bold r:id="rId12"/>
      <p:italic r:id="rId13"/>
      <p:boldItalic r:id="rId14"/>
    </p:embeddedFont>
    <p:embeddedFont>
      <p:font typeface="Open Sans ExtraBold"/>
      <p:bold r:id="rId15"/>
      <p:boldItalic r:id="rId16"/>
    </p:embeddedFon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nT+4j/z+RFzP19eJCf+yH03ue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AA8EB54-C339-4E8C-9F0E-86F3B3EF0B81}">
  <a:tblStyle styleId="{EAA8EB54-C339-4E8C-9F0E-86F3B3EF0B81}" styleName="Table_0">
    <a:wholeTbl>
      <a:tcTxStyle b="off" i="off">
        <a:font>
          <a:latin typeface="Open Sans"/>
          <a:ea typeface="Open Sans"/>
          <a:cs typeface="Open San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F1FC"/>
          </a:solidFill>
        </a:fill>
      </a:tcStyle>
    </a:wholeTbl>
    <a:band1H>
      <a:tcTxStyle b="off" i="off"/>
      <a:tcStyle>
        <a:fill>
          <a:solidFill>
            <a:srgbClr val="CAE3F9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E3F9"/>
          </a:solidFill>
        </a:fill>
      </a:tcStyle>
    </a:band1V>
    <a:band2V>
      <a:tcTxStyle b="off" i="off"/>
    </a:band2V>
    <a:lastCol>
      <a:tcTxStyle b="on" i="off">
        <a:font>
          <a:latin typeface="Open Sans"/>
          <a:ea typeface="Open Sans"/>
          <a:cs typeface="Open San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Open Sans"/>
          <a:ea typeface="Open Sans"/>
          <a:cs typeface="Open San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Open Sans"/>
          <a:ea typeface="Open Sans"/>
          <a:cs typeface="Open San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Open Sans"/>
          <a:ea typeface="Open Sans"/>
          <a:cs typeface="Open San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5E139645-C8FE-4DBE-8D53-19B27137552B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font" Target="fonts/OpenSansSemiBold-regular.fntdata"/><Relationship Id="rId10" Type="http://schemas.openxmlformats.org/officeDocument/2006/relationships/slide" Target="slides/slide3.xml"/><Relationship Id="rId21" Type="http://customschemas.google.com/relationships/presentationmetadata" Target="metadata"/><Relationship Id="rId13" Type="http://schemas.openxmlformats.org/officeDocument/2006/relationships/font" Target="fonts/OpenSansSemiBold-italic.fntdata"/><Relationship Id="rId12" Type="http://schemas.openxmlformats.org/officeDocument/2006/relationships/font" Target="fonts/OpenSansSemiBold-bold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font" Target="fonts/OpenSansExtraBold-bold.fntdata"/><Relationship Id="rId14" Type="http://schemas.openxmlformats.org/officeDocument/2006/relationships/font" Target="fonts/OpenSansSemiBold-boldItalic.fntdata"/><Relationship Id="rId17" Type="http://schemas.openxmlformats.org/officeDocument/2006/relationships/font" Target="fonts/OpenSans-regular.fntdata"/><Relationship Id="rId16" Type="http://schemas.openxmlformats.org/officeDocument/2006/relationships/font" Target="fonts/OpenSansExtraBold-boldItalic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OpenSans-italic.fntdata"/><Relationship Id="rId6" Type="http://schemas.openxmlformats.org/officeDocument/2006/relationships/slideMaster" Target="slideMasters/slideMaster3.xml"/><Relationship Id="rId18" Type="http://schemas.openxmlformats.org/officeDocument/2006/relationships/font" Target="fonts/OpenSans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26833" cy="465797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spcFirstLastPara="1" rIns="92950" wrap="square" tIns="464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56550" y="0"/>
            <a:ext cx="3026833" cy="465797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spcFirstLastPara="1" rIns="92950" wrap="square" tIns="464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06438" y="1160463"/>
            <a:ext cx="5572125" cy="3133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8500" y="4467781"/>
            <a:ext cx="5588000" cy="3655457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spcFirstLastPara="1" rIns="92950" wrap="square" tIns="464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17904"/>
            <a:ext cx="3026833" cy="465796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spcFirstLastPara="1" rIns="92950" wrap="square" tIns="464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56550" y="8817904"/>
            <a:ext cx="3026833" cy="465796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spcFirstLastPara="1" rIns="92950" wrap="square" tIns="464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/>
          <p:nvPr>
            <p:ph idx="2" type="sldImg"/>
          </p:nvPr>
        </p:nvSpPr>
        <p:spPr>
          <a:xfrm>
            <a:off x="706438" y="1160463"/>
            <a:ext cx="5572125" cy="3133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:notes"/>
          <p:cNvSpPr txBox="1"/>
          <p:nvPr>
            <p:ph idx="1" type="body"/>
          </p:nvPr>
        </p:nvSpPr>
        <p:spPr>
          <a:xfrm>
            <a:off x="698500" y="4467781"/>
            <a:ext cx="5588000" cy="3655457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spcFirstLastPara="1" rIns="92950" wrap="square" tIns="464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1:notes"/>
          <p:cNvSpPr txBox="1"/>
          <p:nvPr>
            <p:ph idx="12" type="sldNum"/>
          </p:nvPr>
        </p:nvSpPr>
        <p:spPr>
          <a:xfrm>
            <a:off x="3956550" y="8817904"/>
            <a:ext cx="3026833" cy="465796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spcFirstLastPara="1" rIns="92950" wrap="square" tIns="464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/>
          <p:nvPr>
            <p:ph idx="2" type="sldImg"/>
          </p:nvPr>
        </p:nvSpPr>
        <p:spPr>
          <a:xfrm>
            <a:off x="706438" y="1160463"/>
            <a:ext cx="5572125" cy="3133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2:notes"/>
          <p:cNvSpPr txBox="1"/>
          <p:nvPr>
            <p:ph idx="1" type="body"/>
          </p:nvPr>
        </p:nvSpPr>
        <p:spPr>
          <a:xfrm>
            <a:off x="698500" y="4467781"/>
            <a:ext cx="5588000" cy="3655457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spcFirstLastPara="1" rIns="92950" wrap="square" tIns="464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2:notes"/>
          <p:cNvSpPr txBox="1"/>
          <p:nvPr>
            <p:ph idx="12" type="sldNum"/>
          </p:nvPr>
        </p:nvSpPr>
        <p:spPr>
          <a:xfrm>
            <a:off x="3956550" y="8817904"/>
            <a:ext cx="3026833" cy="465796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spcFirstLastPara="1" rIns="92950" wrap="square" tIns="464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/>
          <p:nvPr>
            <p:ph idx="2" type="sldImg"/>
          </p:nvPr>
        </p:nvSpPr>
        <p:spPr>
          <a:xfrm>
            <a:off x="706438" y="1160463"/>
            <a:ext cx="5572125" cy="3133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698500" y="4467781"/>
            <a:ext cx="5588000" cy="3655457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spcFirstLastPara="1" rIns="92950" wrap="square" tIns="464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 txBox="1"/>
          <p:nvPr>
            <p:ph idx="12" type="sldNum"/>
          </p:nvPr>
        </p:nvSpPr>
        <p:spPr>
          <a:xfrm>
            <a:off x="3956550" y="8817904"/>
            <a:ext cx="3026833" cy="465796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spcFirstLastPara="1" rIns="92950" wrap="square" tIns="464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"/>
          <p:cNvSpPr txBox="1"/>
          <p:nvPr>
            <p:ph type="title"/>
          </p:nvPr>
        </p:nvSpPr>
        <p:spPr>
          <a:xfrm>
            <a:off x="838200" y="365125"/>
            <a:ext cx="10515600" cy="94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" type="body"/>
          </p:nvPr>
        </p:nvSpPr>
        <p:spPr>
          <a:xfrm>
            <a:off x="838200" y="1494971"/>
            <a:ext cx="10515600" cy="4681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21129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8738" y="0"/>
            <a:ext cx="448326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6"/>
          <p:cNvSpPr txBox="1"/>
          <p:nvPr>
            <p:ph type="ctrTitle"/>
          </p:nvPr>
        </p:nvSpPr>
        <p:spPr>
          <a:xfrm>
            <a:off x="820057" y="781277"/>
            <a:ext cx="4412343" cy="11697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 ExtraBold"/>
              <a:buNone/>
              <a:defRPr sz="2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" type="subTitle"/>
          </p:nvPr>
        </p:nvSpPr>
        <p:spPr>
          <a:xfrm>
            <a:off x="820057" y="2143352"/>
            <a:ext cx="4412343" cy="8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i="0" sz="1800">
                <a:solidFill>
                  <a:schemeClr val="dk2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2" name="Google Shape;2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12242" y="5918198"/>
            <a:ext cx="1267526" cy="52614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6"/>
          <p:cNvSpPr txBox="1"/>
          <p:nvPr>
            <p:ph idx="2" type="body"/>
          </p:nvPr>
        </p:nvSpPr>
        <p:spPr>
          <a:xfrm>
            <a:off x="820057" y="6021388"/>
            <a:ext cx="3913187" cy="422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838200" y="365125"/>
            <a:ext cx="10515600" cy="94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839788" y="365126"/>
            <a:ext cx="10515600" cy="1066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i="0" sz="24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1" name="Google Shape;31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i="0" sz="24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838200" y="365125"/>
            <a:ext cx="10515600" cy="94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5183188" y="1608881"/>
            <a:ext cx="6172200" cy="4252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1607945"/>
            <a:ext cx="3932237" cy="4261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0" name="Google Shape;40;p11"/>
          <p:cNvSpPr txBox="1"/>
          <p:nvPr>
            <p:ph type="title"/>
          </p:nvPr>
        </p:nvSpPr>
        <p:spPr>
          <a:xfrm>
            <a:off x="838200" y="365125"/>
            <a:ext cx="10515600" cy="94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2"/>
          <p:cNvSpPr txBox="1"/>
          <p:nvPr>
            <p:ph type="title"/>
          </p:nvPr>
        </p:nvSpPr>
        <p:spPr>
          <a:xfrm>
            <a:off x="838200" y="5018148"/>
            <a:ext cx="10515600" cy="9411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" type="subTitle"/>
          </p:nvPr>
        </p:nvSpPr>
        <p:spPr>
          <a:xfrm>
            <a:off x="820057" y="6046798"/>
            <a:ext cx="10533743" cy="469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i="0" sz="18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45" name="Google Shape;45;p12"/>
          <p:cNvGrpSpPr/>
          <p:nvPr/>
        </p:nvGrpSpPr>
        <p:grpSpPr>
          <a:xfrm>
            <a:off x="665580" y="1336329"/>
            <a:ext cx="1377609" cy="1377609"/>
            <a:chOff x="665580" y="1336329"/>
            <a:chExt cx="1377609" cy="1377609"/>
          </a:xfrm>
        </p:grpSpPr>
        <p:sp>
          <p:nvSpPr>
            <p:cNvPr id="46" name="Google Shape;46;p12"/>
            <p:cNvSpPr/>
            <p:nvPr/>
          </p:nvSpPr>
          <p:spPr>
            <a:xfrm>
              <a:off x="751889" y="1422638"/>
              <a:ext cx="1204989" cy="1204989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47" name="Google Shape;47;p1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65580" y="1336329"/>
              <a:ext cx="1377609" cy="137760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838200" y="365125"/>
            <a:ext cx="10515600" cy="94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3"/>
          <p:cNvSpPr/>
          <p:nvPr>
            <p:ph idx="2" type="pic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3"/>
          <p:cNvSpPr/>
          <p:nvPr/>
        </p:nvSpPr>
        <p:spPr>
          <a:xfrm>
            <a:off x="838200" y="6100763"/>
            <a:ext cx="5181600" cy="144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wo Content">
  <p:cSld name="2_Two Cont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838200" y="365125"/>
            <a:ext cx="10515600" cy="94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4"/>
          <p:cNvSpPr/>
          <p:nvPr>
            <p:ph idx="2" type="pic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4"/>
          <p:cNvSpPr/>
          <p:nvPr/>
        </p:nvSpPr>
        <p:spPr>
          <a:xfrm>
            <a:off x="838200" y="6040583"/>
            <a:ext cx="5181600" cy="20464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6599581" y="0"/>
            <a:ext cx="569843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6"/>
          <p:cNvSpPr txBox="1"/>
          <p:nvPr>
            <p:ph type="ctrTitle"/>
          </p:nvPr>
        </p:nvSpPr>
        <p:spPr>
          <a:xfrm>
            <a:off x="820057" y="2378583"/>
            <a:ext cx="5441847" cy="11697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ExtraBold"/>
              <a:buNone/>
              <a:defRPr b="1" i="0" sz="36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idx="1" type="subTitle"/>
          </p:nvPr>
        </p:nvSpPr>
        <p:spPr>
          <a:xfrm>
            <a:off x="820057" y="3740658"/>
            <a:ext cx="5441847" cy="8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8EFFE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C8EFFE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64" name="Google Shape;6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0057" y="5918198"/>
            <a:ext cx="1267526" cy="526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59024" y="0"/>
            <a:ext cx="727544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7"/>
          <p:cNvSpPr txBox="1"/>
          <p:nvPr>
            <p:ph type="ctrTitle"/>
          </p:nvPr>
        </p:nvSpPr>
        <p:spPr>
          <a:xfrm>
            <a:off x="7407797" y="2378583"/>
            <a:ext cx="4537276" cy="11697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 ExtraBold"/>
              <a:buNone/>
              <a:defRPr b="1" i="0" sz="32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7"/>
          <p:cNvSpPr txBox="1"/>
          <p:nvPr>
            <p:ph idx="1" type="subTitle"/>
          </p:nvPr>
        </p:nvSpPr>
        <p:spPr>
          <a:xfrm>
            <a:off x="7407797" y="3740658"/>
            <a:ext cx="4537276" cy="8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8EFFE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C8EFFE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70" name="Google Shape;7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50976" y="5918198"/>
            <a:ext cx="1267526" cy="526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8"/>
          <p:cNvSpPr txBox="1"/>
          <p:nvPr>
            <p:ph type="ctrTitle"/>
          </p:nvPr>
        </p:nvSpPr>
        <p:spPr>
          <a:xfrm>
            <a:off x="820057" y="2378583"/>
            <a:ext cx="6796085" cy="11697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ExtraBold"/>
              <a:buNone/>
              <a:defRPr b="1" i="0" sz="36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8"/>
          <p:cNvSpPr txBox="1"/>
          <p:nvPr>
            <p:ph idx="1" type="subTitle"/>
          </p:nvPr>
        </p:nvSpPr>
        <p:spPr>
          <a:xfrm>
            <a:off x="820057" y="3740658"/>
            <a:ext cx="6796085" cy="8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8EFFE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C8EFFE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75" name="Google Shape;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057" y="551145"/>
            <a:ext cx="1541840" cy="42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Blank">
  <p:cSld name="4_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9"/>
          <p:cNvSpPr txBox="1"/>
          <p:nvPr>
            <p:ph type="ctrTitle"/>
          </p:nvPr>
        </p:nvSpPr>
        <p:spPr>
          <a:xfrm>
            <a:off x="820057" y="2378583"/>
            <a:ext cx="6796085" cy="11697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ExtraBold"/>
              <a:buNone/>
              <a:defRPr b="1" i="0" sz="36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9"/>
          <p:cNvSpPr txBox="1"/>
          <p:nvPr>
            <p:ph idx="1" type="subTitle"/>
          </p:nvPr>
        </p:nvSpPr>
        <p:spPr>
          <a:xfrm>
            <a:off x="820057" y="3740658"/>
            <a:ext cx="6796085" cy="8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8EFFE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C8EFFE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80" name="Google Shape;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057" y="6445477"/>
            <a:ext cx="643164" cy="175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Blank">
  <p:cSld name="5_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0"/>
          <p:cNvSpPr txBox="1"/>
          <p:nvPr>
            <p:ph type="ctrTitle"/>
          </p:nvPr>
        </p:nvSpPr>
        <p:spPr>
          <a:xfrm>
            <a:off x="820057" y="2378583"/>
            <a:ext cx="6796085" cy="11697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ExtraBold"/>
              <a:buNone/>
              <a:defRPr b="1" i="0" sz="36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20"/>
          <p:cNvSpPr txBox="1"/>
          <p:nvPr>
            <p:ph idx="1" type="subTitle"/>
          </p:nvPr>
        </p:nvSpPr>
        <p:spPr>
          <a:xfrm>
            <a:off x="820057" y="3740658"/>
            <a:ext cx="6796085" cy="8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8EFFE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C8EFFE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85" name="Google Shape;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057" y="6445477"/>
            <a:ext cx="643164" cy="175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6445477"/>
            <a:ext cx="625021" cy="17046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1"/>
          <p:cNvSpPr txBox="1"/>
          <p:nvPr>
            <p:ph type="ctrTitle"/>
          </p:nvPr>
        </p:nvSpPr>
        <p:spPr>
          <a:xfrm>
            <a:off x="820057" y="3719115"/>
            <a:ext cx="6796085" cy="11697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b="1" i="0" sz="3600" u="none" cap="none" strike="noStrike">
                <a:solidFill>
                  <a:schemeClr val="dk2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1" type="subTitle"/>
          </p:nvPr>
        </p:nvSpPr>
        <p:spPr>
          <a:xfrm>
            <a:off x="820057" y="5081190"/>
            <a:ext cx="6796085" cy="8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Blank">
  <p:cSld name="6_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2"/>
          <p:cNvSpPr txBox="1"/>
          <p:nvPr>
            <p:ph type="ctrTitle"/>
          </p:nvPr>
        </p:nvSpPr>
        <p:spPr>
          <a:xfrm>
            <a:off x="820057" y="2378583"/>
            <a:ext cx="6796085" cy="11697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b="1" i="0" sz="3600" u="none" cap="none" strike="noStrike">
                <a:solidFill>
                  <a:schemeClr val="dk2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22"/>
          <p:cNvSpPr txBox="1"/>
          <p:nvPr>
            <p:ph idx="1" type="subTitle"/>
          </p:nvPr>
        </p:nvSpPr>
        <p:spPr>
          <a:xfrm>
            <a:off x="820057" y="3740658"/>
            <a:ext cx="6796085" cy="8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96" name="Google Shape;9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445477"/>
            <a:ext cx="625021" cy="170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Blank">
  <p:cSld name="7_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3"/>
          <p:cNvSpPr txBox="1"/>
          <p:nvPr>
            <p:ph type="ctrTitle"/>
          </p:nvPr>
        </p:nvSpPr>
        <p:spPr>
          <a:xfrm>
            <a:off x="820057" y="2378583"/>
            <a:ext cx="6796085" cy="11697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b="1" i="0" sz="3600" u="none" cap="none" strike="noStrike">
                <a:solidFill>
                  <a:schemeClr val="dk2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23"/>
          <p:cNvSpPr txBox="1"/>
          <p:nvPr>
            <p:ph idx="1" type="subTitle"/>
          </p:nvPr>
        </p:nvSpPr>
        <p:spPr>
          <a:xfrm>
            <a:off x="820057" y="3740658"/>
            <a:ext cx="6796085" cy="8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01" name="Google Shape;10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445477"/>
            <a:ext cx="625021" cy="170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Blank">
  <p:cSld name="8_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4"/>
          <p:cNvSpPr txBox="1"/>
          <p:nvPr>
            <p:ph type="ctrTitle"/>
          </p:nvPr>
        </p:nvSpPr>
        <p:spPr>
          <a:xfrm>
            <a:off x="820057" y="2378583"/>
            <a:ext cx="6796085" cy="11697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b="1" i="0" sz="3600" u="none" cap="none" strike="noStrike">
                <a:solidFill>
                  <a:schemeClr val="dk2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4"/>
          <p:cNvSpPr txBox="1"/>
          <p:nvPr>
            <p:ph idx="1" type="subTitle"/>
          </p:nvPr>
        </p:nvSpPr>
        <p:spPr>
          <a:xfrm>
            <a:off x="820057" y="3740658"/>
            <a:ext cx="6796085" cy="8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06" name="Google Shape;10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445477"/>
            <a:ext cx="625021" cy="170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Blank">
  <p:cSld name="9_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5"/>
          <p:cNvSpPr txBox="1"/>
          <p:nvPr>
            <p:ph type="ctrTitle"/>
          </p:nvPr>
        </p:nvSpPr>
        <p:spPr>
          <a:xfrm>
            <a:off x="820057" y="2378583"/>
            <a:ext cx="6796085" cy="11697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b="1" i="0" sz="3600" u="none" cap="none" strike="noStrike">
                <a:solidFill>
                  <a:schemeClr val="dk2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5"/>
          <p:cNvSpPr txBox="1"/>
          <p:nvPr>
            <p:ph idx="1" type="subTitle"/>
          </p:nvPr>
        </p:nvSpPr>
        <p:spPr>
          <a:xfrm>
            <a:off x="820057" y="3740658"/>
            <a:ext cx="6796085" cy="8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11" name="Google Shape;11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445477"/>
            <a:ext cx="625021" cy="170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26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6628" y="2616444"/>
            <a:ext cx="5958744" cy="1625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9375" y="2193420"/>
            <a:ext cx="5953250" cy="2471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94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 ExtraBold"/>
              <a:buNone/>
              <a:defRPr b="1" i="0" sz="2800" u="none" cap="none" strike="noStrike">
                <a:solidFill>
                  <a:schemeClr val="dk2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494971"/>
            <a:ext cx="10515600" cy="4681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12" name="Google Shape;12;p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8200" y="6445477"/>
            <a:ext cx="625021" cy="17046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4"/>
          <p:cNvSpPr txBox="1"/>
          <p:nvPr/>
        </p:nvSpPr>
        <p:spPr>
          <a:xfrm>
            <a:off x="4544568" y="6445477"/>
            <a:ext cx="680923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272727"/>
                </a:solidFill>
                <a:latin typeface="Open Sans"/>
                <a:ea typeface="Open Sans"/>
                <a:cs typeface="Open Sans"/>
                <a:sym typeface="Open Sans"/>
              </a:rPr>
              <a:t>Business Use Only | </a:t>
            </a:r>
            <a:fld id="{00000000-1234-1234-1234-123412341234}" type="slidenum">
              <a:rPr b="0" i="0" lang="en-US" sz="700" u="none" cap="none" strike="noStrike">
                <a:solidFill>
                  <a:srgbClr val="272727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r>
              <a:rPr b="0" i="0" lang="en-US" sz="700" u="none" cap="none" strike="noStrike">
                <a:solidFill>
                  <a:srgbClr val="27272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" name="Google Shape;125;p1"/>
          <p:cNvGraphicFramePr/>
          <p:nvPr/>
        </p:nvGraphicFramePr>
        <p:xfrm>
          <a:off x="133722" y="30005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{EAA8EB54-C339-4E8C-9F0E-86F3B3EF0B81}</a:tableStyleId>
              </a:tblPr>
              <a:tblGrid>
                <a:gridCol w="5212725"/>
              </a:tblGrid>
              <a:tr h="35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Open Sans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Status Update:</a:t>
                      </a:r>
                      <a:endParaRPr sz="1400" u="none" cap="none" strike="noStrike"/>
                    </a:p>
                  </a:txBody>
                  <a:tcPr marT="45725" marB="45725" marR="121925" marL="121925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42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100">
                          <a:solidFill>
                            <a:srgbClr val="221A0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New parts work </a:t>
                      </a:r>
                      <a:r>
                        <a:rPr lang="en-US" sz="1100">
                          <a:solidFill>
                            <a:srgbClr val="221A0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with motor</a:t>
                      </a:r>
                      <a:endParaRPr sz="1100">
                        <a:solidFill>
                          <a:srgbClr val="221A0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100">
                          <a:solidFill>
                            <a:srgbClr val="221A0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 need to refine code</a:t>
                      </a:r>
                      <a:endParaRPr sz="1100">
                        <a:solidFill>
                          <a:srgbClr val="221A0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100" u="none" cap="none" strike="noStrike">
                          <a:solidFill>
                            <a:srgbClr val="221A0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 need test images</a:t>
                      </a:r>
                      <a:endParaRPr sz="1100" u="none" cap="none" strike="noStrike">
                        <a:solidFill>
                          <a:srgbClr val="221A0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6" name="Google Shape;126;p1"/>
          <p:cNvSpPr txBox="1"/>
          <p:nvPr>
            <p:ph type="title"/>
          </p:nvPr>
        </p:nvSpPr>
        <p:spPr>
          <a:xfrm>
            <a:off x="213048" y="288960"/>
            <a:ext cx="4657532" cy="558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493"/>
              </a:buClr>
              <a:buSzPct val="100000"/>
              <a:buFont typeface="Open Sans ExtraBold"/>
              <a:buNone/>
            </a:pPr>
            <a:r>
              <a:rPr lang="en-US">
                <a:solidFill>
                  <a:srgbClr val="003493"/>
                </a:solidFill>
              </a:rPr>
              <a:t>Automated Metal Particulate System</a:t>
            </a:r>
            <a:endParaRPr>
              <a:solidFill>
                <a:srgbClr val="003493"/>
              </a:solidFill>
            </a:endParaRPr>
          </a:p>
        </p:txBody>
      </p:sp>
      <p:graphicFrame>
        <p:nvGraphicFramePr>
          <p:cNvPr id="127" name="Google Shape;127;p1"/>
          <p:cNvGraphicFramePr/>
          <p:nvPr/>
        </p:nvGraphicFramePr>
        <p:xfrm>
          <a:off x="133722" y="10516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{EAA8EB54-C339-4E8C-9F0E-86F3B3EF0B81}</a:tableStyleId>
              </a:tblPr>
              <a:tblGrid>
                <a:gridCol w="5212725"/>
              </a:tblGrid>
              <a:tr h="25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Open Sans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Problem Statement/Project Goal/Objective</a:t>
                      </a:r>
                      <a:endParaRPr sz="1400" u="none" cap="none" strike="noStrike"/>
                    </a:p>
                  </a:txBody>
                  <a:tcPr marT="45725" marB="45725" marR="121925" marL="121925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27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1A0C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21A0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Issue: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221A0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Ordered new motors and modules, but we need to refine the code and test it</a:t>
                      </a:r>
                      <a:endParaRPr sz="1100">
                        <a:solidFill>
                          <a:srgbClr val="221A0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221A0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Need test pictures from microscope for training data</a:t>
                      </a:r>
                      <a:endParaRPr sz="1100">
                        <a:solidFill>
                          <a:srgbClr val="221A0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221A0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1A0C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21A0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Root Cause: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21A0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Need for prototype</a:t>
                      </a:r>
                      <a:endParaRPr b="0" i="0" sz="1100" u="none" cap="none" strike="noStrike">
                        <a:solidFill>
                          <a:srgbClr val="221A0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221A0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40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rgbClr val="221A0C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8" name="Google Shape;128;p1"/>
          <p:cNvSpPr txBox="1"/>
          <p:nvPr/>
        </p:nvSpPr>
        <p:spPr>
          <a:xfrm>
            <a:off x="5630767" y="126513"/>
            <a:ext cx="2040293" cy="720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b="0" i="0" lang="en-US" sz="1067" u="none" cap="none" strike="noStrike">
                <a:solidFill>
                  <a:srgbClr val="221A0C"/>
                </a:solidFill>
                <a:latin typeface="Arial"/>
                <a:ea typeface="Arial"/>
                <a:cs typeface="Arial"/>
                <a:sym typeface="Arial"/>
              </a:rPr>
              <a:t>T: Target Completion Date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b="0" i="0" lang="en-US" sz="1067" u="none" cap="none" strike="noStrike">
                <a:solidFill>
                  <a:srgbClr val="221A0C"/>
                </a:solidFill>
                <a:latin typeface="Arial"/>
                <a:ea typeface="Arial"/>
                <a:cs typeface="Arial"/>
                <a:sym typeface="Arial"/>
              </a:rPr>
              <a:t>C: Completion 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b="1" i="0" lang="en-US" sz="1067" u="none" cap="none" strike="noStrike">
                <a:solidFill>
                  <a:srgbClr val="221A0C"/>
                </a:solidFill>
                <a:latin typeface="Arial"/>
                <a:ea typeface="Arial"/>
                <a:cs typeface="Arial"/>
                <a:sym typeface="Arial"/>
              </a:rPr>
              <a:t>Owners: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b="0" i="0" lang="en-US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 updated: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t/>
            </a:r>
            <a:endParaRPr b="1" i="0" sz="1067" u="none" cap="none" strike="noStrike">
              <a:solidFill>
                <a:srgbClr val="221A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9" name="Google Shape;129;p1"/>
          <p:cNvGraphicFramePr/>
          <p:nvPr/>
        </p:nvGraphicFramePr>
        <p:xfrm>
          <a:off x="5486400" y="10314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{EAA8EB54-C339-4E8C-9F0E-86F3B3EF0B81}</a:tableStyleId>
              </a:tblPr>
              <a:tblGrid>
                <a:gridCol w="3685600"/>
                <a:gridCol w="1327150"/>
                <a:gridCol w="1406725"/>
              </a:tblGrid>
              <a:tr h="1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Major Milestones/Action Items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Responsible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00"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 </a:t>
                      </a: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 on code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T: Week </a:t>
                      </a: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of Spring Quarter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 Obtain test images with filter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Landon, Isaac, Tandol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T: Week </a:t>
                      </a: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of Spring Quarter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 Train YOLOv5 with the data 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Landon, Isaac, Tandol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T: Week </a:t>
                      </a: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of Spring Quarter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 Test the software code with the prototype 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T: Week </a:t>
                      </a: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of Spring Quarter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 Test new parts when received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Matthew, Yolanda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T: Week of receiving new parts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 Work on Final Report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30" name="Google Shape;130;p1"/>
          <p:cNvGraphicFramePr/>
          <p:nvPr/>
        </p:nvGraphicFramePr>
        <p:xfrm>
          <a:off x="7870776" y="69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{5E139645-C8FE-4DBE-8D53-19B27137552B}</a:tableStyleId>
              </a:tblPr>
              <a:tblGrid>
                <a:gridCol w="2093750"/>
                <a:gridCol w="2093750"/>
              </a:tblGrid>
              <a:tr h="20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PROJECT STATUS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ON TRACK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</a:tr>
              <a:tr h="177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Project Start: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25" marB="45725" marR="91450" marL="91450"/>
                </a:tc>
              </a:tr>
              <a:tr h="177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Original Est. Date of Completion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25" marB="45725" marR="91450" marL="91450"/>
                </a:tc>
              </a:tr>
              <a:tr h="22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Est. Date of Completion: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31" name="Google Shape;131;p1"/>
          <p:cNvGraphicFramePr/>
          <p:nvPr/>
        </p:nvGraphicFramePr>
        <p:xfrm>
          <a:off x="5486400" y="53791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{EAA8EB54-C339-4E8C-9F0E-86F3B3EF0B81}</a:tableStyleId>
              </a:tblPr>
              <a:tblGrid>
                <a:gridCol w="1095375"/>
                <a:gridCol w="1171575"/>
                <a:gridCol w="1019175"/>
                <a:gridCol w="3133325"/>
              </a:tblGrid>
              <a:tr h="26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Savings Type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Annual Savings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Start Date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Assumptions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Hard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Soft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 v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Avoidance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"/>
          <p:cNvSpPr txBox="1"/>
          <p:nvPr>
            <p:ph type="title"/>
          </p:nvPr>
        </p:nvSpPr>
        <p:spPr>
          <a:xfrm>
            <a:off x="838200" y="365125"/>
            <a:ext cx="10515600" cy="94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 ExtraBold"/>
              <a:buNone/>
            </a:pPr>
            <a:r>
              <a:rPr lang="en-US"/>
              <a:t>Cost Savings Guidance</a:t>
            </a:r>
            <a:endParaRPr>
              <a:solidFill>
                <a:srgbClr val="0070C0"/>
              </a:solidFill>
            </a:endParaRPr>
          </a:p>
        </p:txBody>
      </p:sp>
      <p:sp>
        <p:nvSpPr>
          <p:cNvPr id="138" name="Google Shape;138;p2"/>
          <p:cNvSpPr txBox="1"/>
          <p:nvPr>
            <p:ph idx="1" type="body"/>
          </p:nvPr>
        </p:nvSpPr>
        <p:spPr>
          <a:xfrm>
            <a:off x="381000" y="1306286"/>
            <a:ext cx="8020050" cy="4681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Quantify hard savings, soft savings, and cost avoidance as a results of your change.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Hard</a:t>
            </a:r>
            <a:r>
              <a:rPr lang="en-US"/>
              <a:t> = easily quantifiable and directly measurable in monetary terms. These savings represent actual reductions in expenses or costs that can be clearly identified in financial records.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ITC Examples: Cost reductions achieved through material cost savings, energy efficiency improvements leading to reduced utility bills, direct procurement savings, or router time reduction.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Soft</a:t>
            </a:r>
            <a:r>
              <a:rPr lang="en-US"/>
              <a:t> = more abstract and challenging to quantify in exact monetary terms. These savings often result from improved processes, increased efficiency, or enhanced productivity.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ITC Examples: Indirect labor time saved due to process improvements, increased employee productivity, improved customer satisfaction leading to potential future revenue gains.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Cost Avoidance </a:t>
            </a:r>
            <a:r>
              <a:rPr lang="en-US"/>
              <a:t>= savings that result from actions taken to prevent or avoid potential costs or expenses.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ITC Examples: Preventing machine breakdowns through regular maintenance, preventing future DOAs/service calls by fixing a quality issue. Note these may be hard savings for other budgets, but are cost avoidances for ITC.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9020175" y="1695450"/>
            <a:ext cx="2924175" cy="92333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Typically Quantified in $$.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E.g., $500K annual material savings; $20K in annual direct labor cost; one time material recovery of $100K…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2"/>
          <p:cNvCxnSpPr>
            <a:stCxn id="139" idx="1"/>
          </p:cNvCxnSpPr>
          <p:nvPr/>
        </p:nvCxnSpPr>
        <p:spPr>
          <a:xfrm flipH="1">
            <a:off x="8400975" y="2157115"/>
            <a:ext cx="619200" cy="5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1" name="Google Shape;141;p2"/>
          <p:cNvSpPr txBox="1"/>
          <p:nvPr/>
        </p:nvSpPr>
        <p:spPr>
          <a:xfrm>
            <a:off x="9020176" y="3697070"/>
            <a:ext cx="2924174" cy="73866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Typically Quantified in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E.g., 40% reduction in MRB cycle time; reduced complaint WIP by 10%...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2"/>
          <p:cNvCxnSpPr>
            <a:stCxn id="141" idx="1"/>
          </p:cNvCxnSpPr>
          <p:nvPr/>
        </p:nvCxnSpPr>
        <p:spPr>
          <a:xfrm rot="10800000">
            <a:off x="7862776" y="3722902"/>
            <a:ext cx="1157400" cy="3435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3" name="Google Shape;143;p2"/>
          <p:cNvSpPr txBox="1"/>
          <p:nvPr/>
        </p:nvSpPr>
        <p:spPr>
          <a:xfrm>
            <a:off x="9020175" y="4850742"/>
            <a:ext cx="2924175" cy="738664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Typically Quantified in $$.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E.g., Mitigates $100K annually due to reduced service calls…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2"/>
          <p:cNvCxnSpPr>
            <a:stCxn id="143" idx="1"/>
          </p:cNvCxnSpPr>
          <p:nvPr/>
        </p:nvCxnSpPr>
        <p:spPr>
          <a:xfrm rot="10800000">
            <a:off x="7943775" y="5095874"/>
            <a:ext cx="1076400" cy="124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/>
          <p:nvPr>
            <p:ph type="title"/>
          </p:nvPr>
        </p:nvSpPr>
        <p:spPr>
          <a:xfrm>
            <a:off x="838200" y="365125"/>
            <a:ext cx="10515600" cy="94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 ExtraBold"/>
              <a:buNone/>
            </a:pPr>
            <a:r>
              <a:rPr lang="en-US"/>
              <a:t>Cost Savings Guidance Continued</a:t>
            </a:r>
            <a:endParaRPr>
              <a:solidFill>
                <a:srgbClr val="0070C0"/>
              </a:solidFill>
            </a:endParaRPr>
          </a:p>
        </p:txBody>
      </p:sp>
      <p:sp>
        <p:nvSpPr>
          <p:cNvPr id="151" name="Google Shape;151;p3"/>
          <p:cNvSpPr txBox="1"/>
          <p:nvPr>
            <p:ph idx="1" type="body"/>
          </p:nvPr>
        </p:nvSpPr>
        <p:spPr>
          <a:xfrm>
            <a:off x="609600" y="1191986"/>
            <a:ext cx="10972800" cy="4681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Tools &amp; Tips: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MPS can be used to estimate savings over the annual build plan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Savings start once implementation happens (typically production / PO cut-in)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Sometimes it’s best to have a blended implementation strategy for business continuity (e.g. dual source a component from an incumbent, more expensive supplier with a new, less expensive supplier for a time period)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Alcon Corporate PPT Theme">
      <a:dk1>
        <a:srgbClr val="000000"/>
      </a:dk1>
      <a:lt1>
        <a:srgbClr val="FFFFFF"/>
      </a:lt1>
      <a:dk2>
        <a:srgbClr val="003493"/>
      </a:dk2>
      <a:lt2>
        <a:srgbClr val="F5EEE3"/>
      </a:lt2>
      <a:accent1>
        <a:srgbClr val="00AEEF"/>
      </a:accent1>
      <a:accent2>
        <a:srgbClr val="DEC9A5"/>
      </a:accent2>
      <a:accent3>
        <a:srgbClr val="F36E20"/>
      </a:accent3>
      <a:accent4>
        <a:srgbClr val="03AF4B"/>
      </a:accent4>
      <a:accent5>
        <a:srgbClr val="512773"/>
      </a:accent5>
      <a:accent6>
        <a:srgbClr val="9B1A2F"/>
      </a:accent6>
      <a:hlink>
        <a:srgbClr val="00AEEF"/>
      </a:hlink>
      <a:folHlink>
        <a:srgbClr val="00748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ustom Design">
  <a:themeElements>
    <a:clrScheme name="Alcon Color Palette">
      <a:dk1>
        <a:srgbClr val="000000"/>
      </a:dk1>
      <a:lt1>
        <a:srgbClr val="FFFFFF"/>
      </a:lt1>
      <a:dk2>
        <a:srgbClr val="003493"/>
      </a:dk2>
      <a:lt2>
        <a:srgbClr val="F5EEE3"/>
      </a:lt2>
      <a:accent1>
        <a:srgbClr val="00AEEF"/>
      </a:accent1>
      <a:accent2>
        <a:srgbClr val="DEC9A5"/>
      </a:accent2>
      <a:accent3>
        <a:srgbClr val="F36E20"/>
      </a:accent3>
      <a:accent4>
        <a:srgbClr val="00A990"/>
      </a:accent4>
      <a:accent5>
        <a:srgbClr val="512773"/>
      </a:accent5>
      <a:accent6>
        <a:srgbClr val="9B1A2F"/>
      </a:accent6>
      <a:hlink>
        <a:srgbClr val="00AEEF"/>
      </a:hlink>
      <a:folHlink>
        <a:srgbClr val="00748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2019-10-15T20:02:39Z</dcterms:created>
  <dc:creator>McDaniel, Laura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4e47c19-e68f-4046-bf94-918d2dcc81ee_Enabled">
    <vt:lpwstr>true</vt:lpwstr>
  </property>
  <property fmtid="{D5CDD505-2E9C-101B-9397-08002B2CF9AE}" pid="3" name="MSIP_Label_a4e47c19-e68f-4046-bf94-918d2dcc81ee_SetDate">
    <vt:lpwstr>2020-09-15T23:43:55Z</vt:lpwstr>
  </property>
  <property fmtid="{D5CDD505-2E9C-101B-9397-08002B2CF9AE}" pid="4" name="MSIP_Label_a4e47c19-e68f-4046-bf94-918d2dcc81ee_Method">
    <vt:lpwstr>Standard</vt:lpwstr>
  </property>
  <property fmtid="{D5CDD505-2E9C-101B-9397-08002B2CF9AE}" pid="5" name="MSIP_Label_a4e47c19-e68f-4046-bf94-918d2dcc81ee_Name">
    <vt:lpwstr>Business Use Only</vt:lpwstr>
  </property>
  <property fmtid="{D5CDD505-2E9C-101B-9397-08002B2CF9AE}" pid="6" name="MSIP_Label_a4e47c19-e68f-4046-bf94-918d2dcc81ee_SiteId">
    <vt:lpwstr>34cd94b5-d86c-447f-8d9b-81b4ff94d329</vt:lpwstr>
  </property>
  <property fmtid="{D5CDD505-2E9C-101B-9397-08002B2CF9AE}" pid="7" name="MSIP_Label_a4e47c19-e68f-4046-bf94-918d2dcc81ee_ActionId">
    <vt:lpwstr>638bc2ce-85f7-4a5d-b6dd-0fa52019daa9</vt:lpwstr>
  </property>
  <property fmtid="{D5CDD505-2E9C-101B-9397-08002B2CF9AE}" pid="8" name="MSIP_Label_a4e47c19-e68f-4046-bf94-918d2dcc81ee_ContentBits">
    <vt:lpwstr>0</vt:lpwstr>
  </property>
  <property fmtid="{D5CDD505-2E9C-101B-9397-08002B2CF9AE}" pid="9" name="ContentTypeId">
    <vt:lpwstr>0x010100D5B46202C5A1164782CCA6D16F2B0BE1</vt:lpwstr>
  </property>
  <property fmtid="{D5CDD505-2E9C-101B-9397-08002B2CF9AE}" pid="10" name="MediaServiceImageTags">
    <vt:lpwstr/>
  </property>
  <property fmtid="{D5CDD505-2E9C-101B-9397-08002B2CF9AE}" pid="11" name="ArticulateGUID">
    <vt:lpwstr>77F814B4-7921-4F02-975D-7DC686E026E3</vt:lpwstr>
  </property>
  <property fmtid="{D5CDD505-2E9C-101B-9397-08002B2CF9AE}" pid="12" name="ArticulatePath">
    <vt:lpwstr>https://alcon365.sharepoint.com/sites/ITCQEs/Shared Documents/General/_2024 Quality Goals &amp; KPIs/Quality Ops Project Tracker 2023</vt:lpwstr>
  </property>
</Properties>
</file>