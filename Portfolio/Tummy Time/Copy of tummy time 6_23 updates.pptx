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Roboto Mono SemiBold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MonoSemiBold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RobotoMonoSemiBold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RobotoMonoSemiBold-bold.fntdata"/><Relationship Id="rId6" Type="http://schemas.openxmlformats.org/officeDocument/2006/relationships/slide" Target="slides/slide1.xml"/><Relationship Id="rId18" Type="http://schemas.openxmlformats.org/officeDocument/2006/relationships/font" Target="fonts/RobotoMonoSemiBold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6aa4c6988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6aa4c6988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6aa4c6988f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6aa4c6988f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6aa4c6988f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6aa4c6988f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SHOULD include in final version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6aa4c6988f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6aa4c6988f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6aa4c6988f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6aa4c6988f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6aa4c6988f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6aa4c6988f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6aa4c6988f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6aa4c6988f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6aa4c6988f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6aa4c6988f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6aa4c6988f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6aa4c6988f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6ba98f3ea5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6ba98f3ea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6ba98f3ea5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6ba98f3ea5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6ba98f3ea5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6ba98f3ea5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docs.google.com/presentation/d/1VYOYrm9LGLNqTbziQN7nE6qDhztyVQ2ukzQcVgK3M9s/edit?usp=sharing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5.png"/><Relationship Id="rId6" Type="http://schemas.openxmlformats.org/officeDocument/2006/relationships/image" Target="../media/image1.png"/><Relationship Id="rId7" Type="http://schemas.openxmlformats.org/officeDocument/2006/relationships/hyperlink" Target="https://www.homedepot.com/p/Falken-Design-12-in-x-12-in-x-1-8-in-Thick-Acrylic-Clear-Sheet-Falken-Design-ACRYLIC-CL-1-8-1212/308669852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hyperlink" Target="https://www.homedepot.com/p/Falken-Design-12-in-x-12-in-x-1-8-in-Thick-Acrylic-Clear-Sheet-Falken-Design-ACRYLIC-CL-1-8-1212/308669852" TargetMode="External"/><Relationship Id="rId5" Type="http://schemas.openxmlformats.org/officeDocument/2006/relationships/image" Target="../media/image10.png"/><Relationship Id="rId6" Type="http://schemas.openxmlformats.org/officeDocument/2006/relationships/image" Target="../media/image7.png"/><Relationship Id="rId7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jpg"/><Relationship Id="rId4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jpg"/><Relationship Id="rId4" Type="http://schemas.openxmlformats.org/officeDocument/2006/relationships/image" Target="../media/image6.jpg"/><Relationship Id="rId5" Type="http://schemas.openxmlformats.org/officeDocument/2006/relationships/hyperlink" Target="https://www.buckleguy.com/sll-1-heavy-duty-plastic-strap-adjuster-ladderlock-buckle/?srsltid=AfmBOop5bEwwWX5XZua2WuwIalcwqWYwi-KmI9Szz44lofo_MUTZw2Ff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jpg"/><Relationship Id="rId4" Type="http://schemas.openxmlformats.org/officeDocument/2006/relationships/image" Target="../media/image16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45699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TUMMY TIME MATTRESS</a:t>
            </a:r>
            <a:endParaRPr>
              <a:solidFill>
                <a:schemeClr val="lt1"/>
              </a:solidFill>
              <a:latin typeface="Roboto Mono SemiBold"/>
              <a:ea typeface="Roboto Mono SemiBold"/>
              <a:cs typeface="Roboto Mono SemiBold"/>
              <a:sym typeface="Roboto Mono SemiBold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797175"/>
            <a:ext cx="8520600" cy="179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FOR BABIES WITH ABDOMINAL DEFECT</a:t>
            </a:r>
            <a:endParaRPr>
              <a:solidFill>
                <a:schemeClr val="lt1"/>
              </a:solidFill>
              <a:latin typeface="Roboto Mono SemiBold"/>
              <a:ea typeface="Roboto Mono SemiBold"/>
              <a:cs typeface="Roboto Mono SemiBold"/>
              <a:sym typeface="Roboto Mono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 Mono SemiBold"/>
              <a:ea typeface="Roboto Mono SemiBold"/>
              <a:cs typeface="Roboto Mono SemiBold"/>
              <a:sym typeface="Roboto Mono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u="sng">
                <a:solidFill>
                  <a:schemeClr val="lt1"/>
                </a:solidFill>
                <a:latin typeface="Roboto Mono SemiBold"/>
                <a:ea typeface="Roboto Mono SemiBold"/>
                <a:cs typeface="Roboto Mono SemiBold"/>
                <a:sym typeface="Roboto Mono SemiBol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FRIDAY SLIDES</a:t>
            </a:r>
            <a:endParaRPr sz="2000">
              <a:solidFill>
                <a:schemeClr val="lt1"/>
              </a:solidFill>
              <a:latin typeface="Roboto Mono SemiBold"/>
              <a:ea typeface="Roboto Mono SemiBold"/>
              <a:cs typeface="Roboto Mono SemiBold"/>
              <a:sym typeface="Roboto Mono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45699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/>
        </p:nvSpPr>
        <p:spPr>
          <a:xfrm>
            <a:off x="527825" y="327900"/>
            <a:ext cx="8445600" cy="29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NOAM’S EDIT SUGGESTIONS</a:t>
            </a:r>
            <a:endParaRPr sz="1800">
              <a:solidFill>
                <a:schemeClr val="lt1"/>
              </a:solidFill>
              <a:latin typeface="Roboto Mono SemiBold"/>
              <a:ea typeface="Roboto Mono SemiBold"/>
              <a:cs typeface="Roboto Mono SemiBold"/>
              <a:sym typeface="Roboto Mono SemiBold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Mono SemiBold"/>
              <a:buChar char="-"/>
            </a:pPr>
            <a:r>
              <a:rPr lang="en" sz="1800">
                <a:solidFill>
                  <a:schemeClr val="lt1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2 slits instead of 1 (straps loops onto middle part of frame)</a:t>
            </a:r>
            <a:endParaRPr sz="1800">
              <a:solidFill>
                <a:schemeClr val="lt1"/>
              </a:solidFill>
              <a:latin typeface="Roboto Mono SemiBold"/>
              <a:ea typeface="Roboto Mono SemiBold"/>
              <a:cs typeface="Roboto Mono SemiBold"/>
              <a:sym typeface="Roboto Mono SemiBold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Mono SemiBold"/>
              <a:buChar char="-"/>
            </a:pPr>
            <a:r>
              <a:rPr lang="en" sz="1800">
                <a:solidFill>
                  <a:schemeClr val="lt1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Increased thickness from 1/16 -&gt; 3/16</a:t>
            </a:r>
            <a:endParaRPr sz="1800">
              <a:solidFill>
                <a:schemeClr val="lt1"/>
              </a:solidFill>
              <a:latin typeface="Roboto Mono SemiBold"/>
              <a:ea typeface="Roboto Mono SemiBold"/>
              <a:cs typeface="Roboto Mono SemiBold"/>
              <a:sym typeface="Roboto Mono SemiBold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Mono SemiBold"/>
              <a:buChar char="-"/>
            </a:pPr>
            <a:r>
              <a:rPr lang="en" sz="1800">
                <a:solidFill>
                  <a:schemeClr val="lt1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Method: still laser cutting @ UCI</a:t>
            </a:r>
            <a:endParaRPr sz="1800">
              <a:solidFill>
                <a:schemeClr val="lt1"/>
              </a:solidFill>
              <a:latin typeface="Roboto Mono SemiBold"/>
              <a:ea typeface="Roboto Mono SemiBold"/>
              <a:cs typeface="Roboto Mono SemiBold"/>
              <a:sym typeface="Roboto Mono SemiBold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Mono SemiBold"/>
              <a:buChar char="-"/>
            </a:pPr>
            <a:r>
              <a:rPr lang="en" sz="1800">
                <a:solidFill>
                  <a:schemeClr val="lt1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Assembly: Acrylic cement </a:t>
            </a:r>
            <a:endParaRPr sz="1800">
              <a:solidFill>
                <a:schemeClr val="lt1"/>
              </a:solidFill>
              <a:latin typeface="Roboto Mono SemiBold"/>
              <a:ea typeface="Roboto Mono SemiBold"/>
              <a:cs typeface="Roboto Mono SemiBold"/>
              <a:sym typeface="Roboto Mono SemiBold"/>
            </a:endParaRPr>
          </a:p>
        </p:txBody>
      </p:sp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6500" y="2319850"/>
            <a:ext cx="5950502" cy="21167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45699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/>
        </p:nvSpPr>
        <p:spPr>
          <a:xfrm>
            <a:off x="7827525" y="3910425"/>
            <a:ext cx="1134300" cy="10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(NO</a:t>
            </a:r>
            <a:endParaRPr sz="1700">
              <a:solidFill>
                <a:schemeClr val="lt1"/>
              </a:solidFill>
              <a:latin typeface="Roboto Mono SemiBold"/>
              <a:ea typeface="Roboto Mono SemiBold"/>
              <a:cs typeface="Roboto Mono SemiBold"/>
              <a:sym typeface="Roboto Mono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BOTTOM</a:t>
            </a:r>
            <a:endParaRPr sz="1700">
              <a:solidFill>
                <a:schemeClr val="lt1"/>
              </a:solidFill>
              <a:latin typeface="Roboto Mono SemiBold"/>
              <a:ea typeface="Roboto Mono SemiBold"/>
              <a:cs typeface="Roboto Mono SemiBold"/>
              <a:sym typeface="Roboto Mono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BASE)</a:t>
            </a:r>
            <a:endParaRPr sz="1700">
              <a:solidFill>
                <a:schemeClr val="lt1"/>
              </a:solidFill>
              <a:latin typeface="Roboto Mono SemiBold"/>
              <a:ea typeface="Roboto Mono SemiBold"/>
              <a:cs typeface="Roboto Mono SemiBold"/>
              <a:sym typeface="Roboto Mono SemiBold"/>
            </a:endParaRPr>
          </a:p>
        </p:txBody>
      </p:sp>
      <p:sp>
        <p:nvSpPr>
          <p:cNvPr id="67" name="Google Shape;67;p15"/>
          <p:cNvSpPr txBox="1"/>
          <p:nvPr/>
        </p:nvSpPr>
        <p:spPr>
          <a:xfrm>
            <a:off x="73750" y="109725"/>
            <a:ext cx="8955600" cy="10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LASER CUT PATTERN (24in x 24in)</a:t>
            </a:r>
            <a:endParaRPr sz="1700">
              <a:solidFill>
                <a:schemeClr val="lt1"/>
              </a:solidFill>
              <a:latin typeface="Roboto Mono SemiBold"/>
              <a:ea typeface="Roboto Mono SemiBold"/>
              <a:cs typeface="Roboto Mono SemiBold"/>
              <a:sym typeface="Roboto Mono SemiBold"/>
            </a:endParaRPr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60527" y="832325"/>
            <a:ext cx="4211850" cy="4311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45699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48748" y="129925"/>
            <a:ext cx="2784225" cy="171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0925" y="129925"/>
            <a:ext cx="4129825" cy="93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20747" y="129925"/>
            <a:ext cx="1724025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579" y="1924775"/>
            <a:ext cx="6700720" cy="312125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6"/>
          <p:cNvSpPr txBox="1"/>
          <p:nvPr/>
        </p:nvSpPr>
        <p:spPr>
          <a:xfrm>
            <a:off x="7075125" y="2877225"/>
            <a:ext cx="1359000" cy="12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 u="sng">
                <a:solidFill>
                  <a:schemeClr val="lt1"/>
                </a:solidFill>
                <a:latin typeface="Roboto Mono SemiBold"/>
                <a:ea typeface="Roboto Mono SemiBold"/>
                <a:cs typeface="Roboto Mono SemiBold"/>
                <a:sym typeface="Roboto Mono SemiBold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</a:t>
            </a:r>
            <a:endParaRPr sz="2700">
              <a:solidFill>
                <a:schemeClr val="lt1"/>
              </a:solidFill>
              <a:latin typeface="Roboto Mono SemiBold"/>
              <a:ea typeface="Roboto Mono SemiBold"/>
              <a:cs typeface="Roboto Mono SemiBold"/>
              <a:sym typeface="Roboto Mono Semi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45699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09211" y="129925"/>
            <a:ext cx="2223764" cy="1370775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7"/>
          <p:cNvSpPr txBox="1"/>
          <p:nvPr/>
        </p:nvSpPr>
        <p:spPr>
          <a:xfrm>
            <a:off x="7075125" y="2877225"/>
            <a:ext cx="1359000" cy="12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 u="sng">
                <a:solidFill>
                  <a:schemeClr val="lt1"/>
                </a:solidFill>
                <a:latin typeface="Roboto Mono SemiBold"/>
                <a:ea typeface="Roboto Mono SemiBold"/>
                <a:cs typeface="Roboto Mono SemiBold"/>
                <a:sym typeface="Roboto Mono SemiBol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</a:t>
            </a:r>
            <a:endParaRPr sz="2700">
              <a:solidFill>
                <a:schemeClr val="lt1"/>
              </a:solidFill>
              <a:latin typeface="Roboto Mono SemiBold"/>
              <a:ea typeface="Roboto Mono SemiBold"/>
              <a:cs typeface="Roboto Mono SemiBold"/>
              <a:sym typeface="Roboto Mono SemiBold"/>
            </a:endParaRPr>
          </a:p>
        </p:txBody>
      </p:sp>
      <p:pic>
        <p:nvPicPr>
          <p:cNvPr id="84" name="Google Shape;84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152400"/>
            <a:ext cx="4519975" cy="898387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66038" y="129925"/>
            <a:ext cx="1476375" cy="1085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52400" y="1500700"/>
            <a:ext cx="6725552" cy="364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45699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700" y="1222075"/>
            <a:ext cx="3811925" cy="3769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75226" y="1204005"/>
            <a:ext cx="3811925" cy="3787095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3" name="Google Shape;93;p18"/>
          <p:cNvSpPr txBox="1"/>
          <p:nvPr/>
        </p:nvSpPr>
        <p:spPr>
          <a:xfrm>
            <a:off x="157225" y="226850"/>
            <a:ext cx="8829900" cy="9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REDESIGNED </a:t>
            </a:r>
            <a:r>
              <a:rPr lang="en" sz="1800">
                <a:solidFill>
                  <a:schemeClr val="lt1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PACIFIER</a:t>
            </a:r>
            <a:r>
              <a:rPr lang="en" sz="1800">
                <a:solidFill>
                  <a:schemeClr val="lt1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 CLIPS</a:t>
            </a:r>
            <a:endParaRPr sz="1800">
              <a:solidFill>
                <a:schemeClr val="lt1"/>
              </a:solidFill>
              <a:latin typeface="Roboto Mono SemiBold"/>
              <a:ea typeface="Roboto Mono SemiBold"/>
              <a:cs typeface="Roboto Mono SemiBold"/>
              <a:sym typeface="Roboto Mono SemiBold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Mono SemiBold"/>
              <a:buChar char="-"/>
            </a:pPr>
            <a:r>
              <a:rPr lang="en" sz="1800">
                <a:solidFill>
                  <a:schemeClr val="lt1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Same clip </a:t>
            </a:r>
            <a:r>
              <a:rPr lang="en" sz="1800">
                <a:solidFill>
                  <a:schemeClr val="lt1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strength and bite</a:t>
            </a:r>
            <a:endParaRPr sz="1800">
              <a:solidFill>
                <a:schemeClr val="lt1"/>
              </a:solidFill>
              <a:latin typeface="Roboto Mono SemiBold"/>
              <a:ea typeface="Roboto Mono SemiBold"/>
              <a:cs typeface="Roboto Mono SemiBold"/>
              <a:sym typeface="Roboto Mono SemiBold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Roboto Mono SemiBold"/>
              <a:buChar char="-"/>
            </a:pPr>
            <a:r>
              <a:rPr lang="en" sz="1700">
                <a:solidFill>
                  <a:schemeClr val="lt1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Dial </a:t>
            </a:r>
            <a:r>
              <a:rPr lang="en" sz="1700">
                <a:solidFill>
                  <a:schemeClr val="lt1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tightener (simpler)</a:t>
            </a:r>
            <a:r>
              <a:rPr lang="en" sz="1700">
                <a:solidFill>
                  <a:schemeClr val="lt1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 instead of latch mechanism (confusing)</a:t>
            </a:r>
            <a:endParaRPr sz="1700">
              <a:solidFill>
                <a:schemeClr val="lt1"/>
              </a:solidFill>
              <a:latin typeface="Roboto Mono SemiBold"/>
              <a:ea typeface="Roboto Mono SemiBold"/>
              <a:cs typeface="Roboto Mono SemiBold"/>
              <a:sym typeface="Roboto Mono SemiBo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45699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9775" y="327900"/>
            <a:ext cx="5810899" cy="371935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9"/>
          <p:cNvSpPr txBox="1"/>
          <p:nvPr/>
        </p:nvSpPr>
        <p:spPr>
          <a:xfrm>
            <a:off x="6255300" y="327900"/>
            <a:ext cx="2718000" cy="29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Mono SemiBold"/>
              <a:buChar char="-"/>
            </a:pPr>
            <a:r>
              <a:rPr lang="en" sz="1800">
                <a:solidFill>
                  <a:schemeClr val="lt1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Print 4 at once (resize to our needs)</a:t>
            </a:r>
            <a:endParaRPr sz="1800">
              <a:solidFill>
                <a:schemeClr val="lt1"/>
              </a:solidFill>
              <a:latin typeface="Roboto Mono SemiBold"/>
              <a:ea typeface="Roboto Mono SemiBold"/>
              <a:cs typeface="Roboto Mono SemiBold"/>
              <a:sym typeface="Roboto Mono SemiBol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45699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/>
        </p:nvSpPr>
        <p:spPr>
          <a:xfrm>
            <a:off x="527825" y="327900"/>
            <a:ext cx="8445600" cy="45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STRAP MATERIAL IDEAS</a:t>
            </a:r>
            <a:endParaRPr sz="1800">
              <a:solidFill>
                <a:schemeClr val="lt1"/>
              </a:solidFill>
              <a:latin typeface="Roboto Mono SemiBold"/>
              <a:ea typeface="Roboto Mono SemiBold"/>
              <a:cs typeface="Roboto Mono SemiBold"/>
              <a:sym typeface="Roboto Mono SemiBol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 Mono SemiBold"/>
              <a:ea typeface="Roboto Mono SemiBold"/>
              <a:cs typeface="Roboto Mono SemiBold"/>
              <a:sym typeface="Roboto Mono SemiBold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Mono SemiBold"/>
              <a:buChar char="-"/>
            </a:pPr>
            <a:r>
              <a:rPr lang="en" sz="1800">
                <a:solidFill>
                  <a:schemeClr val="lt1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Shorten Current ones (replace current clip) and keep adjustable buckle</a:t>
            </a:r>
            <a:endParaRPr sz="1800">
              <a:solidFill>
                <a:schemeClr val="lt1"/>
              </a:solidFill>
              <a:latin typeface="Roboto Mono SemiBold"/>
              <a:ea typeface="Roboto Mono SemiBold"/>
              <a:cs typeface="Roboto Mono SemiBold"/>
              <a:sym typeface="Roboto Mono SemiBold"/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Mono SemiBold"/>
              <a:buChar char="-"/>
            </a:pPr>
            <a:r>
              <a:rPr lang="en" sz="1800">
                <a:solidFill>
                  <a:schemeClr val="lt1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Configure it in a way where tightening only requires pulling on strap (kind of like my backpack strap - see next slide)</a:t>
            </a:r>
            <a:endParaRPr sz="1800">
              <a:solidFill>
                <a:schemeClr val="lt1"/>
              </a:solidFill>
              <a:latin typeface="Roboto Mono SemiBold"/>
              <a:ea typeface="Roboto Mono SemiBold"/>
              <a:cs typeface="Roboto Mono SemiBold"/>
              <a:sym typeface="Roboto Mono SemiBold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Mono SemiBold"/>
              <a:buChar char="-"/>
            </a:pPr>
            <a:r>
              <a:rPr lang="en" sz="1800">
                <a:solidFill>
                  <a:schemeClr val="lt1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Elastic [adjustable] strap (see next slide)</a:t>
            </a:r>
            <a:endParaRPr sz="1800">
              <a:solidFill>
                <a:schemeClr val="lt1"/>
              </a:solidFill>
              <a:latin typeface="Roboto Mono SemiBold"/>
              <a:ea typeface="Roboto Mono SemiBold"/>
              <a:cs typeface="Roboto Mono SemiBold"/>
              <a:sym typeface="Roboto Mono SemiBold"/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Mono SemiBold"/>
              <a:buChar char="-"/>
            </a:pPr>
            <a:r>
              <a:rPr lang="en" sz="1800">
                <a:solidFill>
                  <a:schemeClr val="lt1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Make very short, stretch to grab itty bitty blanket, then return to neutral position (no </a:t>
            </a:r>
            <a:r>
              <a:rPr lang="en" sz="1800">
                <a:solidFill>
                  <a:schemeClr val="lt1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adjustable</a:t>
            </a:r>
            <a:r>
              <a:rPr lang="en" sz="1800">
                <a:solidFill>
                  <a:schemeClr val="lt1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 buckle needed)</a:t>
            </a:r>
            <a:endParaRPr sz="1800">
              <a:solidFill>
                <a:schemeClr val="lt1"/>
              </a:solidFill>
              <a:latin typeface="Roboto Mono SemiBold"/>
              <a:ea typeface="Roboto Mono SemiBold"/>
              <a:cs typeface="Roboto Mono SemiBold"/>
              <a:sym typeface="Roboto Mono SemiBold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 Mono SemiBold"/>
              <a:ea typeface="Roboto Mono SemiBold"/>
              <a:cs typeface="Roboto Mono SemiBold"/>
              <a:sym typeface="Roboto Mono SemiBol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45699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/>
        </p:nvSpPr>
        <p:spPr>
          <a:xfrm>
            <a:off x="527825" y="327900"/>
            <a:ext cx="8445600" cy="29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STRAP MATERIAL IDEAS CONT.</a:t>
            </a:r>
            <a:endParaRPr sz="1800">
              <a:solidFill>
                <a:schemeClr val="lt1"/>
              </a:solidFill>
              <a:latin typeface="Roboto Mono SemiBold"/>
              <a:ea typeface="Roboto Mono SemiBold"/>
              <a:cs typeface="Roboto Mono SemiBold"/>
              <a:sym typeface="Roboto Mono SemiBol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 Mono SemiBold"/>
              <a:ea typeface="Roboto Mono SemiBold"/>
              <a:cs typeface="Roboto Mono SemiBold"/>
              <a:sym typeface="Roboto Mono SemiBold"/>
            </a:endParaRPr>
          </a:p>
        </p:txBody>
      </p:sp>
      <p:pic>
        <p:nvPicPr>
          <p:cNvPr id="110" name="Google Shape;110;p21" title="download (1)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3676" y="866372"/>
            <a:ext cx="3119224" cy="4158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1999" y="1030404"/>
            <a:ext cx="4106450" cy="3261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45699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/>
          <p:nvPr/>
        </p:nvSpPr>
        <p:spPr>
          <a:xfrm>
            <a:off x="3330900" y="103325"/>
            <a:ext cx="2067000" cy="6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BUCKLES</a:t>
            </a:r>
            <a:endParaRPr sz="1800">
              <a:solidFill>
                <a:schemeClr val="lt1"/>
              </a:solidFill>
              <a:latin typeface="Roboto Mono SemiBold"/>
              <a:ea typeface="Roboto Mono SemiBold"/>
              <a:cs typeface="Roboto Mono SemiBold"/>
              <a:sym typeface="Roboto Mono SemiBol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 Mono SemiBold"/>
              <a:ea typeface="Roboto Mono SemiBold"/>
              <a:cs typeface="Roboto Mono SemiBold"/>
              <a:sym typeface="Roboto Mono SemiBold"/>
            </a:endParaRPr>
          </a:p>
        </p:txBody>
      </p:sp>
      <p:pic>
        <p:nvPicPr>
          <p:cNvPr id="117" name="Google Shape;117;p22" title="download (1).jpeg"/>
          <p:cNvPicPr preferRelativeResize="0"/>
          <p:nvPr/>
        </p:nvPicPr>
        <p:blipFill rotWithShape="1">
          <a:blip r:embed="rId3">
            <a:alphaModFix/>
          </a:blip>
          <a:srcRect b="0" l="27046" r="26210" t="0"/>
          <a:stretch/>
        </p:blipFill>
        <p:spPr>
          <a:xfrm>
            <a:off x="0" y="379156"/>
            <a:ext cx="1670323" cy="4764344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2"/>
          <p:cNvSpPr txBox="1"/>
          <p:nvPr/>
        </p:nvSpPr>
        <p:spPr>
          <a:xfrm>
            <a:off x="1858350" y="945250"/>
            <a:ext cx="5427300" cy="8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This is a “ladder lock” buckle. One end of the strap is fixed, so you adjust by pulling only the free end of the strap.</a:t>
            </a:r>
            <a:endParaRPr sz="1800">
              <a:solidFill>
                <a:schemeClr val="lt1"/>
              </a:solidFill>
              <a:latin typeface="Roboto Mono SemiBold"/>
              <a:ea typeface="Roboto Mono SemiBold"/>
              <a:cs typeface="Roboto Mono SemiBold"/>
              <a:sym typeface="Roboto Mono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 Mono SemiBold"/>
              <a:ea typeface="Roboto Mono SemiBold"/>
              <a:cs typeface="Roboto Mono SemiBold"/>
              <a:sym typeface="Roboto Mono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 Mono SemiBold"/>
              <a:ea typeface="Roboto Mono SemiBold"/>
              <a:cs typeface="Roboto Mono SemiBold"/>
              <a:sym typeface="Roboto Mono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 Mono SemiBold"/>
              <a:ea typeface="Roboto Mono SemiBold"/>
              <a:cs typeface="Roboto Mono SemiBold"/>
              <a:sym typeface="Roboto Mono SemiBol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 Mono SemiBold"/>
              <a:ea typeface="Roboto Mono SemiBold"/>
              <a:cs typeface="Roboto Mono SemiBold"/>
              <a:sym typeface="Roboto Mono SemiBold"/>
            </a:endParaRPr>
          </a:p>
        </p:txBody>
      </p:sp>
      <p:cxnSp>
        <p:nvCxnSpPr>
          <p:cNvPr id="119" name="Google Shape;119;p22"/>
          <p:cNvCxnSpPr/>
          <p:nvPr/>
        </p:nvCxnSpPr>
        <p:spPr>
          <a:xfrm flipH="1">
            <a:off x="1090775" y="1125150"/>
            <a:ext cx="734700" cy="3216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20" name="Google Shape;120;p22"/>
          <p:cNvPicPr preferRelativeResize="0"/>
          <p:nvPr/>
        </p:nvPicPr>
        <p:blipFill rotWithShape="1">
          <a:blip r:embed="rId4">
            <a:alphaModFix/>
          </a:blip>
          <a:srcRect b="4909" l="4636" r="4636" t="2464"/>
          <a:stretch/>
        </p:blipFill>
        <p:spPr>
          <a:xfrm>
            <a:off x="7473675" y="379150"/>
            <a:ext cx="1670326" cy="4764349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2"/>
          <p:cNvSpPr txBox="1"/>
          <p:nvPr/>
        </p:nvSpPr>
        <p:spPr>
          <a:xfrm>
            <a:off x="1858350" y="2319400"/>
            <a:ext cx="54273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This is a “tri-glide” or “3-bar slide” buckle. You can shorten or lengthen from either side.</a:t>
            </a:r>
            <a:endParaRPr sz="1800">
              <a:solidFill>
                <a:schemeClr val="lt1"/>
              </a:solidFill>
              <a:latin typeface="Roboto Mono SemiBold"/>
              <a:ea typeface="Roboto Mono SemiBold"/>
              <a:cs typeface="Roboto Mono SemiBold"/>
              <a:sym typeface="Roboto Mono SemiBold"/>
            </a:endParaRPr>
          </a:p>
        </p:txBody>
      </p:sp>
      <p:cxnSp>
        <p:nvCxnSpPr>
          <p:cNvPr id="122" name="Google Shape;122;p22"/>
          <p:cNvCxnSpPr/>
          <p:nvPr/>
        </p:nvCxnSpPr>
        <p:spPr>
          <a:xfrm flipH="1" rot="10800000">
            <a:off x="6819725" y="1664675"/>
            <a:ext cx="1251300" cy="5856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3" name="Google Shape;123;p22"/>
          <p:cNvSpPr txBox="1"/>
          <p:nvPr/>
        </p:nvSpPr>
        <p:spPr>
          <a:xfrm>
            <a:off x="1897500" y="3487600"/>
            <a:ext cx="4933800" cy="15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If necessary, we can replace the 3-bar slide with a one inch ladder lock </a:t>
            </a:r>
            <a:r>
              <a:rPr lang="en" sz="1800">
                <a:solidFill>
                  <a:schemeClr val="lt1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buckle: </a:t>
            </a:r>
            <a:r>
              <a:rPr lang="en" sz="1100" u="sng">
                <a:solidFill>
                  <a:schemeClr val="hlink"/>
                </a:solidFill>
                <a:hlinkClick r:id="rId5"/>
              </a:rPr>
              <a:t>https://www.buckleguy.com/sll-1-heavy-duty-plastic-strap-adjuster-ladderlock-buckle/?srsltid=AfmBOop5bEwwWX5XZua2WuwIalcwqWYwi-KmI9Szz44lofo_MUTZw2Ff</a:t>
            </a:r>
            <a:endParaRPr sz="1800">
              <a:solidFill>
                <a:schemeClr val="lt1"/>
              </a:solidFill>
              <a:latin typeface="Roboto Mono SemiBold"/>
              <a:ea typeface="Roboto Mono SemiBold"/>
              <a:cs typeface="Roboto Mono SemiBold"/>
              <a:sym typeface="Roboto Mono SemiBol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45699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3"/>
          <p:cNvSpPr txBox="1"/>
          <p:nvPr/>
        </p:nvSpPr>
        <p:spPr>
          <a:xfrm>
            <a:off x="3538500" y="0"/>
            <a:ext cx="2067000" cy="6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BUCKLES CONT.</a:t>
            </a:r>
            <a:endParaRPr sz="1800">
              <a:solidFill>
                <a:schemeClr val="lt1"/>
              </a:solidFill>
              <a:latin typeface="Roboto Mono SemiBold"/>
              <a:ea typeface="Roboto Mono SemiBold"/>
              <a:cs typeface="Roboto Mono SemiBold"/>
              <a:sym typeface="Roboto Mono SemiBol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 Mono SemiBold"/>
              <a:ea typeface="Roboto Mono SemiBold"/>
              <a:cs typeface="Roboto Mono SemiBold"/>
              <a:sym typeface="Roboto Mono SemiBold"/>
            </a:endParaRPr>
          </a:p>
        </p:txBody>
      </p:sp>
      <p:sp>
        <p:nvSpPr>
          <p:cNvPr id="129" name="Google Shape;129;p23"/>
          <p:cNvSpPr txBox="1"/>
          <p:nvPr/>
        </p:nvSpPr>
        <p:spPr>
          <a:xfrm>
            <a:off x="206675" y="344425"/>
            <a:ext cx="5235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If the pacifier clip straps are secure when pulled in this position, </a:t>
            </a:r>
            <a:endParaRPr sz="1800">
              <a:solidFill>
                <a:schemeClr val="lt1"/>
              </a:solidFill>
              <a:latin typeface="Roboto Mono SemiBold"/>
              <a:ea typeface="Roboto Mono SemiBold"/>
              <a:cs typeface="Roboto Mono SemiBold"/>
              <a:sym typeface="Roboto Mono SemiBold"/>
            </a:endParaRPr>
          </a:p>
        </p:txBody>
      </p:sp>
      <p:sp>
        <p:nvSpPr>
          <p:cNvPr id="130" name="Google Shape;130;p23"/>
          <p:cNvSpPr txBox="1"/>
          <p:nvPr/>
        </p:nvSpPr>
        <p:spPr>
          <a:xfrm>
            <a:off x="4744000" y="4250550"/>
            <a:ext cx="412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We could probably attach them to the frame like this. </a:t>
            </a:r>
            <a:endParaRPr sz="1800">
              <a:solidFill>
                <a:schemeClr val="lt1"/>
              </a:solidFill>
              <a:latin typeface="Roboto Mono SemiBold"/>
              <a:ea typeface="Roboto Mono SemiBold"/>
              <a:cs typeface="Roboto Mono SemiBold"/>
              <a:sym typeface="Roboto Mono SemiBold"/>
            </a:endParaRPr>
          </a:p>
        </p:txBody>
      </p:sp>
      <p:pic>
        <p:nvPicPr>
          <p:cNvPr id="131" name="Google Shape;131;p23"/>
          <p:cNvPicPr preferRelativeResize="0"/>
          <p:nvPr/>
        </p:nvPicPr>
        <p:blipFill rotWithShape="1">
          <a:blip r:embed="rId3">
            <a:alphaModFix/>
          </a:blip>
          <a:srcRect b="2616" l="0" r="0" t="1919"/>
          <a:stretch/>
        </p:blipFill>
        <p:spPr>
          <a:xfrm>
            <a:off x="152400" y="1018725"/>
            <a:ext cx="3119700" cy="3970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23"/>
          <p:cNvPicPr preferRelativeResize="0"/>
          <p:nvPr/>
        </p:nvPicPr>
        <p:blipFill rotWithShape="1">
          <a:blip r:embed="rId4">
            <a:alphaModFix/>
          </a:blip>
          <a:srcRect b="6945" l="0" r="0" t="12109"/>
          <a:stretch/>
        </p:blipFill>
        <p:spPr>
          <a:xfrm>
            <a:off x="5441975" y="424775"/>
            <a:ext cx="3488026" cy="37643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2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